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83" r:id="rId3"/>
    <p:sldMasterId id="2147483741" r:id="rId4"/>
  </p:sldMasterIdLst>
  <p:notesMasterIdLst>
    <p:notesMasterId r:id="rId15"/>
  </p:notesMasterIdLst>
  <p:sldIdLst>
    <p:sldId id="256" r:id="rId5"/>
    <p:sldId id="257" r:id="rId6"/>
    <p:sldId id="259" r:id="rId7"/>
    <p:sldId id="260" r:id="rId8"/>
    <p:sldId id="261" r:id="rId9"/>
    <p:sldId id="262" r:id="rId10"/>
    <p:sldId id="263" r:id="rId11"/>
    <p:sldId id="264" r:id="rId12"/>
    <p:sldId id="265" r:id="rId13"/>
    <p:sldId id="25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00" d="100"/>
          <a:sy n="100" d="100"/>
        </p:scale>
        <p:origin x="58" y="-7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for this slide: triage fails structurally, in three separable ways, and the failure is invisible to the department it happens in. Lead with P01 and let the three gaps land as mechanism, not opinion.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 single adult band does not average the two errors — it commits both. The toddler costs a bed; the 78-year-old costs a life. The context layer is what closes it, and the ablation proves the layer is load-bearing.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contribution is not the score — it is the constraint around the score. Say the invariant once, slowly: the engine may raise a patient’s acuity and has no code path to lower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this is built, and the escalation happens without anyone noticing. Walk the queue left to right in twenty seconds, then point at the black ACUITY FLOOR bar on the right — the thesis rendered in the interface, not diagrammed on a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architecture is deployable at the bottom of the market and compliant by construction, not by policy. If a CIO asks about breach liability, the answer is that our exposure surface contains no identity at 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impact is real, conservatively stated, and paid for by detection rather than by extra false alarms. Lead with the haircut — we discount our own simulated number by two-thirds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ask is small, reversible, and costs the hospital nothing — and if Phase 0 fails, we stop. Close on the last line and stop talking; this slide stays on screen through Q&amp;A.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a:solidFill>
                  <a:schemeClr val="tx1"/>
                </a:solidFill>
                <a:latin typeface="+mn-lt"/>
                <a:ea typeface="+mn-ea"/>
                <a:cs typeface="+mn-cs"/>
              </a:defRPr>
            </a:lvl2pPr>
            <a:lvl3pPr marL="0" algn="l" defTabSz="914377" rtl="0" eaLnBrk="1" latinLnBrk="0" hangingPunct="1">
              <a:spcAft>
                <a:spcPts val="0"/>
              </a:spcAft>
              <a:defRPr lang="en-US" sz="1400" b="0" kern="1200" dirty="0">
                <a:solidFill>
                  <a:schemeClr val="tx1"/>
                </a:solidFill>
                <a:latin typeface="+mn-lt"/>
                <a:ea typeface="+mn-ea"/>
                <a:cs typeface="+mn-cs"/>
              </a:defRPr>
            </a:lvl3pPr>
            <a:lvl4pPr marL="0" algn="l" defTabSz="914377" rtl="0" eaLnBrk="1" latinLnBrk="0" hangingPunct="1">
              <a:spcAft>
                <a:spcPts val="0"/>
              </a:spcAft>
              <a:defRPr lang="en-US" sz="1400" b="0" kern="1200" dirty="0">
                <a:solidFill>
                  <a:schemeClr val="tx1"/>
                </a:solidFill>
                <a:latin typeface="+mn-lt"/>
                <a:ea typeface="+mn-ea"/>
                <a:cs typeface="+mn-cs"/>
              </a:defRPr>
            </a:lvl4pPr>
            <a:lvl5pPr marL="0" algn="l" defTabSz="914377" rtl="0" eaLnBrk="1" latinLnBrk="0" hangingPunct="1">
              <a:spcAft>
                <a:spcPts val="0"/>
              </a:spcAft>
              <a:defRPr lang="en-US" sz="1400" b="0" kern="1200" dirty="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a:solidFill>
                  <a:schemeClr val="tx1"/>
                </a:solidFill>
                <a:latin typeface="+mn-lt"/>
                <a:ea typeface="+mn-ea"/>
                <a:cs typeface="+mn-cs"/>
              </a:defRPr>
            </a:lvl2pPr>
            <a:lvl3pPr marL="0" algn="l" defTabSz="914377" rtl="0" eaLnBrk="1" latinLnBrk="0" hangingPunct="1">
              <a:spcAft>
                <a:spcPts val="0"/>
              </a:spcAft>
              <a:defRPr lang="en-US" sz="1400" b="0" kern="1200" dirty="0">
                <a:solidFill>
                  <a:schemeClr val="tx1"/>
                </a:solidFill>
                <a:latin typeface="+mn-lt"/>
                <a:ea typeface="+mn-ea"/>
                <a:cs typeface="+mn-cs"/>
              </a:defRPr>
            </a:lvl3pPr>
            <a:lvl4pPr marL="0" algn="l" defTabSz="914377" rtl="0" eaLnBrk="1" latinLnBrk="0" hangingPunct="1">
              <a:spcAft>
                <a:spcPts val="0"/>
              </a:spcAft>
              <a:defRPr lang="en-US" sz="1400" b="0" kern="1200" dirty="0">
                <a:solidFill>
                  <a:schemeClr val="tx1"/>
                </a:solidFill>
                <a:latin typeface="+mn-lt"/>
                <a:ea typeface="+mn-ea"/>
                <a:cs typeface="+mn-cs"/>
              </a:defRPr>
            </a:lvl4pPr>
            <a:lvl5pPr marL="0" algn="l" defTabSz="914377" rtl="0" eaLnBrk="1" latinLnBrk="0" hangingPunct="1">
              <a:spcAft>
                <a:spcPts val="0"/>
              </a:spcAft>
              <a:defRPr lang="en-US" sz="1400" b="0" kern="1200" dirty="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49" r:id="rId1"/>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82" r:id="rId1"/>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29" r:id="rId1"/>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Graphik Semibold" panose="020B0503030202060203" pitchFamily="34" charset="77"/>
                <a:ea typeface="+mn-ea"/>
                <a:cs typeface="+mn-cs"/>
              </a:rPr>
              <a:t>AI reinvention made real</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panose="020B0503030202060203" pitchFamily="34" charset="77"/>
                <a:ea typeface="+mn-ea"/>
                <a:cs typeface="+mn-cs"/>
              </a:rPr>
              <a:t>Accenture Innovation Challenge 2026</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t>Team details</a:t>
            </a:r>
            <a:endParaRPr lang="en-GB" dirty="0"/>
          </a:p>
        </p:txBody>
      </p:sp>
      <p:sp>
        <p:nvSpPr>
          <p:cNvPr id="19" name="Rounded Rectangle 18"/>
          <p:cNvSpPr/>
          <p:nvPr/>
        </p:nvSpPr>
        <p:spPr>
          <a:xfrm>
            <a:off x="548640" y="1188720"/>
            <a:ext cx="11091672" cy="566928"/>
          </a:xfrm>
          <a:prstGeom prst="roundRect">
            <a:avLst>
              <a:gd name="adj" fmla="val 30000"/>
            </a:avLst>
          </a:prstGeom>
          <a:solidFill>
            <a:srgbClr val="3A005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sp>
        <p:nvSpPr>
          <p:cNvPr id="20" name="TextBox 19"/>
          <p:cNvSpPr txBox="1"/>
          <p:nvPr/>
        </p:nvSpPr>
        <p:spPr>
          <a:xfrm>
            <a:off x="548640" y="1335024"/>
            <a:ext cx="11091672" cy="230832"/>
          </a:xfrm>
          <a:prstGeom prst="rect">
            <a:avLst/>
          </a:prstGeom>
          <a:noFill/>
        </p:spPr>
        <p:txBody>
          <a:bodyPr wrap="square" lIns="0" tIns="0" rIns="0" bIns="0">
            <a:spAutoFit/>
          </a:bodyPr>
          <a:lstStyle/>
          <a:p>
            <a:pPr algn="ctr">
              <a:spcBef>
                <a:spcPts val="0"/>
              </a:spcBef>
              <a:spcAft>
                <a:spcPts val="0"/>
              </a:spcAft>
            </a:pPr>
            <a:r>
              <a:rPr sz="1500" b="1" i="0" dirty="0">
                <a:solidFill>
                  <a:srgbClr val="D9B8F0"/>
                </a:solidFill>
                <a:latin typeface="Arial"/>
              </a:rPr>
              <a:t>TEAM NAME</a:t>
            </a:r>
            <a:r>
              <a:rPr lang="en-IN" sz="1500" b="1" i="0" dirty="0">
                <a:solidFill>
                  <a:srgbClr val="D9B8F0"/>
                </a:solidFill>
                <a:latin typeface="Arial"/>
              </a:rPr>
              <a:t> </a:t>
            </a:r>
            <a:r>
              <a:rPr sz="1500" b="1" i="0" dirty="0">
                <a:solidFill>
                  <a:srgbClr val="D9B8F0"/>
                </a:solidFill>
                <a:latin typeface="Arial"/>
              </a:rPr>
              <a:t>: </a:t>
            </a:r>
            <a:r>
              <a:rPr sz="1500" b="1" i="0" dirty="0">
                <a:solidFill>
                  <a:srgbClr val="FFFFFF"/>
                </a:solidFill>
                <a:latin typeface="Arial"/>
              </a:rPr>
              <a:t>Claudemax69</a:t>
            </a:r>
          </a:p>
        </p:txBody>
      </p:sp>
      <p:sp>
        <p:nvSpPr>
          <p:cNvPr id="21" name="Rounded Rectangle 20"/>
          <p:cNvSpPr/>
          <p:nvPr/>
        </p:nvSpPr>
        <p:spPr>
          <a:xfrm>
            <a:off x="548640" y="2048256"/>
            <a:ext cx="3514344" cy="2671228"/>
          </a:xfrm>
          <a:prstGeom prst="roundRect">
            <a:avLst>
              <a:gd name="adj" fmla="val 6000"/>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sp>
        <p:nvSpPr>
          <p:cNvPr id="22" name="Rounded Rectangle 21"/>
          <p:cNvSpPr/>
          <p:nvPr/>
        </p:nvSpPr>
        <p:spPr>
          <a:xfrm>
            <a:off x="1418844" y="2176272"/>
            <a:ext cx="1773936" cy="1773936"/>
          </a:xfrm>
          <a:prstGeom prst="roundRect">
            <a:avLst>
              <a:gd name="adj" fmla="val 6000"/>
            </a:avLst>
          </a:prstGeom>
          <a:solidFill>
            <a:srgbClr val="3A005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pic>
        <p:nvPicPr>
          <p:cNvPr id="23" name="Picture 22" descr="devesh.jpg"/>
          <p:cNvPicPr>
            <a:picLocks noChangeAspect="1"/>
          </p:cNvPicPr>
          <p:nvPr/>
        </p:nvPicPr>
        <p:blipFill>
          <a:blip r:embed="rId2"/>
          <a:stretch>
            <a:fillRect/>
          </a:stretch>
        </p:blipFill>
        <p:spPr>
          <a:xfrm>
            <a:off x="1455420" y="2212848"/>
            <a:ext cx="1700784" cy="1700784"/>
          </a:xfrm>
          <a:prstGeom prst="rect">
            <a:avLst/>
          </a:prstGeom>
        </p:spPr>
      </p:pic>
      <p:sp>
        <p:nvSpPr>
          <p:cNvPr id="24" name="TextBox 23"/>
          <p:cNvSpPr txBox="1"/>
          <p:nvPr/>
        </p:nvSpPr>
        <p:spPr>
          <a:xfrm>
            <a:off x="694944" y="4078224"/>
            <a:ext cx="3221736" cy="402336"/>
          </a:xfrm>
          <a:prstGeom prst="rect">
            <a:avLst/>
          </a:prstGeom>
          <a:noFill/>
        </p:spPr>
        <p:txBody>
          <a:bodyPr wrap="square" lIns="0" tIns="0" rIns="0" bIns="0">
            <a:spAutoFit/>
          </a:bodyPr>
          <a:lstStyle/>
          <a:p>
            <a:pPr algn="ctr">
              <a:spcBef>
                <a:spcPts val="0"/>
              </a:spcBef>
              <a:spcAft>
                <a:spcPts val="0"/>
              </a:spcAft>
            </a:pPr>
            <a:r>
              <a:rPr sz="1300" b="1" i="0">
                <a:solidFill>
                  <a:srgbClr val="1A1A1E"/>
                </a:solidFill>
                <a:latin typeface="Arial"/>
              </a:rPr>
              <a:t>Devesh Choudhury</a:t>
            </a:r>
          </a:p>
        </p:txBody>
      </p:sp>
      <p:sp>
        <p:nvSpPr>
          <p:cNvPr id="25" name="Rounded Rectangle 24"/>
          <p:cNvSpPr/>
          <p:nvPr/>
        </p:nvSpPr>
        <p:spPr>
          <a:xfrm>
            <a:off x="1784604" y="4379976"/>
            <a:ext cx="1188720" cy="237744"/>
          </a:xfrm>
          <a:prstGeom prst="roundRect">
            <a:avLst>
              <a:gd name="adj" fmla="val 3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dirty="0"/>
          </a:p>
        </p:txBody>
      </p:sp>
      <p:sp>
        <p:nvSpPr>
          <p:cNvPr id="26" name="TextBox 25"/>
          <p:cNvSpPr txBox="1"/>
          <p:nvPr/>
        </p:nvSpPr>
        <p:spPr>
          <a:xfrm>
            <a:off x="1784604" y="4453128"/>
            <a:ext cx="1188720" cy="182880"/>
          </a:xfrm>
          <a:prstGeom prst="rect">
            <a:avLst/>
          </a:prstGeom>
          <a:noFill/>
        </p:spPr>
        <p:txBody>
          <a:bodyPr wrap="square" lIns="0" tIns="0" rIns="0" bIns="0">
            <a:spAutoFit/>
          </a:bodyPr>
          <a:lstStyle/>
          <a:p>
            <a:pPr algn="ctr">
              <a:spcBef>
                <a:spcPts val="0"/>
              </a:spcBef>
              <a:spcAft>
                <a:spcPts val="0"/>
              </a:spcAft>
            </a:pPr>
            <a:r>
              <a:rPr sz="700" b="1" i="0" dirty="0">
                <a:solidFill>
                  <a:srgbClr val="FFFFFF"/>
                </a:solidFill>
                <a:latin typeface="Arial"/>
              </a:rPr>
              <a:t>TEAM LEADER</a:t>
            </a:r>
          </a:p>
        </p:txBody>
      </p:sp>
      <p:sp>
        <p:nvSpPr>
          <p:cNvPr id="27" name="Rectangle 26"/>
          <p:cNvSpPr/>
          <p:nvPr/>
        </p:nvSpPr>
        <p:spPr>
          <a:xfrm>
            <a:off x="749808" y="482803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College</a:t>
            </a:r>
          </a:p>
        </p:txBody>
      </p:sp>
      <p:sp>
        <p:nvSpPr>
          <p:cNvPr id="28" name="Rectangle 27"/>
          <p:cNvSpPr/>
          <p:nvPr/>
        </p:nvSpPr>
        <p:spPr>
          <a:xfrm>
            <a:off x="2305812" y="482803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dirty="0">
                <a:solidFill>
                  <a:srgbClr val="1A1A1E"/>
                </a:solidFill>
                <a:latin typeface="Arial"/>
              </a:rPr>
              <a:t>IIT Kanpur</a:t>
            </a:r>
          </a:p>
        </p:txBody>
      </p:sp>
      <p:sp>
        <p:nvSpPr>
          <p:cNvPr id="29" name="Rectangle 28"/>
          <p:cNvSpPr/>
          <p:nvPr/>
        </p:nvSpPr>
        <p:spPr>
          <a:xfrm>
            <a:off x="749808" y="5102352"/>
            <a:ext cx="1556004" cy="274320"/>
          </a:xfrm>
          <a:prstGeom prst="rect">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Stream</a:t>
            </a:r>
          </a:p>
        </p:txBody>
      </p:sp>
      <p:sp>
        <p:nvSpPr>
          <p:cNvPr id="30" name="Rectangle 29"/>
          <p:cNvSpPr/>
          <p:nvPr/>
        </p:nvSpPr>
        <p:spPr>
          <a:xfrm>
            <a:off x="2305812" y="5102352"/>
            <a:ext cx="1556004" cy="274320"/>
          </a:xfrm>
          <a:prstGeom prst="rect">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Statistics and Data Science</a:t>
            </a:r>
          </a:p>
        </p:txBody>
      </p:sp>
      <p:sp>
        <p:nvSpPr>
          <p:cNvPr id="31" name="Rectangle 30"/>
          <p:cNvSpPr/>
          <p:nvPr/>
        </p:nvSpPr>
        <p:spPr>
          <a:xfrm>
            <a:off x="749808" y="537667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Year of graduation</a:t>
            </a:r>
          </a:p>
        </p:txBody>
      </p:sp>
      <p:sp>
        <p:nvSpPr>
          <p:cNvPr id="32" name="Rectangle 31"/>
          <p:cNvSpPr/>
          <p:nvPr/>
        </p:nvSpPr>
        <p:spPr>
          <a:xfrm>
            <a:off x="2305812" y="537667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2028</a:t>
            </a:r>
          </a:p>
        </p:txBody>
      </p:sp>
      <p:sp>
        <p:nvSpPr>
          <p:cNvPr id="33" name="Rounded Rectangle 32"/>
          <p:cNvSpPr/>
          <p:nvPr/>
        </p:nvSpPr>
        <p:spPr>
          <a:xfrm>
            <a:off x="4337304" y="2048256"/>
            <a:ext cx="3313176" cy="2671228"/>
          </a:xfrm>
          <a:prstGeom prst="roundRect">
            <a:avLst>
              <a:gd name="adj" fmla="val 6000"/>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sp>
        <p:nvSpPr>
          <p:cNvPr id="34" name="Rounded Rectangle 33"/>
          <p:cNvSpPr/>
          <p:nvPr/>
        </p:nvSpPr>
        <p:spPr>
          <a:xfrm>
            <a:off x="5207508" y="2176272"/>
            <a:ext cx="1773936" cy="1773936"/>
          </a:xfrm>
          <a:prstGeom prst="roundRect">
            <a:avLst>
              <a:gd name="adj" fmla="val 6000"/>
            </a:avLst>
          </a:prstGeom>
          <a:solidFill>
            <a:srgbClr val="3A005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pic>
        <p:nvPicPr>
          <p:cNvPr id="35" name="Picture 34" descr="chitransh.jpg"/>
          <p:cNvPicPr>
            <a:picLocks noChangeAspect="1"/>
          </p:cNvPicPr>
          <p:nvPr/>
        </p:nvPicPr>
        <p:blipFill>
          <a:blip r:embed="rId3"/>
          <a:stretch>
            <a:fillRect/>
          </a:stretch>
        </p:blipFill>
        <p:spPr>
          <a:xfrm>
            <a:off x="5244084" y="2212848"/>
            <a:ext cx="1700784" cy="1700784"/>
          </a:xfrm>
          <a:prstGeom prst="rect">
            <a:avLst/>
          </a:prstGeom>
        </p:spPr>
      </p:pic>
      <p:sp>
        <p:nvSpPr>
          <p:cNvPr id="36" name="TextBox 35"/>
          <p:cNvSpPr txBox="1"/>
          <p:nvPr/>
        </p:nvSpPr>
        <p:spPr>
          <a:xfrm>
            <a:off x="4483608" y="4078224"/>
            <a:ext cx="3221736" cy="402336"/>
          </a:xfrm>
          <a:prstGeom prst="rect">
            <a:avLst/>
          </a:prstGeom>
          <a:noFill/>
        </p:spPr>
        <p:txBody>
          <a:bodyPr wrap="square" lIns="0" tIns="0" rIns="0" bIns="0">
            <a:spAutoFit/>
          </a:bodyPr>
          <a:lstStyle/>
          <a:p>
            <a:pPr algn="ctr">
              <a:spcBef>
                <a:spcPts val="0"/>
              </a:spcBef>
              <a:spcAft>
                <a:spcPts val="0"/>
              </a:spcAft>
            </a:pPr>
            <a:r>
              <a:rPr sz="1300" b="1" i="0" dirty="0">
                <a:solidFill>
                  <a:srgbClr val="1A1A1E"/>
                </a:solidFill>
                <a:latin typeface="Arial"/>
              </a:rPr>
              <a:t>Chitransh Gangwar</a:t>
            </a:r>
          </a:p>
        </p:txBody>
      </p:sp>
      <p:sp>
        <p:nvSpPr>
          <p:cNvPr id="37" name="Rectangle 36"/>
          <p:cNvSpPr/>
          <p:nvPr/>
        </p:nvSpPr>
        <p:spPr>
          <a:xfrm>
            <a:off x="4538472" y="482803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College</a:t>
            </a:r>
          </a:p>
        </p:txBody>
      </p:sp>
      <p:sp>
        <p:nvSpPr>
          <p:cNvPr id="38" name="Rectangle 37"/>
          <p:cNvSpPr/>
          <p:nvPr/>
        </p:nvSpPr>
        <p:spPr>
          <a:xfrm>
            <a:off x="6094476" y="482803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IIT Kanpur</a:t>
            </a:r>
          </a:p>
        </p:txBody>
      </p:sp>
      <p:sp>
        <p:nvSpPr>
          <p:cNvPr id="39" name="Rectangle 38"/>
          <p:cNvSpPr/>
          <p:nvPr/>
        </p:nvSpPr>
        <p:spPr>
          <a:xfrm>
            <a:off x="4538472" y="5102352"/>
            <a:ext cx="1556004" cy="274320"/>
          </a:xfrm>
          <a:prstGeom prst="rect">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Stream</a:t>
            </a:r>
          </a:p>
        </p:txBody>
      </p:sp>
      <p:sp>
        <p:nvSpPr>
          <p:cNvPr id="40" name="Rectangle 39"/>
          <p:cNvSpPr/>
          <p:nvPr/>
        </p:nvSpPr>
        <p:spPr>
          <a:xfrm>
            <a:off x="6094476" y="5102352"/>
            <a:ext cx="1556004" cy="274320"/>
          </a:xfrm>
          <a:prstGeom prst="rect">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Civil Engineering</a:t>
            </a:r>
          </a:p>
        </p:txBody>
      </p:sp>
      <p:sp>
        <p:nvSpPr>
          <p:cNvPr id="41" name="Rectangle 40"/>
          <p:cNvSpPr/>
          <p:nvPr/>
        </p:nvSpPr>
        <p:spPr>
          <a:xfrm>
            <a:off x="4538472" y="537667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Year of graduation</a:t>
            </a:r>
          </a:p>
        </p:txBody>
      </p:sp>
      <p:sp>
        <p:nvSpPr>
          <p:cNvPr id="42" name="Rectangle 41"/>
          <p:cNvSpPr/>
          <p:nvPr/>
        </p:nvSpPr>
        <p:spPr>
          <a:xfrm>
            <a:off x="6094476" y="537667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2027</a:t>
            </a:r>
          </a:p>
        </p:txBody>
      </p:sp>
      <p:sp>
        <p:nvSpPr>
          <p:cNvPr id="43" name="Rounded Rectangle 42"/>
          <p:cNvSpPr/>
          <p:nvPr/>
        </p:nvSpPr>
        <p:spPr>
          <a:xfrm>
            <a:off x="8125968" y="2048256"/>
            <a:ext cx="3313176" cy="2671228"/>
          </a:xfrm>
          <a:prstGeom prst="roundRect">
            <a:avLst>
              <a:gd name="adj" fmla="val 6000"/>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sp>
        <p:nvSpPr>
          <p:cNvPr id="44" name="Rounded Rectangle 43"/>
          <p:cNvSpPr/>
          <p:nvPr/>
        </p:nvSpPr>
        <p:spPr>
          <a:xfrm>
            <a:off x="8996172" y="2176272"/>
            <a:ext cx="1773936" cy="1773936"/>
          </a:xfrm>
          <a:prstGeom prst="roundRect">
            <a:avLst>
              <a:gd name="adj" fmla="val 6000"/>
            </a:avLst>
          </a:prstGeom>
          <a:solidFill>
            <a:srgbClr val="3A005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endParaRPr/>
          </a:p>
        </p:txBody>
      </p:sp>
      <p:pic>
        <p:nvPicPr>
          <p:cNvPr id="45" name="Picture 44" descr="atharva.jpg"/>
          <p:cNvPicPr>
            <a:picLocks noChangeAspect="1"/>
          </p:cNvPicPr>
          <p:nvPr/>
        </p:nvPicPr>
        <p:blipFill>
          <a:blip r:embed="rId4"/>
          <a:stretch>
            <a:fillRect/>
          </a:stretch>
        </p:blipFill>
        <p:spPr>
          <a:xfrm>
            <a:off x="9032748" y="2212848"/>
            <a:ext cx="1700784" cy="1700784"/>
          </a:xfrm>
          <a:prstGeom prst="rect">
            <a:avLst/>
          </a:prstGeom>
        </p:spPr>
      </p:pic>
      <p:sp>
        <p:nvSpPr>
          <p:cNvPr id="46" name="TextBox 45"/>
          <p:cNvSpPr txBox="1"/>
          <p:nvPr/>
        </p:nvSpPr>
        <p:spPr>
          <a:xfrm>
            <a:off x="8272272" y="4078224"/>
            <a:ext cx="3221736" cy="402336"/>
          </a:xfrm>
          <a:prstGeom prst="rect">
            <a:avLst/>
          </a:prstGeom>
          <a:noFill/>
        </p:spPr>
        <p:txBody>
          <a:bodyPr wrap="square" lIns="0" tIns="0" rIns="0" bIns="0">
            <a:spAutoFit/>
          </a:bodyPr>
          <a:lstStyle/>
          <a:p>
            <a:pPr algn="ctr">
              <a:spcBef>
                <a:spcPts val="0"/>
              </a:spcBef>
              <a:spcAft>
                <a:spcPts val="0"/>
              </a:spcAft>
            </a:pPr>
            <a:r>
              <a:rPr sz="1300" b="1" i="0">
                <a:solidFill>
                  <a:srgbClr val="1A1A1E"/>
                </a:solidFill>
                <a:latin typeface="Arial"/>
              </a:rPr>
              <a:t>Atharva Katiyar</a:t>
            </a:r>
          </a:p>
        </p:txBody>
      </p:sp>
      <p:sp>
        <p:nvSpPr>
          <p:cNvPr id="47" name="Rectangle 46"/>
          <p:cNvSpPr/>
          <p:nvPr/>
        </p:nvSpPr>
        <p:spPr>
          <a:xfrm>
            <a:off x="8327136" y="482803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College</a:t>
            </a:r>
          </a:p>
        </p:txBody>
      </p:sp>
      <p:sp>
        <p:nvSpPr>
          <p:cNvPr id="48" name="Rectangle 47"/>
          <p:cNvSpPr/>
          <p:nvPr/>
        </p:nvSpPr>
        <p:spPr>
          <a:xfrm>
            <a:off x="9883140" y="482803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IIT Kanpur</a:t>
            </a:r>
          </a:p>
        </p:txBody>
      </p:sp>
      <p:sp>
        <p:nvSpPr>
          <p:cNvPr id="49" name="Rectangle 48"/>
          <p:cNvSpPr/>
          <p:nvPr/>
        </p:nvSpPr>
        <p:spPr>
          <a:xfrm>
            <a:off x="8327136" y="5102352"/>
            <a:ext cx="1556004" cy="274320"/>
          </a:xfrm>
          <a:prstGeom prst="rect">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Stream</a:t>
            </a:r>
          </a:p>
        </p:txBody>
      </p:sp>
      <p:sp>
        <p:nvSpPr>
          <p:cNvPr id="50" name="Rectangle 49"/>
          <p:cNvSpPr/>
          <p:nvPr/>
        </p:nvSpPr>
        <p:spPr>
          <a:xfrm>
            <a:off x="9883140" y="5102352"/>
            <a:ext cx="1556004" cy="274320"/>
          </a:xfrm>
          <a:prstGeom prst="rect">
            <a:avLst/>
          </a:prstGeom>
          <a:solidFill>
            <a:srgbClr val="FFFFFF"/>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Mechanical Engineering</a:t>
            </a:r>
          </a:p>
        </p:txBody>
      </p:sp>
      <p:sp>
        <p:nvSpPr>
          <p:cNvPr id="51" name="Rectangle 50"/>
          <p:cNvSpPr/>
          <p:nvPr/>
        </p:nvSpPr>
        <p:spPr>
          <a:xfrm>
            <a:off x="8327136" y="537667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1" i="0">
                <a:solidFill>
                  <a:srgbClr val="3A005E"/>
                </a:solidFill>
                <a:latin typeface="Arial"/>
              </a:rPr>
              <a:t>Year of graduation</a:t>
            </a:r>
          </a:p>
        </p:txBody>
      </p:sp>
      <p:sp>
        <p:nvSpPr>
          <p:cNvPr id="52" name="Rectangle 51"/>
          <p:cNvSpPr/>
          <p:nvPr/>
        </p:nvSpPr>
        <p:spPr>
          <a:xfrm>
            <a:off x="9883140" y="5376672"/>
            <a:ext cx="1556004" cy="274320"/>
          </a:xfrm>
          <a:prstGeom prst="rect">
            <a:avLst/>
          </a:prstGeom>
          <a:solidFill>
            <a:srgbClr val="F3EAFD"/>
          </a:solidFill>
          <a:ln w="9525">
            <a:solidFill>
              <a:srgbClr val="CFC2E0"/>
            </a:solidFill>
          </a:ln>
          <a:effectLst/>
        </p:spPr>
        <p:style>
          <a:lnRef idx="1">
            <a:schemeClr val="accent1"/>
          </a:lnRef>
          <a:fillRef idx="3">
            <a:schemeClr val="accent1"/>
          </a:fillRef>
          <a:effectRef idx="2">
            <a:schemeClr val="accent1"/>
          </a:effectRef>
          <a:fontRef idx="minor">
            <a:schemeClr val="lt1"/>
          </a:fontRef>
        </p:style>
        <p:txBody>
          <a:bodyPr wrap="square" lIns="64008" tIns="18288" rIns="64008" bIns="18288" rtlCol="0" anchor="ctr"/>
          <a:lstStyle/>
          <a:p>
            <a:pPr algn="ctr"/>
            <a:r>
              <a:rPr sz="800" b="0" i="0">
                <a:solidFill>
                  <a:srgbClr val="1A1A1E"/>
                </a:solidFill>
                <a:latin typeface="Arial"/>
              </a:rPr>
              <a:t>2027</a:t>
            </a:r>
          </a:p>
        </p:txBody>
      </p:sp>
      <p:sp>
        <p:nvSpPr>
          <p:cNvPr id="53" name="TextBox 52"/>
          <p:cNvSpPr txBox="1"/>
          <p:nvPr/>
        </p:nvSpPr>
        <p:spPr>
          <a:xfrm>
            <a:off x="347472" y="6099048"/>
            <a:ext cx="11091672" cy="274320"/>
          </a:xfrm>
          <a:prstGeom prst="rect">
            <a:avLst/>
          </a:prstGeom>
          <a:noFill/>
        </p:spPr>
        <p:txBody>
          <a:bodyPr wrap="square" lIns="0" tIns="0" rIns="0" bIns="0">
            <a:spAutoFit/>
          </a:bodyPr>
          <a:lstStyle/>
          <a:p>
            <a:pPr algn="ctr">
              <a:spcBef>
                <a:spcPts val="0"/>
              </a:spcBef>
              <a:spcAft>
                <a:spcPts val="0"/>
              </a:spcAft>
            </a:pPr>
            <a:r>
              <a:rPr sz="1000" b="1" i="0">
                <a:solidFill>
                  <a:srgbClr val="3A005E"/>
                </a:solidFill>
                <a:latin typeface="Arial"/>
              </a:rPr>
              <a:t>Accenture Innovation Challenge 2026  ·  Round 2  ·  Problem Track 2  ·  PatientTriage.ai</a:t>
            </a:r>
          </a:p>
        </p:txBody>
      </p:sp>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Shape 3"/>
          <p:cNvSpPr/>
          <p:nvPr/>
        </p:nvSpPr>
        <p:spPr>
          <a:xfrm>
            <a:off x="731520" y="0"/>
            <a:ext cx="1338943" cy="402336"/>
          </a:xfrm>
          <a:prstGeom prst="rect">
            <a:avLst/>
          </a:prstGeom>
          <a:solidFill>
            <a:srgbClr val="460073"/>
          </a:solidFill>
          <a:ln w="12700">
            <a:solidFill>
              <a:srgbClr val="460073"/>
            </a:solidFill>
            <a:prstDash val="solid"/>
          </a:ln>
        </p:spPr>
      </p:sp>
      <p:sp>
        <p:nvSpPr>
          <p:cNvPr id="6" name="Text 4"/>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PROBLEM</a:t>
            </a:r>
            <a:endParaRPr lang="en-US" sz="1100" dirty="0"/>
          </a:p>
        </p:txBody>
      </p:sp>
      <p:sp>
        <p:nvSpPr>
          <p:cNvPr id="7" name="Text 5"/>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INSIGHT</a:t>
            </a:r>
            <a:endParaRPr lang="en-US" sz="1050" dirty="0"/>
          </a:p>
        </p:txBody>
      </p:sp>
      <p:sp>
        <p:nvSpPr>
          <p:cNvPr id="8" name="Text 6"/>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SOLUTION</a:t>
            </a:r>
            <a:endParaRPr lang="en-US" sz="1050" dirty="0"/>
          </a:p>
        </p:txBody>
      </p:sp>
      <p:sp>
        <p:nvSpPr>
          <p:cNvPr id="9" name="Text 7"/>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PRODUCT</a:t>
            </a:r>
            <a:endParaRPr lang="en-US" sz="1050" dirty="0"/>
          </a:p>
        </p:txBody>
      </p:sp>
      <p:sp>
        <p:nvSpPr>
          <p:cNvPr id="10" name="Text 8"/>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ARCHITECTURE</a:t>
            </a:r>
            <a:endParaRPr lang="en-US" sz="1050" dirty="0"/>
          </a:p>
        </p:txBody>
      </p:sp>
      <p:sp>
        <p:nvSpPr>
          <p:cNvPr id="11" name="Text 9"/>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IMPACT</a:t>
            </a:r>
            <a:endParaRPr lang="en-US" sz="1050" dirty="0"/>
          </a:p>
        </p:txBody>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EXECUTION</a:t>
            </a:r>
            <a:endParaRPr lang="en-US" sz="105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201168" y="530352"/>
            <a:ext cx="7315200" cy="1152144"/>
          </a:xfrm>
          <a:prstGeom prst="rect">
            <a:avLst/>
          </a:prstGeom>
          <a:solidFill>
            <a:srgbClr val="FFFFFF"/>
          </a:solidFill>
          <a:ln w="12700">
            <a:solidFill>
              <a:srgbClr val="D9D6E3"/>
            </a:solidFill>
            <a:prstDash val="solid"/>
          </a:ln>
        </p:spPr>
      </p:sp>
      <p:sp>
        <p:nvSpPr>
          <p:cNvPr id="15" name="Shape 13"/>
          <p:cNvSpPr/>
          <p:nvPr/>
        </p:nvSpPr>
        <p:spPr>
          <a:xfrm>
            <a:off x="201168" y="530352"/>
            <a:ext cx="7315200" cy="274320"/>
          </a:xfrm>
          <a:prstGeom prst="rect">
            <a:avLst/>
          </a:prstGeom>
          <a:solidFill>
            <a:srgbClr val="460073"/>
          </a:solidFill>
          <a:ln w="12700">
            <a:solidFill>
              <a:srgbClr val="460073"/>
            </a:solidFill>
            <a:prstDash val="solid"/>
          </a:ln>
        </p:spPr>
      </p:sp>
      <p:sp>
        <p:nvSpPr>
          <p:cNvPr id="16" name="Text 14"/>
          <p:cNvSpPr txBox="1"/>
          <p:nvPr/>
        </p:nvSpPr>
        <p:spPr>
          <a:xfrm>
            <a:off x="201168" y="530352"/>
            <a:ext cx="731520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UNDERSTANDING THE PROBLEM</a:t>
            </a:r>
            <a:endParaRPr lang="en-US" sz="1050" dirty="0"/>
          </a:p>
        </p:txBody>
      </p:sp>
      <p:sp>
        <p:nvSpPr>
          <p:cNvPr id="17" name="Text 15"/>
          <p:cNvSpPr txBox="1"/>
          <p:nvPr/>
        </p:nvSpPr>
        <p:spPr>
          <a:xfrm>
            <a:off x="320040" y="896112"/>
            <a:ext cx="7077456" cy="731520"/>
          </a:xfrm>
          <a:prstGeom prst="rect">
            <a:avLst/>
          </a:prstGeom>
          <a:noFill/>
          <a:ln/>
        </p:spPr>
        <p:txBody>
          <a:bodyPr wrap="square" lIns="0" tIns="0" rIns="0" bIns="0" rtlCol="0" anchor="ctr"/>
          <a:lstStyle/>
          <a:p>
            <a:pPr marL="0" indent="0">
              <a:lnSpc>
                <a:spcPct val="108000"/>
              </a:lnSpc>
              <a:buNone/>
            </a:pPr>
            <a:r>
              <a:rPr lang="en-US" sz="1000" dirty="0">
                <a:solidFill>
                  <a:srgbClr val="2E2E36"/>
                </a:solidFill>
                <a:latin typeface="Calibri" pitchFamily="34" charset="0"/>
                <a:ea typeface="Calibri" pitchFamily="34" charset="-122"/>
                <a:cs typeface="Calibri" pitchFamily="34" charset="-120"/>
              </a:rPr>
              <a:t>Triage decides who waits, and in most emergency departments it is executed once, at the door. </a:t>
            </a:r>
            <a:r>
              <a:rPr lang="en-US" sz="1000" b="1" dirty="0">
                <a:solidFill>
                  <a:srgbClr val="111018"/>
                </a:solidFill>
                <a:latin typeface="Calibri" pitchFamily="34" charset="0"/>
                <a:ea typeface="Calibri" pitchFamily="34" charset="-122"/>
                <a:cs typeface="Calibri" pitchFamily="34" charset="-120"/>
              </a:rPr>
              <a:t>Acuity is then treated as fixed while the patient’s physiology keeps moving.</a:t>
            </a:r>
            <a:r>
              <a:rPr lang="en-US" sz="1000" dirty="0">
                <a:solidFill>
                  <a:srgbClr val="2E2E36"/>
                </a:solidFill>
                <a:latin typeface="Calibri" pitchFamily="34" charset="0"/>
                <a:ea typeface="Calibri" pitchFamily="34" charset="-122"/>
                <a:cs typeface="Calibri" pitchFamily="34" charset="-120"/>
              </a:rPr>
              <a:t> Three structural failures follow: judgment varies between nurses, half the room sits inside one crowded colour band with no ordering, and nothing re-measures a patient who was judged safe. A single adult-calibrated vital-sign scale then adds a fourth, because the same numbers mean opposite things at age 3 and age 78.</a:t>
            </a:r>
            <a:endParaRPr lang="en-US" sz="1000" dirty="0"/>
          </a:p>
        </p:txBody>
      </p:sp>
      <p:sp>
        <p:nvSpPr>
          <p:cNvPr id="18" name="Shape 16"/>
          <p:cNvSpPr/>
          <p:nvPr/>
        </p:nvSpPr>
        <p:spPr>
          <a:xfrm>
            <a:off x="201168" y="1792224"/>
            <a:ext cx="7315200" cy="2139696"/>
          </a:xfrm>
          <a:prstGeom prst="rect">
            <a:avLst/>
          </a:prstGeom>
          <a:solidFill>
            <a:srgbClr val="FFFFFF"/>
          </a:solidFill>
          <a:ln w="12700">
            <a:solidFill>
              <a:srgbClr val="D9D6E3"/>
            </a:solidFill>
            <a:prstDash val="solid"/>
          </a:ln>
        </p:spPr>
      </p:sp>
      <p:sp>
        <p:nvSpPr>
          <p:cNvPr id="19" name="Shape 17"/>
          <p:cNvSpPr/>
          <p:nvPr/>
        </p:nvSpPr>
        <p:spPr>
          <a:xfrm>
            <a:off x="201168" y="1792224"/>
            <a:ext cx="7315200" cy="274320"/>
          </a:xfrm>
          <a:prstGeom prst="rect">
            <a:avLst/>
          </a:prstGeom>
          <a:solidFill>
            <a:srgbClr val="5C0099"/>
          </a:solidFill>
          <a:ln w="12700">
            <a:solidFill>
              <a:srgbClr val="5C0099"/>
            </a:solidFill>
            <a:prstDash val="solid"/>
          </a:ln>
        </p:spPr>
      </p:sp>
      <p:sp>
        <p:nvSpPr>
          <p:cNvPr id="20" name="Text 18"/>
          <p:cNvSpPr txBox="1"/>
          <p:nvPr/>
        </p:nvSpPr>
        <p:spPr>
          <a:xfrm>
            <a:off x="201168" y="1792224"/>
            <a:ext cx="731520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HOW IT FAILS - ONE PATIENT, NINETY-TWO MINUTES</a:t>
            </a:r>
            <a:endParaRPr lang="en-US" sz="1050" dirty="0"/>
          </a:p>
        </p:txBody>
      </p:sp>
      <p:sp>
        <p:nvSpPr>
          <p:cNvPr id="21" name="Shape 19"/>
          <p:cNvSpPr/>
          <p:nvPr/>
        </p:nvSpPr>
        <p:spPr>
          <a:xfrm>
            <a:off x="320040" y="2157984"/>
            <a:ext cx="1673352" cy="1481328"/>
          </a:xfrm>
          <a:prstGeom prst="roundRect">
            <a:avLst>
              <a:gd name="adj" fmla="val 2469"/>
            </a:avLst>
          </a:prstGeom>
          <a:solidFill>
            <a:srgbClr val="F7F4FC"/>
          </a:solidFill>
          <a:ln w="12700">
            <a:solidFill>
              <a:srgbClr val="ECEAF3"/>
            </a:solidFill>
            <a:prstDash val="solid"/>
          </a:ln>
        </p:spPr>
      </p:sp>
      <p:sp>
        <p:nvSpPr>
          <p:cNvPr id="22" name="Text 20"/>
          <p:cNvSpPr txBox="1"/>
          <p:nvPr/>
        </p:nvSpPr>
        <p:spPr>
          <a:xfrm>
            <a:off x="411480" y="2221992"/>
            <a:ext cx="1490472" cy="219456"/>
          </a:xfrm>
          <a:prstGeom prst="rect">
            <a:avLst/>
          </a:prstGeom>
          <a:noFill/>
          <a:ln/>
        </p:spPr>
        <p:txBody>
          <a:bodyPr wrap="square" lIns="0" tIns="0" rIns="0" bIns="0" rtlCol="0" anchor="ctr"/>
          <a:lstStyle/>
          <a:p>
            <a:pPr marL="0" indent="0">
              <a:buNone/>
            </a:pPr>
            <a:r>
              <a:rPr lang="en-US" sz="1200" b="1" dirty="0">
                <a:solidFill>
                  <a:srgbClr val="460073"/>
                </a:solidFill>
                <a:latin typeface="Arial" pitchFamily="34" charset="0"/>
                <a:ea typeface="Arial" pitchFamily="34" charset="-122"/>
                <a:cs typeface="Arial" pitchFamily="34" charset="-120"/>
              </a:rPr>
              <a:t>T = 0</a:t>
            </a:r>
            <a:endParaRPr lang="en-US" sz="1200" dirty="0"/>
          </a:p>
        </p:txBody>
      </p:sp>
      <p:sp>
        <p:nvSpPr>
          <p:cNvPr id="23" name="Text 21"/>
          <p:cNvSpPr txBox="1"/>
          <p:nvPr/>
        </p:nvSpPr>
        <p:spPr>
          <a:xfrm>
            <a:off x="411480" y="2450592"/>
            <a:ext cx="1490472"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Arrives, triaged once</a:t>
            </a:r>
            <a:endParaRPr lang="en-US" sz="1000" dirty="0"/>
          </a:p>
        </p:txBody>
      </p:sp>
      <p:sp>
        <p:nvSpPr>
          <p:cNvPr id="24" name="Text 22"/>
          <p:cNvSpPr txBox="1"/>
          <p:nvPr/>
        </p:nvSpPr>
        <p:spPr>
          <a:xfrm>
            <a:off x="411480" y="2670048"/>
            <a:ext cx="1490472" cy="566928"/>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HR 92 · RR 18 · BP 128/80 · SpO₂ 97%. No chest pain - all four inside the adult band.</a:t>
            </a:r>
            <a:endParaRPr lang="en-US" sz="900" dirty="0"/>
          </a:p>
        </p:txBody>
      </p:sp>
      <p:sp>
        <p:nvSpPr>
          <p:cNvPr id="25" name="Shape 23"/>
          <p:cNvSpPr/>
          <p:nvPr/>
        </p:nvSpPr>
        <p:spPr>
          <a:xfrm>
            <a:off x="411480" y="3291840"/>
            <a:ext cx="1490472" cy="237744"/>
          </a:xfrm>
          <a:prstGeom prst="roundRect">
            <a:avLst>
              <a:gd name="adj" fmla="val 192308"/>
            </a:avLst>
          </a:prstGeom>
          <a:solidFill>
            <a:srgbClr val="E6F3EC"/>
          </a:solidFill>
          <a:ln w="12700">
            <a:solidFill>
              <a:srgbClr val="0A6E43"/>
            </a:solidFill>
            <a:prstDash val="solid"/>
          </a:ln>
        </p:spPr>
      </p:sp>
      <p:sp>
        <p:nvSpPr>
          <p:cNvPr id="26" name="Text 24"/>
          <p:cNvSpPr txBox="1"/>
          <p:nvPr/>
        </p:nvSpPr>
        <p:spPr>
          <a:xfrm>
            <a:off x="411480" y="3291840"/>
            <a:ext cx="1490472" cy="237744"/>
          </a:xfrm>
          <a:prstGeom prst="rect">
            <a:avLst/>
          </a:prstGeom>
          <a:noFill/>
          <a:ln/>
        </p:spPr>
        <p:txBody>
          <a:bodyPr wrap="square" lIns="0" tIns="0" rIns="0" bIns="0" rtlCol="0" anchor="ctr"/>
          <a:lstStyle/>
          <a:p>
            <a:pPr marL="0" indent="0" algn="ctr">
              <a:buNone/>
            </a:pPr>
            <a:r>
              <a:rPr lang="en-US" sz="850" b="1" kern="0" spc="40" dirty="0">
                <a:solidFill>
                  <a:srgbClr val="0A6E43"/>
                </a:solidFill>
                <a:latin typeface="Arial" pitchFamily="34" charset="0"/>
                <a:ea typeface="Arial" pitchFamily="34" charset="-122"/>
                <a:cs typeface="Arial" pitchFamily="34" charset="-120"/>
              </a:rPr>
              <a:t>ESI-4 · POSITION 11 / 14</a:t>
            </a:r>
            <a:endParaRPr lang="en-US" sz="850" dirty="0"/>
          </a:p>
        </p:txBody>
      </p:sp>
      <p:sp>
        <p:nvSpPr>
          <p:cNvPr id="27" name="Shape 25"/>
          <p:cNvSpPr/>
          <p:nvPr/>
        </p:nvSpPr>
        <p:spPr>
          <a:xfrm>
            <a:off x="2121408" y="2157984"/>
            <a:ext cx="1673352" cy="1481328"/>
          </a:xfrm>
          <a:prstGeom prst="roundRect">
            <a:avLst>
              <a:gd name="adj" fmla="val 2469"/>
            </a:avLst>
          </a:prstGeom>
          <a:solidFill>
            <a:srgbClr val="F7F4FC"/>
          </a:solidFill>
          <a:ln w="12700">
            <a:solidFill>
              <a:srgbClr val="ECEAF3"/>
            </a:solidFill>
            <a:prstDash val="solid"/>
          </a:ln>
        </p:spPr>
      </p:sp>
      <p:sp>
        <p:nvSpPr>
          <p:cNvPr id="28" name="Text 26"/>
          <p:cNvSpPr txBox="1"/>
          <p:nvPr/>
        </p:nvSpPr>
        <p:spPr>
          <a:xfrm>
            <a:off x="2212848" y="2221992"/>
            <a:ext cx="1490472" cy="219456"/>
          </a:xfrm>
          <a:prstGeom prst="rect">
            <a:avLst/>
          </a:prstGeom>
          <a:noFill/>
          <a:ln/>
        </p:spPr>
        <p:txBody>
          <a:bodyPr wrap="square" lIns="0" tIns="0" rIns="0" bIns="0" rtlCol="0" anchor="ctr"/>
          <a:lstStyle/>
          <a:p>
            <a:pPr marL="0" indent="0">
              <a:buNone/>
            </a:pPr>
            <a:r>
              <a:rPr lang="en-US" sz="1200" b="1" dirty="0">
                <a:solidFill>
                  <a:srgbClr val="460073"/>
                </a:solidFill>
                <a:latin typeface="Arial" pitchFamily="34" charset="0"/>
                <a:ea typeface="Arial" pitchFamily="34" charset="-122"/>
                <a:cs typeface="Arial" pitchFamily="34" charset="-120"/>
              </a:rPr>
              <a:t>T + 45</a:t>
            </a:r>
            <a:endParaRPr lang="en-US" sz="1200" dirty="0"/>
          </a:p>
        </p:txBody>
      </p:sp>
      <p:sp>
        <p:nvSpPr>
          <p:cNvPr id="29" name="Text 27"/>
          <p:cNvSpPr txBox="1"/>
          <p:nvPr/>
        </p:nvSpPr>
        <p:spPr>
          <a:xfrm>
            <a:off x="2212848" y="2450592"/>
            <a:ext cx="1490472"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Still in the waiting room</a:t>
            </a:r>
            <a:endParaRPr lang="en-US" sz="1000" dirty="0"/>
          </a:p>
        </p:txBody>
      </p:sp>
      <p:sp>
        <p:nvSpPr>
          <p:cNvPr id="30" name="Text 28"/>
          <p:cNvSpPr txBox="1"/>
          <p:nvPr/>
        </p:nvSpPr>
        <p:spPr>
          <a:xfrm>
            <a:off x="2212848" y="2670048"/>
            <a:ext cx="1490472" cy="566928"/>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No re-measurement is scheduled. No mechanism exists to look at her again.</a:t>
            </a:r>
            <a:endParaRPr lang="en-US" sz="900" dirty="0"/>
          </a:p>
        </p:txBody>
      </p:sp>
      <p:sp>
        <p:nvSpPr>
          <p:cNvPr id="31" name="Shape 29"/>
          <p:cNvSpPr/>
          <p:nvPr/>
        </p:nvSpPr>
        <p:spPr>
          <a:xfrm>
            <a:off x="2212848" y="3291840"/>
            <a:ext cx="1490472" cy="237744"/>
          </a:xfrm>
          <a:prstGeom prst="roundRect">
            <a:avLst>
              <a:gd name="adj" fmla="val 192308"/>
            </a:avLst>
          </a:prstGeom>
          <a:solidFill>
            <a:srgbClr val="F2F1F6"/>
          </a:solidFill>
          <a:ln w="12700">
            <a:solidFill>
              <a:srgbClr val="5F5F6B"/>
            </a:solidFill>
            <a:prstDash val="solid"/>
          </a:ln>
        </p:spPr>
      </p:sp>
      <p:sp>
        <p:nvSpPr>
          <p:cNvPr id="32" name="Text 30"/>
          <p:cNvSpPr txBox="1"/>
          <p:nvPr/>
        </p:nvSpPr>
        <p:spPr>
          <a:xfrm>
            <a:off x="2212848" y="3291840"/>
            <a:ext cx="1490472" cy="237744"/>
          </a:xfrm>
          <a:prstGeom prst="rect">
            <a:avLst/>
          </a:prstGeom>
          <a:noFill/>
          <a:ln/>
        </p:spPr>
        <p:txBody>
          <a:bodyPr wrap="square" lIns="0" tIns="0" rIns="0" bIns="0" rtlCol="0" anchor="ctr"/>
          <a:lstStyle/>
          <a:p>
            <a:pPr marL="0" indent="0" algn="ctr">
              <a:buNone/>
            </a:pPr>
            <a:r>
              <a:rPr lang="en-US" sz="850" b="1" kern="0" spc="40" dirty="0">
                <a:solidFill>
                  <a:srgbClr val="5F5F6B"/>
                </a:solidFill>
                <a:latin typeface="Arial" pitchFamily="34" charset="0"/>
                <a:ea typeface="Arial" pitchFamily="34" charset="-122"/>
                <a:cs typeface="Arial" pitchFamily="34" charset="-120"/>
              </a:rPr>
              <a:t>UNOBSERVED</a:t>
            </a:r>
            <a:endParaRPr lang="en-US" sz="850" dirty="0"/>
          </a:p>
        </p:txBody>
      </p:sp>
      <p:sp>
        <p:nvSpPr>
          <p:cNvPr id="33" name="Shape 31"/>
          <p:cNvSpPr/>
          <p:nvPr/>
        </p:nvSpPr>
        <p:spPr>
          <a:xfrm>
            <a:off x="3922776" y="2157984"/>
            <a:ext cx="1673352" cy="1481328"/>
          </a:xfrm>
          <a:prstGeom prst="roundRect">
            <a:avLst>
              <a:gd name="adj" fmla="val 2469"/>
            </a:avLst>
          </a:prstGeom>
          <a:solidFill>
            <a:srgbClr val="F7F4FC"/>
          </a:solidFill>
          <a:ln w="12700">
            <a:solidFill>
              <a:srgbClr val="ECEAF3"/>
            </a:solidFill>
            <a:prstDash val="solid"/>
          </a:ln>
        </p:spPr>
      </p:sp>
      <p:sp>
        <p:nvSpPr>
          <p:cNvPr id="34" name="Text 32"/>
          <p:cNvSpPr txBox="1"/>
          <p:nvPr/>
        </p:nvSpPr>
        <p:spPr>
          <a:xfrm>
            <a:off x="4014216" y="2221992"/>
            <a:ext cx="1490472" cy="219456"/>
          </a:xfrm>
          <a:prstGeom prst="rect">
            <a:avLst/>
          </a:prstGeom>
          <a:noFill/>
          <a:ln/>
        </p:spPr>
        <p:txBody>
          <a:bodyPr wrap="square" lIns="0" tIns="0" rIns="0" bIns="0" rtlCol="0" anchor="ctr"/>
          <a:lstStyle/>
          <a:p>
            <a:pPr marL="0" indent="0">
              <a:buNone/>
            </a:pPr>
            <a:r>
              <a:rPr lang="en-US" sz="1200" b="1" dirty="0">
                <a:solidFill>
                  <a:srgbClr val="460073"/>
                </a:solidFill>
                <a:latin typeface="Arial" pitchFamily="34" charset="0"/>
                <a:ea typeface="Arial" pitchFamily="34" charset="-122"/>
                <a:cs typeface="Arial" pitchFamily="34" charset="-120"/>
              </a:rPr>
              <a:t>T + 75</a:t>
            </a:r>
            <a:endParaRPr lang="en-US" sz="1200" dirty="0"/>
          </a:p>
        </p:txBody>
      </p:sp>
      <p:sp>
        <p:nvSpPr>
          <p:cNvPr id="35" name="Text 33"/>
          <p:cNvSpPr txBox="1"/>
          <p:nvPr/>
        </p:nvSpPr>
        <p:spPr>
          <a:xfrm>
            <a:off x="4014216" y="2450592"/>
            <a:ext cx="1490472"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Deteriorating, unseen</a:t>
            </a:r>
            <a:endParaRPr lang="en-US" sz="1000" dirty="0"/>
          </a:p>
        </p:txBody>
      </p:sp>
      <p:sp>
        <p:nvSpPr>
          <p:cNvPr id="36" name="Text 34"/>
          <p:cNvSpPr txBox="1"/>
          <p:nvPr/>
        </p:nvSpPr>
        <p:spPr>
          <a:xfrm>
            <a:off x="4014216" y="2670048"/>
            <a:ext cx="1490472" cy="566928"/>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Diabetes blunts the cardiac pain that would have raised the alarm.</a:t>
            </a:r>
            <a:endParaRPr lang="en-US" sz="900" dirty="0"/>
          </a:p>
        </p:txBody>
      </p:sp>
      <p:sp>
        <p:nvSpPr>
          <p:cNvPr id="37" name="Shape 35"/>
          <p:cNvSpPr/>
          <p:nvPr/>
        </p:nvSpPr>
        <p:spPr>
          <a:xfrm>
            <a:off x="4014216" y="3291840"/>
            <a:ext cx="1490472" cy="237744"/>
          </a:xfrm>
          <a:prstGeom prst="roundRect">
            <a:avLst>
              <a:gd name="adj" fmla="val 192308"/>
            </a:avLst>
          </a:prstGeom>
          <a:solidFill>
            <a:srgbClr val="FDF2E0"/>
          </a:solidFill>
          <a:ln w="12700">
            <a:solidFill>
              <a:srgbClr val="8F5300"/>
            </a:solidFill>
            <a:prstDash val="solid"/>
          </a:ln>
        </p:spPr>
      </p:sp>
      <p:sp>
        <p:nvSpPr>
          <p:cNvPr id="38" name="Text 36"/>
          <p:cNvSpPr txBox="1"/>
          <p:nvPr/>
        </p:nvSpPr>
        <p:spPr>
          <a:xfrm>
            <a:off x="4014216" y="3291840"/>
            <a:ext cx="1490472" cy="237744"/>
          </a:xfrm>
          <a:prstGeom prst="rect">
            <a:avLst/>
          </a:prstGeom>
          <a:noFill/>
          <a:ln/>
        </p:spPr>
        <p:txBody>
          <a:bodyPr wrap="square" lIns="0" tIns="0" rIns="0" bIns="0" rtlCol="0" anchor="ctr"/>
          <a:lstStyle/>
          <a:p>
            <a:pPr marL="0" indent="0" algn="ctr">
              <a:buNone/>
            </a:pPr>
            <a:r>
              <a:rPr lang="en-US" sz="850" b="1" kern="0" spc="40" dirty="0">
                <a:solidFill>
                  <a:srgbClr val="8F5300"/>
                </a:solidFill>
                <a:latin typeface="Arial" pitchFamily="34" charset="0"/>
                <a:ea typeface="Arial" pitchFamily="34" charset="-122"/>
                <a:cs typeface="Arial" pitchFamily="34" charset="-120"/>
              </a:rPr>
              <a:t>UNOBSERVED</a:t>
            </a:r>
            <a:endParaRPr lang="en-US" sz="850" dirty="0"/>
          </a:p>
        </p:txBody>
      </p:sp>
      <p:sp>
        <p:nvSpPr>
          <p:cNvPr id="39" name="Shape 37"/>
          <p:cNvSpPr/>
          <p:nvPr/>
        </p:nvSpPr>
        <p:spPr>
          <a:xfrm>
            <a:off x="5724144" y="2157984"/>
            <a:ext cx="1673352" cy="1481328"/>
          </a:xfrm>
          <a:prstGeom prst="roundRect">
            <a:avLst>
              <a:gd name="adj" fmla="val 2469"/>
            </a:avLst>
          </a:prstGeom>
          <a:solidFill>
            <a:srgbClr val="FBEAEB"/>
          </a:solidFill>
          <a:ln w="12700">
            <a:solidFill>
              <a:srgbClr val="ECEAF3"/>
            </a:solidFill>
            <a:prstDash val="solid"/>
          </a:ln>
        </p:spPr>
      </p:sp>
      <p:sp>
        <p:nvSpPr>
          <p:cNvPr id="40" name="Text 38"/>
          <p:cNvSpPr txBox="1"/>
          <p:nvPr/>
        </p:nvSpPr>
        <p:spPr>
          <a:xfrm>
            <a:off x="5815584" y="2221992"/>
            <a:ext cx="1490472" cy="219456"/>
          </a:xfrm>
          <a:prstGeom prst="rect">
            <a:avLst/>
          </a:prstGeom>
          <a:noFill/>
          <a:ln/>
        </p:spPr>
        <p:txBody>
          <a:bodyPr wrap="square" lIns="0" tIns="0" rIns="0" bIns="0" rtlCol="0" anchor="ctr"/>
          <a:lstStyle/>
          <a:p>
            <a:pPr marL="0" indent="0">
              <a:buNone/>
            </a:pPr>
            <a:r>
              <a:rPr lang="en-US" sz="1200" b="1" dirty="0">
                <a:solidFill>
                  <a:srgbClr val="B81C26"/>
                </a:solidFill>
                <a:latin typeface="Arial" pitchFamily="34" charset="0"/>
                <a:ea typeface="Arial" pitchFamily="34" charset="-122"/>
                <a:cs typeface="Arial" pitchFamily="34" charset="-120"/>
              </a:rPr>
              <a:t>T + 92</a:t>
            </a:r>
            <a:endParaRPr lang="en-US" sz="1200" dirty="0"/>
          </a:p>
        </p:txBody>
      </p:sp>
      <p:sp>
        <p:nvSpPr>
          <p:cNvPr id="41" name="Text 39"/>
          <p:cNvSpPr txBox="1"/>
          <p:nvPr/>
        </p:nvSpPr>
        <p:spPr>
          <a:xfrm>
            <a:off x="5815584" y="2450592"/>
            <a:ext cx="1490472"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Critical event</a:t>
            </a:r>
            <a:endParaRPr lang="en-US" sz="1000" dirty="0"/>
          </a:p>
        </p:txBody>
      </p:sp>
      <p:sp>
        <p:nvSpPr>
          <p:cNvPr id="42" name="Text 40"/>
          <p:cNvSpPr txBox="1"/>
          <p:nvPr/>
        </p:nvSpPr>
        <p:spPr>
          <a:xfrm>
            <a:off x="5815584" y="2670048"/>
            <a:ext cx="1490472" cy="566928"/>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Severe multi-vessel coronary disease. Ejection fraction 25-30%.</a:t>
            </a:r>
            <a:endParaRPr lang="en-US" sz="900" dirty="0"/>
          </a:p>
        </p:txBody>
      </p:sp>
      <p:sp>
        <p:nvSpPr>
          <p:cNvPr id="43" name="Shape 41"/>
          <p:cNvSpPr/>
          <p:nvPr/>
        </p:nvSpPr>
        <p:spPr>
          <a:xfrm>
            <a:off x="5815584" y="3291840"/>
            <a:ext cx="1490472" cy="237744"/>
          </a:xfrm>
          <a:prstGeom prst="roundRect">
            <a:avLst>
              <a:gd name="adj" fmla="val 192308"/>
            </a:avLst>
          </a:prstGeom>
          <a:solidFill>
            <a:srgbClr val="FBEAEB"/>
          </a:solidFill>
          <a:ln w="12700">
            <a:solidFill>
              <a:srgbClr val="B81C26"/>
            </a:solidFill>
            <a:prstDash val="solid"/>
          </a:ln>
        </p:spPr>
      </p:sp>
      <p:sp>
        <p:nvSpPr>
          <p:cNvPr id="44" name="Text 42"/>
          <p:cNvSpPr txBox="1"/>
          <p:nvPr/>
        </p:nvSpPr>
        <p:spPr>
          <a:xfrm>
            <a:off x="5815584" y="3291840"/>
            <a:ext cx="1490472" cy="237744"/>
          </a:xfrm>
          <a:prstGeom prst="rect">
            <a:avLst/>
          </a:prstGeom>
          <a:noFill/>
          <a:ln/>
        </p:spPr>
        <p:txBody>
          <a:bodyPr wrap="square" lIns="0" tIns="0" rIns="0" bIns="0" rtlCol="0" anchor="ctr"/>
          <a:lstStyle/>
          <a:p>
            <a:pPr marL="0" indent="0" algn="ctr">
              <a:buNone/>
            </a:pPr>
            <a:r>
              <a:rPr lang="en-US" sz="850" b="1" kern="0" spc="40" dirty="0">
                <a:solidFill>
                  <a:srgbClr val="B81C26"/>
                </a:solidFill>
                <a:latin typeface="Arial" pitchFamily="34" charset="0"/>
                <a:ea typeface="Arial" pitchFamily="34" charset="-122"/>
                <a:cs typeface="Arial" pitchFamily="34" charset="-120"/>
              </a:rPr>
              <a:t>ESI-1 · TOO LATE</a:t>
            </a:r>
            <a:endParaRPr lang="en-US" sz="850" dirty="0"/>
          </a:p>
        </p:txBody>
      </p:sp>
      <p:sp>
        <p:nvSpPr>
          <p:cNvPr id="45" name="Shape 43"/>
          <p:cNvSpPr/>
          <p:nvPr/>
        </p:nvSpPr>
        <p:spPr>
          <a:xfrm>
            <a:off x="316992" y="3633216"/>
            <a:ext cx="7077456" cy="274320"/>
          </a:xfrm>
          <a:prstGeom prst="rect">
            <a:avLst/>
          </a:prstGeom>
          <a:solidFill>
            <a:srgbClr val="F4ECFE"/>
          </a:solidFill>
          <a:ln w="12700">
            <a:solidFill>
              <a:srgbClr val="F4ECFE"/>
            </a:solidFill>
            <a:prstDash val="solid"/>
          </a:ln>
        </p:spPr>
      </p:sp>
      <p:sp>
        <p:nvSpPr>
          <p:cNvPr id="46" name="Text 44"/>
          <p:cNvSpPr txBox="1"/>
          <p:nvPr/>
        </p:nvSpPr>
        <p:spPr>
          <a:xfrm>
            <a:off x="313944" y="3634740"/>
            <a:ext cx="7077456" cy="274320"/>
          </a:xfrm>
          <a:prstGeom prst="rect">
            <a:avLst/>
          </a:prstGeom>
          <a:noFill/>
          <a:ln/>
        </p:spPr>
        <p:txBody>
          <a:bodyPr wrap="square" lIns="0" tIns="0" rIns="0" bIns="0" rtlCol="0" anchor="ctr"/>
          <a:lstStyle/>
          <a:p>
            <a:pPr marL="0" indent="0" algn="ctr">
              <a:buNone/>
            </a:pPr>
            <a:r>
              <a:rPr lang="en-US" sz="1200" b="1" dirty="0">
                <a:solidFill>
                  <a:srgbClr val="460073"/>
                </a:solidFill>
                <a:latin typeface="Arial" pitchFamily="34" charset="0"/>
                <a:ea typeface="Arial" pitchFamily="34" charset="-122"/>
                <a:cs typeface="Arial" pitchFamily="34" charset="-120"/>
              </a:rPr>
              <a:t>One decision. Ninety-two minutes. Nothing in the department was designed to revisit it.</a:t>
            </a:r>
            <a:endParaRPr lang="en-US" sz="1200" dirty="0"/>
          </a:p>
        </p:txBody>
      </p:sp>
      <p:sp>
        <p:nvSpPr>
          <p:cNvPr id="47" name="Shape 45"/>
          <p:cNvSpPr/>
          <p:nvPr/>
        </p:nvSpPr>
        <p:spPr>
          <a:xfrm>
            <a:off x="201168" y="4041648"/>
            <a:ext cx="7315200" cy="2615184"/>
          </a:xfrm>
          <a:prstGeom prst="rect">
            <a:avLst/>
          </a:prstGeom>
          <a:solidFill>
            <a:srgbClr val="FFFFFF"/>
          </a:solidFill>
          <a:ln w="12700">
            <a:solidFill>
              <a:srgbClr val="D9D6E3"/>
            </a:solidFill>
            <a:prstDash val="solid"/>
          </a:ln>
        </p:spPr>
      </p:sp>
      <p:sp>
        <p:nvSpPr>
          <p:cNvPr id="48" name="Shape 46"/>
          <p:cNvSpPr/>
          <p:nvPr/>
        </p:nvSpPr>
        <p:spPr>
          <a:xfrm>
            <a:off x="201168" y="4041648"/>
            <a:ext cx="7315200" cy="274320"/>
          </a:xfrm>
          <a:prstGeom prst="rect">
            <a:avLst/>
          </a:prstGeom>
          <a:solidFill>
            <a:srgbClr val="5C0099"/>
          </a:solidFill>
          <a:ln w="12700">
            <a:solidFill>
              <a:srgbClr val="5C0099"/>
            </a:solidFill>
            <a:prstDash val="solid"/>
          </a:ln>
        </p:spPr>
      </p:sp>
      <p:sp>
        <p:nvSpPr>
          <p:cNvPr id="49" name="Text 47"/>
          <p:cNvSpPr txBox="1"/>
          <p:nvPr/>
        </p:nvSpPr>
        <p:spPr>
          <a:xfrm>
            <a:off x="201168" y="4041648"/>
            <a:ext cx="731520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THREE SEPARABLE GAPS - AND WHAT EACH ONE COSTS</a:t>
            </a:r>
            <a:endParaRPr lang="en-US" sz="1050" dirty="0"/>
          </a:p>
        </p:txBody>
      </p:sp>
      <p:sp>
        <p:nvSpPr>
          <p:cNvPr id="50" name="Shape 48"/>
          <p:cNvSpPr/>
          <p:nvPr/>
        </p:nvSpPr>
        <p:spPr>
          <a:xfrm>
            <a:off x="320040" y="4407408"/>
            <a:ext cx="2261616" cy="219456"/>
          </a:xfrm>
          <a:prstGeom prst="rect">
            <a:avLst/>
          </a:prstGeom>
          <a:solidFill>
            <a:srgbClr val="F4ECFE"/>
          </a:solidFill>
          <a:ln w="12700">
            <a:solidFill>
              <a:srgbClr val="F4ECFE"/>
            </a:solidFill>
            <a:prstDash val="solid"/>
          </a:ln>
        </p:spPr>
      </p:sp>
      <p:sp>
        <p:nvSpPr>
          <p:cNvPr id="51" name="Text 49"/>
          <p:cNvSpPr txBox="1"/>
          <p:nvPr/>
        </p:nvSpPr>
        <p:spPr>
          <a:xfrm>
            <a:off x="320040" y="4407408"/>
            <a:ext cx="2261616" cy="219456"/>
          </a:xfrm>
          <a:prstGeom prst="rect">
            <a:avLst/>
          </a:prstGeom>
          <a:noFill/>
          <a:ln/>
        </p:spPr>
        <p:txBody>
          <a:bodyPr wrap="square" lIns="0" tIns="0" rIns="0" bIns="0" rtlCol="0" anchor="ctr"/>
          <a:lstStyle/>
          <a:p>
            <a:pPr marL="0" indent="0" algn="ctr">
              <a:buNone/>
            </a:pPr>
            <a:r>
              <a:rPr lang="en-US" sz="950" b="1" kern="0" spc="60" dirty="0">
                <a:solidFill>
                  <a:srgbClr val="460073"/>
                </a:solidFill>
                <a:latin typeface="Arial" pitchFamily="34" charset="0"/>
                <a:ea typeface="Arial" pitchFamily="34" charset="-122"/>
                <a:cs typeface="Arial" pitchFamily="34" charset="-120"/>
              </a:rPr>
              <a:t>GAP 01 · VARIABILITY</a:t>
            </a:r>
            <a:endParaRPr lang="en-US" sz="950" dirty="0"/>
          </a:p>
        </p:txBody>
      </p:sp>
      <p:sp>
        <p:nvSpPr>
          <p:cNvPr id="52" name="Text 50"/>
          <p:cNvSpPr txBox="1"/>
          <p:nvPr/>
        </p:nvSpPr>
        <p:spPr>
          <a:xfrm>
            <a:off x="320040" y="4681728"/>
            <a:ext cx="2261616" cy="329184"/>
          </a:xfrm>
          <a:prstGeom prst="rect">
            <a:avLst/>
          </a:prstGeom>
          <a:noFill/>
          <a:ln/>
        </p:spPr>
        <p:txBody>
          <a:bodyPr wrap="square" lIns="0" tIns="0" rIns="0" bIns="0" rtlCol="0" anchor="ctr"/>
          <a:lstStyle/>
          <a:p>
            <a:pPr marL="0" indent="0">
              <a:buNone/>
            </a:pPr>
            <a:r>
              <a:rPr lang="en-US" sz="2000" b="1" dirty="0">
                <a:solidFill>
                  <a:srgbClr val="A100FF"/>
                </a:solidFill>
                <a:latin typeface="Arial" pitchFamily="34" charset="0"/>
                <a:ea typeface="Arial" pitchFamily="34" charset="-122"/>
                <a:cs typeface="Arial" pitchFamily="34" charset="-120"/>
              </a:rPr>
              <a:t>0.46-0.91</a:t>
            </a:r>
            <a:endParaRPr lang="en-US" sz="2000" dirty="0"/>
          </a:p>
        </p:txBody>
      </p:sp>
      <p:sp>
        <p:nvSpPr>
          <p:cNvPr id="53" name="Text 51"/>
          <p:cNvSpPr txBox="1"/>
          <p:nvPr/>
        </p:nvSpPr>
        <p:spPr>
          <a:xfrm>
            <a:off x="320040" y="5010912"/>
            <a:ext cx="2261616"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inter-rater agreement</a:t>
            </a:r>
            <a:endParaRPr lang="en-US" sz="900" dirty="0"/>
          </a:p>
        </p:txBody>
      </p:sp>
      <p:sp>
        <p:nvSpPr>
          <p:cNvPr id="54" name="Text 52"/>
          <p:cNvSpPr txBox="1"/>
          <p:nvPr/>
        </p:nvSpPr>
        <p:spPr>
          <a:xfrm>
            <a:off x="320040" y="5230368"/>
            <a:ext cx="2261616" cy="603504"/>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Two competent nurses assign different levels to the same patient. Judgment, not protocol, decides.</a:t>
            </a:r>
            <a:endParaRPr lang="en-US" sz="900" dirty="0"/>
          </a:p>
        </p:txBody>
      </p:sp>
      <p:sp>
        <p:nvSpPr>
          <p:cNvPr id="55" name="Shape 53"/>
          <p:cNvSpPr/>
          <p:nvPr/>
        </p:nvSpPr>
        <p:spPr>
          <a:xfrm>
            <a:off x="320040" y="5852160"/>
            <a:ext cx="2261616" cy="566928"/>
          </a:xfrm>
          <a:prstGeom prst="roundRect">
            <a:avLst>
              <a:gd name="adj" fmla="val 6452"/>
            </a:avLst>
          </a:prstGeom>
          <a:solidFill>
            <a:srgbClr val="E6F3EC"/>
          </a:solidFill>
          <a:ln w="12700">
            <a:solidFill>
              <a:srgbClr val="E6F3EC"/>
            </a:solidFill>
            <a:prstDash val="solid"/>
          </a:ln>
        </p:spPr>
      </p:sp>
      <p:sp>
        <p:nvSpPr>
          <p:cNvPr id="56" name="Text 54"/>
          <p:cNvSpPr txBox="1"/>
          <p:nvPr/>
        </p:nvSpPr>
        <p:spPr>
          <a:xfrm>
            <a:off x="411480" y="5907024"/>
            <a:ext cx="2078736" cy="457200"/>
          </a:xfrm>
          <a:prstGeom prst="rect">
            <a:avLst/>
          </a:prstGeom>
          <a:noFill/>
          <a:ln/>
        </p:spPr>
        <p:txBody>
          <a:bodyPr wrap="square" lIns="0" tIns="0" rIns="0" bIns="0" rtlCol="0" anchor="ctr"/>
          <a:lstStyle/>
          <a:p>
            <a:pPr marL="0" indent="0">
              <a:lnSpc>
                <a:spcPct val="105000"/>
              </a:lnSpc>
              <a:buNone/>
            </a:pPr>
            <a:r>
              <a:rPr lang="en-US" sz="800" b="1" dirty="0">
                <a:solidFill>
                  <a:srgbClr val="0A6E43"/>
                </a:solidFill>
                <a:latin typeface="Calibri" pitchFamily="34" charset="0"/>
                <a:ea typeface="Calibri" pitchFamily="34" charset="-122"/>
                <a:cs typeface="Calibri" pitchFamily="34" charset="-120"/>
              </a:rPr>
              <a:t>OUR MECHANISM  </a:t>
            </a:r>
            <a:r>
              <a:rPr lang="en-US" sz="880" dirty="0">
                <a:solidFill>
                  <a:srgbClr val="2E2E36"/>
                </a:solidFill>
                <a:latin typeface="Calibri" pitchFamily="34" charset="0"/>
                <a:ea typeface="Calibri" pitchFamily="34" charset="-122"/>
                <a:cs typeface="Calibri" pitchFamily="34" charset="-120"/>
              </a:rPr>
              <a:t>Deterministic acuity floor: four rule layers combined with min().</a:t>
            </a:r>
            <a:endParaRPr lang="en-US" sz="880" dirty="0"/>
          </a:p>
        </p:txBody>
      </p:sp>
      <p:sp>
        <p:nvSpPr>
          <p:cNvPr id="57" name="Shape 55"/>
          <p:cNvSpPr/>
          <p:nvPr/>
        </p:nvSpPr>
        <p:spPr>
          <a:xfrm>
            <a:off x="2727960" y="4407408"/>
            <a:ext cx="2261616" cy="219456"/>
          </a:xfrm>
          <a:prstGeom prst="rect">
            <a:avLst/>
          </a:prstGeom>
          <a:solidFill>
            <a:srgbClr val="F4ECFE"/>
          </a:solidFill>
          <a:ln w="12700">
            <a:solidFill>
              <a:srgbClr val="F4ECFE"/>
            </a:solidFill>
            <a:prstDash val="solid"/>
          </a:ln>
        </p:spPr>
      </p:sp>
      <p:sp>
        <p:nvSpPr>
          <p:cNvPr id="58" name="Text 56"/>
          <p:cNvSpPr txBox="1"/>
          <p:nvPr/>
        </p:nvSpPr>
        <p:spPr>
          <a:xfrm>
            <a:off x="2727960" y="4407408"/>
            <a:ext cx="2261616" cy="219456"/>
          </a:xfrm>
          <a:prstGeom prst="rect">
            <a:avLst/>
          </a:prstGeom>
          <a:noFill/>
          <a:ln/>
        </p:spPr>
        <p:txBody>
          <a:bodyPr wrap="square" lIns="0" tIns="0" rIns="0" bIns="0" rtlCol="0" anchor="ctr"/>
          <a:lstStyle/>
          <a:p>
            <a:pPr marL="0" indent="0" algn="ctr">
              <a:buNone/>
            </a:pPr>
            <a:r>
              <a:rPr lang="en-US" sz="950" b="1" kern="0" spc="60" dirty="0">
                <a:solidFill>
                  <a:srgbClr val="460073"/>
                </a:solidFill>
                <a:latin typeface="Arial" pitchFamily="34" charset="0"/>
                <a:ea typeface="Arial" pitchFamily="34" charset="-122"/>
                <a:cs typeface="Arial" pitchFamily="34" charset="-120"/>
              </a:rPr>
              <a:t>GAP 02 · QUEUE BLINDSPOT</a:t>
            </a:r>
            <a:endParaRPr lang="en-US" sz="950" dirty="0"/>
          </a:p>
        </p:txBody>
      </p:sp>
      <p:sp>
        <p:nvSpPr>
          <p:cNvPr id="59" name="Text 57"/>
          <p:cNvSpPr txBox="1"/>
          <p:nvPr/>
        </p:nvSpPr>
        <p:spPr>
          <a:xfrm>
            <a:off x="2727960" y="4681728"/>
            <a:ext cx="2261616" cy="329184"/>
          </a:xfrm>
          <a:prstGeom prst="rect">
            <a:avLst/>
          </a:prstGeom>
          <a:noFill/>
          <a:ln/>
        </p:spPr>
        <p:txBody>
          <a:bodyPr wrap="square" lIns="0" tIns="0" rIns="0" bIns="0" rtlCol="0" anchor="ctr"/>
          <a:lstStyle/>
          <a:p>
            <a:pPr marL="0" indent="0">
              <a:buNone/>
            </a:pPr>
            <a:r>
              <a:rPr lang="en-US" sz="2000" b="1" dirty="0">
                <a:solidFill>
                  <a:srgbClr val="A100FF"/>
                </a:solidFill>
                <a:latin typeface="Arial" pitchFamily="34" charset="0"/>
                <a:ea typeface="Arial" pitchFamily="34" charset="-122"/>
                <a:cs typeface="Arial" pitchFamily="34" charset="-120"/>
              </a:rPr>
              <a:t>50%+</a:t>
            </a:r>
            <a:endParaRPr lang="en-US" sz="2000" dirty="0"/>
          </a:p>
        </p:txBody>
      </p:sp>
      <p:sp>
        <p:nvSpPr>
          <p:cNvPr id="60" name="Text 58"/>
          <p:cNvSpPr txBox="1"/>
          <p:nvPr/>
        </p:nvSpPr>
        <p:spPr>
          <a:xfrm>
            <a:off x="2727960" y="5010912"/>
            <a:ext cx="2261616"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of visits in one band</a:t>
            </a:r>
            <a:endParaRPr lang="en-US" sz="900" dirty="0"/>
          </a:p>
        </p:txBody>
      </p:sp>
      <p:sp>
        <p:nvSpPr>
          <p:cNvPr id="61" name="Text 59"/>
          <p:cNvSpPr txBox="1"/>
          <p:nvPr/>
        </p:nvSpPr>
        <p:spPr>
          <a:xfrm>
            <a:off x="2727960" y="5230368"/>
            <a:ext cx="2261616" cy="603504"/>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Inside a colour, arrival time decides position. A crowded ESI-3 band has no ordering at all.</a:t>
            </a:r>
            <a:endParaRPr lang="en-US" sz="900" dirty="0"/>
          </a:p>
        </p:txBody>
      </p:sp>
      <p:sp>
        <p:nvSpPr>
          <p:cNvPr id="62" name="Shape 60"/>
          <p:cNvSpPr/>
          <p:nvPr/>
        </p:nvSpPr>
        <p:spPr>
          <a:xfrm>
            <a:off x="2727960" y="5852160"/>
            <a:ext cx="2261616" cy="566928"/>
          </a:xfrm>
          <a:prstGeom prst="roundRect">
            <a:avLst>
              <a:gd name="adj" fmla="val 6452"/>
            </a:avLst>
          </a:prstGeom>
          <a:solidFill>
            <a:srgbClr val="E6F3EC"/>
          </a:solidFill>
          <a:ln w="12700">
            <a:solidFill>
              <a:srgbClr val="E6F3EC"/>
            </a:solidFill>
            <a:prstDash val="solid"/>
          </a:ln>
        </p:spPr>
      </p:sp>
      <p:sp>
        <p:nvSpPr>
          <p:cNvPr id="63" name="Text 61"/>
          <p:cNvSpPr txBox="1"/>
          <p:nvPr/>
        </p:nvSpPr>
        <p:spPr>
          <a:xfrm>
            <a:off x="2819400" y="5907024"/>
            <a:ext cx="2078736" cy="457200"/>
          </a:xfrm>
          <a:prstGeom prst="rect">
            <a:avLst/>
          </a:prstGeom>
          <a:noFill/>
          <a:ln/>
        </p:spPr>
        <p:txBody>
          <a:bodyPr wrap="square" lIns="0" tIns="0" rIns="0" bIns="0" rtlCol="0" anchor="ctr"/>
          <a:lstStyle/>
          <a:p>
            <a:pPr marL="0" indent="0">
              <a:lnSpc>
                <a:spcPct val="105000"/>
              </a:lnSpc>
              <a:buNone/>
            </a:pPr>
            <a:r>
              <a:rPr lang="en-US" sz="800" b="1" dirty="0">
                <a:solidFill>
                  <a:srgbClr val="0A6E43"/>
                </a:solidFill>
                <a:latin typeface="Calibri" pitchFamily="34" charset="0"/>
                <a:ea typeface="Calibri" pitchFamily="34" charset="-122"/>
                <a:cs typeface="Calibri" pitchFamily="34" charset="-120"/>
              </a:rPr>
              <a:t>OUR MECHANISM  </a:t>
            </a:r>
            <a:r>
              <a:rPr lang="en-US" sz="880" dirty="0">
                <a:solidFill>
                  <a:srgbClr val="2E2E36"/>
                </a:solidFill>
                <a:latin typeface="Calibri" pitchFamily="34" charset="0"/>
                <a:ea typeface="Calibri" pitchFamily="34" charset="-122"/>
                <a:cs typeface="Calibri" pitchFamily="34" charset="-120"/>
              </a:rPr>
              <a:t>Continuous within-colour ranking by risk and trend.</a:t>
            </a:r>
            <a:endParaRPr lang="en-US" sz="880" dirty="0"/>
          </a:p>
        </p:txBody>
      </p:sp>
      <p:sp>
        <p:nvSpPr>
          <p:cNvPr id="64" name="Shape 62"/>
          <p:cNvSpPr/>
          <p:nvPr/>
        </p:nvSpPr>
        <p:spPr>
          <a:xfrm>
            <a:off x="5135880" y="4407408"/>
            <a:ext cx="2261616" cy="219456"/>
          </a:xfrm>
          <a:prstGeom prst="rect">
            <a:avLst/>
          </a:prstGeom>
          <a:solidFill>
            <a:srgbClr val="F4ECFE"/>
          </a:solidFill>
          <a:ln w="12700">
            <a:solidFill>
              <a:srgbClr val="F4ECFE"/>
            </a:solidFill>
            <a:prstDash val="solid"/>
          </a:ln>
        </p:spPr>
      </p:sp>
      <p:sp>
        <p:nvSpPr>
          <p:cNvPr id="65" name="Text 63"/>
          <p:cNvSpPr txBox="1"/>
          <p:nvPr/>
        </p:nvSpPr>
        <p:spPr>
          <a:xfrm>
            <a:off x="5135880" y="4407408"/>
            <a:ext cx="2261616" cy="219456"/>
          </a:xfrm>
          <a:prstGeom prst="rect">
            <a:avLst/>
          </a:prstGeom>
          <a:noFill/>
          <a:ln/>
        </p:spPr>
        <p:txBody>
          <a:bodyPr wrap="square" lIns="0" tIns="0" rIns="0" bIns="0" rtlCol="0" anchor="ctr"/>
          <a:lstStyle/>
          <a:p>
            <a:pPr marL="0" indent="0" algn="ctr">
              <a:buNone/>
            </a:pPr>
            <a:r>
              <a:rPr lang="en-US" sz="950" b="1" kern="0" spc="60" dirty="0">
                <a:solidFill>
                  <a:srgbClr val="460073"/>
                </a:solidFill>
                <a:latin typeface="Arial" pitchFamily="34" charset="0"/>
                <a:ea typeface="Arial" pitchFamily="34" charset="-122"/>
                <a:cs typeface="Arial" pitchFamily="34" charset="-120"/>
              </a:rPr>
              <a:t>GAP 03 · STATIC MEASUREMENT</a:t>
            </a:r>
            <a:endParaRPr lang="en-US" sz="950" dirty="0"/>
          </a:p>
        </p:txBody>
      </p:sp>
      <p:sp>
        <p:nvSpPr>
          <p:cNvPr id="66" name="Text 64"/>
          <p:cNvSpPr txBox="1"/>
          <p:nvPr/>
        </p:nvSpPr>
        <p:spPr>
          <a:xfrm>
            <a:off x="5135880" y="4681728"/>
            <a:ext cx="2261616" cy="329184"/>
          </a:xfrm>
          <a:prstGeom prst="rect">
            <a:avLst/>
          </a:prstGeom>
          <a:noFill/>
          <a:ln/>
        </p:spPr>
        <p:txBody>
          <a:bodyPr wrap="square" lIns="0" tIns="0" rIns="0" bIns="0" rtlCol="0" anchor="ctr"/>
          <a:lstStyle/>
          <a:p>
            <a:pPr marL="0" indent="0">
              <a:buNone/>
            </a:pPr>
            <a:r>
              <a:rPr lang="en-US" sz="2000" b="1" dirty="0">
                <a:solidFill>
                  <a:srgbClr val="A100FF"/>
                </a:solidFill>
                <a:latin typeface="Arial" pitchFamily="34" charset="0"/>
                <a:ea typeface="Arial" pitchFamily="34" charset="-122"/>
                <a:cs typeface="Arial" pitchFamily="34" charset="-120"/>
              </a:rPr>
              <a:t>92 min</a:t>
            </a:r>
            <a:endParaRPr lang="en-US" sz="2000" dirty="0"/>
          </a:p>
        </p:txBody>
      </p:sp>
      <p:sp>
        <p:nvSpPr>
          <p:cNvPr id="67" name="Text 65"/>
          <p:cNvSpPr txBox="1"/>
          <p:nvPr/>
        </p:nvSpPr>
        <p:spPr>
          <a:xfrm>
            <a:off x="5135880" y="5010912"/>
            <a:ext cx="2261616"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unobserved, case P01</a:t>
            </a:r>
            <a:endParaRPr lang="en-US" sz="900" dirty="0"/>
          </a:p>
        </p:txBody>
      </p:sp>
      <p:sp>
        <p:nvSpPr>
          <p:cNvPr id="68" name="Text 66"/>
          <p:cNvSpPr txBox="1"/>
          <p:nvPr/>
        </p:nvSpPr>
        <p:spPr>
          <a:xfrm>
            <a:off x="5135880" y="5230368"/>
            <a:ext cx="2261616" cy="603504"/>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Triage executes once. Deterioration in the waiting room is invisible until someone walks past.</a:t>
            </a:r>
            <a:endParaRPr lang="en-US" sz="900" dirty="0"/>
          </a:p>
        </p:txBody>
      </p:sp>
      <p:sp>
        <p:nvSpPr>
          <p:cNvPr id="69" name="Shape 67"/>
          <p:cNvSpPr/>
          <p:nvPr/>
        </p:nvSpPr>
        <p:spPr>
          <a:xfrm>
            <a:off x="5135880" y="5852160"/>
            <a:ext cx="2261616" cy="566928"/>
          </a:xfrm>
          <a:prstGeom prst="roundRect">
            <a:avLst>
              <a:gd name="adj" fmla="val 6452"/>
            </a:avLst>
          </a:prstGeom>
          <a:solidFill>
            <a:srgbClr val="E6F3EC"/>
          </a:solidFill>
          <a:ln w="12700">
            <a:solidFill>
              <a:srgbClr val="E6F3EC"/>
            </a:solidFill>
            <a:prstDash val="solid"/>
          </a:ln>
        </p:spPr>
      </p:sp>
      <p:sp>
        <p:nvSpPr>
          <p:cNvPr id="70" name="Text 68"/>
          <p:cNvSpPr txBox="1"/>
          <p:nvPr/>
        </p:nvSpPr>
        <p:spPr>
          <a:xfrm>
            <a:off x="5227320" y="5907024"/>
            <a:ext cx="2078736" cy="457200"/>
          </a:xfrm>
          <a:prstGeom prst="rect">
            <a:avLst/>
          </a:prstGeom>
          <a:noFill/>
          <a:ln/>
        </p:spPr>
        <p:txBody>
          <a:bodyPr wrap="square" lIns="0" tIns="0" rIns="0" bIns="0" rtlCol="0" anchor="ctr"/>
          <a:lstStyle/>
          <a:p>
            <a:pPr marL="0" indent="0">
              <a:lnSpc>
                <a:spcPct val="105000"/>
              </a:lnSpc>
              <a:buNone/>
            </a:pPr>
            <a:r>
              <a:rPr lang="en-US" sz="800" b="1" dirty="0">
                <a:solidFill>
                  <a:srgbClr val="0A6E43"/>
                </a:solidFill>
                <a:latin typeface="Calibri" pitchFamily="34" charset="0"/>
                <a:ea typeface="Calibri" pitchFamily="34" charset="-122"/>
                <a:cs typeface="Calibri" pitchFamily="34" charset="-120"/>
              </a:rPr>
              <a:t>OUR MECHANISM  </a:t>
            </a:r>
            <a:r>
              <a:rPr lang="en-US" sz="880" dirty="0">
                <a:solidFill>
                  <a:srgbClr val="2E2E36"/>
                </a:solidFill>
                <a:latin typeface="Calibri" pitchFamily="34" charset="0"/>
                <a:ea typeface="Calibri" pitchFamily="34" charset="-122"/>
                <a:cs typeface="Calibri" pitchFamily="34" charset="-120"/>
              </a:rPr>
              <a:t>Re-triage loop on a timer, plus two mandatory triggers.</a:t>
            </a:r>
            <a:endParaRPr lang="en-US" sz="880" dirty="0"/>
          </a:p>
        </p:txBody>
      </p:sp>
      <p:sp>
        <p:nvSpPr>
          <p:cNvPr id="71" name="Shape 69"/>
          <p:cNvSpPr/>
          <p:nvPr/>
        </p:nvSpPr>
        <p:spPr>
          <a:xfrm>
            <a:off x="7717536" y="530352"/>
            <a:ext cx="4270248" cy="3255264"/>
          </a:xfrm>
          <a:prstGeom prst="rect">
            <a:avLst/>
          </a:prstGeom>
          <a:solidFill>
            <a:srgbClr val="FFFFFF"/>
          </a:solidFill>
          <a:ln w="12700">
            <a:solidFill>
              <a:srgbClr val="D9D6E3"/>
            </a:solidFill>
            <a:prstDash val="solid"/>
          </a:ln>
        </p:spPr>
      </p:sp>
      <p:sp>
        <p:nvSpPr>
          <p:cNvPr id="72" name="Shape 70"/>
          <p:cNvSpPr/>
          <p:nvPr/>
        </p:nvSpPr>
        <p:spPr>
          <a:xfrm>
            <a:off x="7717536" y="530352"/>
            <a:ext cx="4270248" cy="274320"/>
          </a:xfrm>
          <a:prstGeom prst="rect">
            <a:avLst/>
          </a:prstGeom>
          <a:solidFill>
            <a:srgbClr val="460073"/>
          </a:solidFill>
          <a:ln w="12700">
            <a:solidFill>
              <a:srgbClr val="460073"/>
            </a:solidFill>
            <a:prstDash val="solid"/>
          </a:ln>
        </p:spPr>
      </p:sp>
      <p:sp>
        <p:nvSpPr>
          <p:cNvPr id="73" name="Text 71"/>
          <p:cNvSpPr txBox="1"/>
          <p:nvPr/>
        </p:nvSpPr>
        <p:spPr>
          <a:xfrm>
            <a:off x="7717536" y="530352"/>
            <a:ext cx="427024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WHY NOW - THE EVIDENCE</a:t>
            </a:r>
            <a:endParaRPr lang="en-US" sz="1050" dirty="0"/>
          </a:p>
        </p:txBody>
      </p:sp>
      <p:sp>
        <p:nvSpPr>
          <p:cNvPr id="74" name="Text 72"/>
          <p:cNvSpPr txBox="1"/>
          <p:nvPr/>
        </p:nvSpPr>
        <p:spPr>
          <a:xfrm>
            <a:off x="7836408" y="896112"/>
            <a:ext cx="896112" cy="274320"/>
          </a:xfrm>
          <a:prstGeom prst="rect">
            <a:avLst/>
          </a:prstGeom>
          <a:noFill/>
          <a:ln/>
        </p:spPr>
        <p:txBody>
          <a:bodyPr wrap="square" lIns="0" tIns="0" rIns="0" bIns="0" rtlCol="0" anchor="ctr"/>
          <a:lstStyle/>
          <a:p>
            <a:pPr marL="0" indent="0">
              <a:buNone/>
            </a:pPr>
            <a:r>
              <a:rPr lang="en-US" sz="1500" b="1" dirty="0">
                <a:solidFill>
                  <a:srgbClr val="A100FF"/>
                </a:solidFill>
                <a:latin typeface="Arial" pitchFamily="34" charset="0"/>
                <a:ea typeface="Arial" pitchFamily="34" charset="-122"/>
                <a:cs typeface="Arial" pitchFamily="34" charset="-120"/>
              </a:rPr>
              <a:t>66%</a:t>
            </a:r>
            <a:endParaRPr lang="en-US" sz="1500" dirty="0"/>
          </a:p>
        </p:txBody>
      </p:sp>
      <p:sp>
        <p:nvSpPr>
          <p:cNvPr id="75" name="Text 73"/>
          <p:cNvSpPr txBox="1"/>
          <p:nvPr/>
        </p:nvSpPr>
        <p:spPr>
          <a:xfrm>
            <a:off x="8787384" y="877824"/>
            <a:ext cx="3081528" cy="365760"/>
          </a:xfrm>
          <a:prstGeom prst="rect">
            <a:avLst/>
          </a:prstGeom>
          <a:noFill/>
          <a:ln/>
        </p:spPr>
        <p:txBody>
          <a:bodyPr wrap="square" lIns="0" tIns="0" rIns="0" bIns="0" rtlCol="0" anchor="ctr"/>
          <a:lstStyle/>
          <a:p>
            <a:pPr marL="0" indent="0">
              <a:lnSpc>
                <a:spcPct val="104000"/>
              </a:lnSpc>
              <a:buNone/>
            </a:pPr>
            <a:r>
              <a:rPr lang="en-US" sz="900" dirty="0">
                <a:solidFill>
                  <a:srgbClr val="2E2E36"/>
                </a:solidFill>
                <a:latin typeface="Calibri" pitchFamily="34" charset="0"/>
                <a:ea typeface="Calibri" pitchFamily="34" charset="-122"/>
                <a:cs typeface="Calibri" pitchFamily="34" charset="-120"/>
              </a:rPr>
              <a:t>sensitivity of human triage for patients who go on to need a life-saving intervention. One in three is not identified.</a:t>
            </a:r>
            <a:endParaRPr lang="en-US" sz="900" dirty="0"/>
          </a:p>
        </p:txBody>
      </p:sp>
      <p:sp>
        <p:nvSpPr>
          <p:cNvPr id="76" name="Text 74"/>
          <p:cNvSpPr txBox="1"/>
          <p:nvPr/>
        </p:nvSpPr>
        <p:spPr>
          <a:xfrm>
            <a:off x="8787384" y="1225296"/>
            <a:ext cx="3081528" cy="164592"/>
          </a:xfrm>
          <a:prstGeom prst="rect">
            <a:avLst/>
          </a:prstGeom>
          <a:noFill/>
          <a:ln/>
        </p:spPr>
        <p:txBody>
          <a:bodyPr wrap="square" lIns="0" tIns="0" rIns="0" bIns="0" rtlCol="0" anchor="ctr"/>
          <a:lstStyle/>
          <a:p>
            <a:pPr marL="0" indent="0">
              <a:buNone/>
            </a:pPr>
            <a:r>
              <a:rPr lang="en-US" sz="800" dirty="0">
                <a:solidFill>
                  <a:srgbClr val="8A8A96"/>
                </a:solidFill>
                <a:latin typeface="Calibri" pitchFamily="34" charset="0"/>
                <a:ea typeface="Calibri" pitchFamily="34" charset="-122"/>
                <a:cs typeface="Calibri" pitchFamily="34" charset="-120"/>
              </a:rPr>
              <a:t>Sax et al., JAMA Netw Open 2023 · 5.3 mn encounters, 21 hospitals</a:t>
            </a:r>
            <a:endParaRPr lang="en-US" sz="800" dirty="0"/>
          </a:p>
        </p:txBody>
      </p:sp>
      <p:sp>
        <p:nvSpPr>
          <p:cNvPr id="77" name="Shape 75"/>
          <p:cNvSpPr/>
          <p:nvPr/>
        </p:nvSpPr>
        <p:spPr>
          <a:xfrm>
            <a:off x="7836408" y="1417320"/>
            <a:ext cx="4032504" cy="7315"/>
          </a:xfrm>
          <a:prstGeom prst="rect">
            <a:avLst/>
          </a:prstGeom>
          <a:solidFill>
            <a:srgbClr val="ECEAF3"/>
          </a:solidFill>
          <a:ln w="12700">
            <a:solidFill>
              <a:srgbClr val="ECEAF3"/>
            </a:solidFill>
            <a:prstDash val="solid"/>
          </a:ln>
        </p:spPr>
      </p:sp>
      <p:sp>
        <p:nvSpPr>
          <p:cNvPr id="78" name="Text 76"/>
          <p:cNvSpPr txBox="1"/>
          <p:nvPr/>
        </p:nvSpPr>
        <p:spPr>
          <a:xfrm>
            <a:off x="7836408" y="1463040"/>
            <a:ext cx="896112" cy="274320"/>
          </a:xfrm>
          <a:prstGeom prst="rect">
            <a:avLst/>
          </a:prstGeom>
          <a:noFill/>
          <a:ln/>
        </p:spPr>
        <p:txBody>
          <a:bodyPr wrap="square" lIns="0" tIns="0" rIns="0" bIns="0" rtlCol="0" anchor="ctr"/>
          <a:lstStyle/>
          <a:p>
            <a:pPr marL="0" indent="0">
              <a:buNone/>
            </a:pPr>
            <a:r>
              <a:rPr lang="en-US" sz="1500" b="1" dirty="0">
                <a:solidFill>
                  <a:srgbClr val="A100FF"/>
                </a:solidFill>
                <a:latin typeface="Arial" pitchFamily="34" charset="0"/>
                <a:ea typeface="Arial" pitchFamily="34" charset="-122"/>
                <a:cs typeface="Arial" pitchFamily="34" charset="-120"/>
              </a:rPr>
              <a:t>50%</a:t>
            </a:r>
            <a:endParaRPr lang="en-US" sz="1500" dirty="0"/>
          </a:p>
        </p:txBody>
      </p:sp>
      <p:sp>
        <p:nvSpPr>
          <p:cNvPr id="79" name="Text 77"/>
          <p:cNvSpPr txBox="1"/>
          <p:nvPr/>
        </p:nvSpPr>
        <p:spPr>
          <a:xfrm>
            <a:off x="8787384" y="1444752"/>
            <a:ext cx="3081528" cy="365760"/>
          </a:xfrm>
          <a:prstGeom prst="rect">
            <a:avLst/>
          </a:prstGeom>
          <a:noFill/>
          <a:ln/>
        </p:spPr>
        <p:txBody>
          <a:bodyPr wrap="square" lIns="0" tIns="0" rIns="0" bIns="0" rtlCol="0" anchor="ctr"/>
          <a:lstStyle/>
          <a:p>
            <a:pPr marL="0" indent="0">
              <a:lnSpc>
                <a:spcPct val="104000"/>
              </a:lnSpc>
              <a:buNone/>
            </a:pPr>
            <a:r>
              <a:rPr lang="en-US" sz="900" dirty="0">
                <a:solidFill>
                  <a:srgbClr val="2E2E36"/>
                </a:solidFill>
                <a:latin typeface="Calibri" pitchFamily="34" charset="0"/>
                <a:ea typeface="Calibri" pitchFamily="34" charset="-122"/>
                <a:cs typeface="Calibri" pitchFamily="34" charset="-120"/>
              </a:rPr>
              <a:t>of arrivals have no prior record on file, so history cannot be assumed as an input.</a:t>
            </a:r>
            <a:endParaRPr lang="en-US" sz="900" dirty="0"/>
          </a:p>
        </p:txBody>
      </p:sp>
      <p:sp>
        <p:nvSpPr>
          <p:cNvPr id="80" name="Text 78"/>
          <p:cNvSpPr txBox="1"/>
          <p:nvPr/>
        </p:nvSpPr>
        <p:spPr>
          <a:xfrm>
            <a:off x="8787384" y="1792224"/>
            <a:ext cx="3081528" cy="164592"/>
          </a:xfrm>
          <a:prstGeom prst="rect">
            <a:avLst/>
          </a:prstGeom>
          <a:noFill/>
          <a:ln/>
        </p:spPr>
        <p:txBody>
          <a:bodyPr wrap="square" lIns="0" tIns="0" rIns="0" bIns="0" rtlCol="0" anchor="ctr"/>
          <a:lstStyle/>
          <a:p>
            <a:pPr marL="0" indent="0">
              <a:buNone/>
            </a:pPr>
            <a:r>
              <a:rPr lang="en-US" sz="800" dirty="0">
                <a:solidFill>
                  <a:srgbClr val="8A8A96"/>
                </a:solidFill>
                <a:latin typeface="Calibri" pitchFamily="34" charset="0"/>
                <a:ea typeface="Calibri" pitchFamily="34" charset="-122"/>
                <a:cs typeface="Calibri" pitchFamily="34" charset="-120"/>
              </a:rPr>
              <a:t>Round 2 brief reference parameter</a:t>
            </a:r>
            <a:endParaRPr lang="en-US" sz="800" dirty="0"/>
          </a:p>
        </p:txBody>
      </p:sp>
      <p:sp>
        <p:nvSpPr>
          <p:cNvPr id="81" name="Shape 79"/>
          <p:cNvSpPr/>
          <p:nvPr/>
        </p:nvSpPr>
        <p:spPr>
          <a:xfrm>
            <a:off x="7836408" y="1984248"/>
            <a:ext cx="4032504" cy="7315"/>
          </a:xfrm>
          <a:prstGeom prst="rect">
            <a:avLst/>
          </a:prstGeom>
          <a:solidFill>
            <a:srgbClr val="ECEAF3"/>
          </a:solidFill>
          <a:ln w="12700">
            <a:solidFill>
              <a:srgbClr val="ECEAF3"/>
            </a:solidFill>
            <a:prstDash val="solid"/>
          </a:ln>
        </p:spPr>
      </p:sp>
      <p:sp>
        <p:nvSpPr>
          <p:cNvPr id="82" name="Text 80"/>
          <p:cNvSpPr txBox="1"/>
          <p:nvPr/>
        </p:nvSpPr>
        <p:spPr>
          <a:xfrm>
            <a:off x="7836408" y="2029968"/>
            <a:ext cx="896112" cy="274320"/>
          </a:xfrm>
          <a:prstGeom prst="rect">
            <a:avLst/>
          </a:prstGeom>
          <a:noFill/>
          <a:ln/>
        </p:spPr>
        <p:txBody>
          <a:bodyPr wrap="square" lIns="0" tIns="0" rIns="0" bIns="0" rtlCol="0" anchor="ctr"/>
          <a:lstStyle/>
          <a:p>
            <a:pPr marL="0" indent="0">
              <a:buNone/>
            </a:pPr>
            <a:r>
              <a:rPr lang="en-US" sz="1500" b="1" dirty="0">
                <a:solidFill>
                  <a:srgbClr val="A100FF"/>
                </a:solidFill>
                <a:latin typeface="Arial" pitchFamily="34" charset="0"/>
                <a:ea typeface="Arial" pitchFamily="34" charset="-122"/>
                <a:cs typeface="Arial" pitchFamily="34" charset="-120"/>
              </a:rPr>
              <a:t>ESI v5</a:t>
            </a:r>
            <a:endParaRPr lang="en-US" sz="1500" dirty="0"/>
          </a:p>
        </p:txBody>
      </p:sp>
      <p:sp>
        <p:nvSpPr>
          <p:cNvPr id="83" name="Text 81"/>
          <p:cNvSpPr txBox="1"/>
          <p:nvPr/>
        </p:nvSpPr>
        <p:spPr>
          <a:xfrm>
            <a:off x="8787384" y="2011680"/>
            <a:ext cx="3081528" cy="365760"/>
          </a:xfrm>
          <a:prstGeom prst="rect">
            <a:avLst/>
          </a:prstGeom>
          <a:noFill/>
          <a:ln/>
        </p:spPr>
        <p:txBody>
          <a:bodyPr wrap="square" lIns="0" tIns="0" rIns="0" bIns="0" rtlCol="0" anchor="ctr"/>
          <a:lstStyle/>
          <a:p>
            <a:pPr marL="0" indent="0">
              <a:lnSpc>
                <a:spcPct val="104000"/>
              </a:lnSpc>
              <a:buNone/>
            </a:pPr>
            <a:r>
              <a:rPr lang="en-US" sz="900" dirty="0">
                <a:solidFill>
                  <a:srgbClr val="2E2E36"/>
                </a:solidFill>
                <a:latin typeface="Calibri" pitchFamily="34" charset="0"/>
                <a:ea typeface="Calibri" pitchFamily="34" charset="-122"/>
                <a:cs typeface="Calibri" pitchFamily="34" charset="-120"/>
              </a:rPr>
              <a:t>extended vital-sign checks to low-acuity patients explicitly to prevent under-triage.</a:t>
            </a:r>
            <a:endParaRPr lang="en-US" sz="900" dirty="0"/>
          </a:p>
        </p:txBody>
      </p:sp>
      <p:sp>
        <p:nvSpPr>
          <p:cNvPr id="84" name="Text 82"/>
          <p:cNvSpPr txBox="1"/>
          <p:nvPr/>
        </p:nvSpPr>
        <p:spPr>
          <a:xfrm>
            <a:off x="8787384" y="2359152"/>
            <a:ext cx="3081528" cy="164592"/>
          </a:xfrm>
          <a:prstGeom prst="rect">
            <a:avLst/>
          </a:prstGeom>
          <a:noFill/>
          <a:ln/>
        </p:spPr>
        <p:txBody>
          <a:bodyPr wrap="square" lIns="0" tIns="0" rIns="0" bIns="0" rtlCol="0" anchor="ctr"/>
          <a:lstStyle/>
          <a:p>
            <a:pPr marL="0" indent="0">
              <a:buNone/>
            </a:pPr>
            <a:r>
              <a:rPr lang="en-US" sz="800" dirty="0">
                <a:solidFill>
                  <a:srgbClr val="8A8A96"/>
                </a:solidFill>
                <a:latin typeface="Calibri" pitchFamily="34" charset="0"/>
                <a:ea typeface="Calibri" pitchFamily="34" charset="-122"/>
                <a:cs typeface="Calibri" pitchFamily="34" charset="-120"/>
              </a:rPr>
              <a:t>ESI Handbook v5 · AIIMS three-tier, prospectively validated</a:t>
            </a:r>
            <a:endParaRPr lang="en-US" sz="800" dirty="0"/>
          </a:p>
        </p:txBody>
      </p:sp>
      <p:sp>
        <p:nvSpPr>
          <p:cNvPr id="85" name="Shape 83"/>
          <p:cNvSpPr/>
          <p:nvPr/>
        </p:nvSpPr>
        <p:spPr>
          <a:xfrm>
            <a:off x="7836408" y="2551176"/>
            <a:ext cx="4032504" cy="7315"/>
          </a:xfrm>
          <a:prstGeom prst="rect">
            <a:avLst/>
          </a:prstGeom>
          <a:solidFill>
            <a:srgbClr val="ECEAF3"/>
          </a:solidFill>
          <a:ln w="12700">
            <a:solidFill>
              <a:srgbClr val="ECEAF3"/>
            </a:solidFill>
            <a:prstDash val="solid"/>
          </a:ln>
        </p:spPr>
      </p:sp>
      <p:sp>
        <p:nvSpPr>
          <p:cNvPr id="86" name="Text 84"/>
          <p:cNvSpPr txBox="1"/>
          <p:nvPr/>
        </p:nvSpPr>
        <p:spPr>
          <a:xfrm>
            <a:off x="7836408" y="2596896"/>
            <a:ext cx="896112" cy="274320"/>
          </a:xfrm>
          <a:prstGeom prst="rect">
            <a:avLst/>
          </a:prstGeom>
          <a:noFill/>
          <a:ln/>
        </p:spPr>
        <p:txBody>
          <a:bodyPr wrap="square" lIns="0" tIns="0" rIns="0" bIns="0" rtlCol="0" anchor="ctr"/>
          <a:lstStyle/>
          <a:p>
            <a:pPr marL="0" indent="0">
              <a:buNone/>
            </a:pPr>
            <a:r>
              <a:rPr lang="en-US" sz="1500" b="1" dirty="0">
                <a:solidFill>
                  <a:srgbClr val="A100FF"/>
                </a:solidFill>
                <a:latin typeface="Arial" pitchFamily="34" charset="0"/>
                <a:ea typeface="Arial" pitchFamily="34" charset="-122"/>
                <a:cs typeface="Arial" pitchFamily="34" charset="-120"/>
              </a:rPr>
              <a:t>425,000</a:t>
            </a:r>
            <a:endParaRPr lang="en-US" sz="1500" dirty="0"/>
          </a:p>
        </p:txBody>
      </p:sp>
      <p:sp>
        <p:nvSpPr>
          <p:cNvPr id="87" name="Text 85"/>
          <p:cNvSpPr txBox="1"/>
          <p:nvPr/>
        </p:nvSpPr>
        <p:spPr>
          <a:xfrm>
            <a:off x="8787384" y="2578608"/>
            <a:ext cx="3081528" cy="365760"/>
          </a:xfrm>
          <a:prstGeom prst="rect">
            <a:avLst/>
          </a:prstGeom>
          <a:noFill/>
          <a:ln/>
        </p:spPr>
        <p:txBody>
          <a:bodyPr wrap="square" lIns="0" tIns="0" rIns="0" bIns="0" rtlCol="0" anchor="ctr"/>
          <a:lstStyle/>
          <a:p>
            <a:pPr marL="0" indent="0">
              <a:lnSpc>
                <a:spcPct val="104000"/>
              </a:lnSpc>
              <a:buNone/>
            </a:pPr>
            <a:r>
              <a:rPr lang="en-US" sz="900" dirty="0">
                <a:solidFill>
                  <a:srgbClr val="2E2E36"/>
                </a:solidFill>
                <a:latin typeface="Calibri" pitchFamily="34" charset="0"/>
                <a:ea typeface="Calibri" pitchFamily="34" charset="-122"/>
                <a:cs typeface="Calibri" pitchFamily="34" charset="-120"/>
              </a:rPr>
              <a:t>de-identified ED stays with linked outcomes are now public, so training no longer needs a hospital partnership.</a:t>
            </a:r>
            <a:endParaRPr lang="en-US" sz="900" dirty="0"/>
          </a:p>
        </p:txBody>
      </p:sp>
      <p:sp>
        <p:nvSpPr>
          <p:cNvPr id="88" name="Text 86"/>
          <p:cNvSpPr txBox="1"/>
          <p:nvPr/>
        </p:nvSpPr>
        <p:spPr>
          <a:xfrm>
            <a:off x="8787384" y="2926080"/>
            <a:ext cx="3081528" cy="164592"/>
          </a:xfrm>
          <a:prstGeom prst="rect">
            <a:avLst/>
          </a:prstGeom>
          <a:noFill/>
          <a:ln/>
        </p:spPr>
        <p:txBody>
          <a:bodyPr wrap="square" lIns="0" tIns="0" rIns="0" bIns="0" rtlCol="0" anchor="ctr"/>
          <a:lstStyle/>
          <a:p>
            <a:pPr marL="0" indent="0">
              <a:buNone/>
            </a:pPr>
            <a:r>
              <a:rPr lang="en-US" sz="800" dirty="0">
                <a:solidFill>
                  <a:srgbClr val="8A8A96"/>
                </a:solidFill>
                <a:latin typeface="Calibri" pitchFamily="34" charset="0"/>
                <a:ea typeface="Calibri" pitchFamily="34" charset="-122"/>
                <a:cs typeface="Calibri" pitchFamily="34" charset="-120"/>
              </a:rPr>
              <a:t>MIMIC-IV-ED, PhysioNet</a:t>
            </a:r>
            <a:endParaRPr lang="en-US" sz="800" dirty="0"/>
          </a:p>
        </p:txBody>
      </p:sp>
      <p:sp>
        <p:nvSpPr>
          <p:cNvPr id="89" name="Shape 87"/>
          <p:cNvSpPr/>
          <p:nvPr/>
        </p:nvSpPr>
        <p:spPr>
          <a:xfrm>
            <a:off x="7836408" y="3118104"/>
            <a:ext cx="4032504" cy="7315"/>
          </a:xfrm>
          <a:prstGeom prst="rect">
            <a:avLst/>
          </a:prstGeom>
          <a:solidFill>
            <a:srgbClr val="ECEAF3"/>
          </a:solidFill>
          <a:ln w="12700">
            <a:solidFill>
              <a:srgbClr val="ECEAF3"/>
            </a:solidFill>
            <a:prstDash val="solid"/>
          </a:ln>
        </p:spPr>
      </p:sp>
      <p:sp>
        <p:nvSpPr>
          <p:cNvPr id="90" name="Text 88"/>
          <p:cNvSpPr txBox="1"/>
          <p:nvPr/>
        </p:nvSpPr>
        <p:spPr>
          <a:xfrm>
            <a:off x="7836408" y="3163824"/>
            <a:ext cx="896112" cy="274320"/>
          </a:xfrm>
          <a:prstGeom prst="rect">
            <a:avLst/>
          </a:prstGeom>
          <a:noFill/>
          <a:ln/>
        </p:spPr>
        <p:txBody>
          <a:bodyPr wrap="square" lIns="0" tIns="0" rIns="0" bIns="0" rtlCol="0" anchor="ctr"/>
          <a:lstStyle/>
          <a:p>
            <a:pPr marL="0" indent="0">
              <a:buNone/>
            </a:pPr>
            <a:r>
              <a:rPr lang="en-US" sz="1500" b="1" dirty="0">
                <a:solidFill>
                  <a:srgbClr val="A100FF"/>
                </a:solidFill>
                <a:latin typeface="Arial" pitchFamily="34" charset="0"/>
                <a:ea typeface="Arial" pitchFamily="34" charset="-122"/>
                <a:cs typeface="Arial" pitchFamily="34" charset="-120"/>
              </a:rPr>
              <a:t>Jan 2026</a:t>
            </a:r>
            <a:endParaRPr lang="en-US" sz="1500" dirty="0"/>
          </a:p>
        </p:txBody>
      </p:sp>
      <p:sp>
        <p:nvSpPr>
          <p:cNvPr id="91" name="Text 89"/>
          <p:cNvSpPr txBox="1"/>
          <p:nvPr/>
        </p:nvSpPr>
        <p:spPr>
          <a:xfrm>
            <a:off x="8787384" y="3145536"/>
            <a:ext cx="3081528" cy="365760"/>
          </a:xfrm>
          <a:prstGeom prst="rect">
            <a:avLst/>
          </a:prstGeom>
          <a:noFill/>
          <a:ln/>
        </p:spPr>
        <p:txBody>
          <a:bodyPr wrap="square" lIns="0" tIns="0" rIns="0" bIns="0" rtlCol="0" anchor="ctr"/>
          <a:lstStyle/>
          <a:p>
            <a:pPr marL="0" indent="0">
              <a:lnSpc>
                <a:spcPct val="104000"/>
              </a:lnSpc>
              <a:buNone/>
            </a:pPr>
            <a:r>
              <a:rPr lang="en-US" sz="900" dirty="0">
                <a:solidFill>
                  <a:srgbClr val="2E2E36"/>
                </a:solidFill>
                <a:latin typeface="Calibri" pitchFamily="34" charset="0"/>
                <a:ea typeface="Calibri" pitchFamily="34" charset="-122"/>
                <a:cs typeface="Calibri" pitchFamily="34" charset="-120"/>
              </a:rPr>
              <a:t>FDA CDS guidance: the clinician must be able to independently review the basis of a recommendation.</a:t>
            </a:r>
            <a:endParaRPr lang="en-US" sz="900" dirty="0"/>
          </a:p>
        </p:txBody>
      </p:sp>
      <p:sp>
        <p:nvSpPr>
          <p:cNvPr id="92" name="Text 90"/>
          <p:cNvSpPr txBox="1"/>
          <p:nvPr/>
        </p:nvSpPr>
        <p:spPr>
          <a:xfrm>
            <a:off x="8787384" y="3493008"/>
            <a:ext cx="3081528" cy="164592"/>
          </a:xfrm>
          <a:prstGeom prst="rect">
            <a:avLst/>
          </a:prstGeom>
          <a:noFill/>
          <a:ln/>
        </p:spPr>
        <p:txBody>
          <a:bodyPr wrap="square" lIns="0" tIns="0" rIns="0" bIns="0" rtlCol="0" anchor="ctr"/>
          <a:lstStyle/>
          <a:p>
            <a:pPr marL="0" indent="0">
              <a:buNone/>
            </a:pPr>
            <a:r>
              <a:rPr lang="en-US" sz="800" dirty="0">
                <a:solidFill>
                  <a:srgbClr val="8A8A96"/>
                </a:solidFill>
                <a:latin typeface="Calibri" pitchFamily="34" charset="0"/>
                <a:ea typeface="Calibri" pitchFamily="34" charset="-122"/>
                <a:cs typeface="Calibri" pitchFamily="34" charset="-120"/>
              </a:rPr>
              <a:t>FDA CDS final guidance · DPDP Act 2023 names the processor boundary</a:t>
            </a:r>
            <a:endParaRPr lang="en-US" sz="800" dirty="0"/>
          </a:p>
        </p:txBody>
      </p:sp>
      <p:sp>
        <p:nvSpPr>
          <p:cNvPr id="93" name="Shape 91"/>
          <p:cNvSpPr/>
          <p:nvPr/>
        </p:nvSpPr>
        <p:spPr>
          <a:xfrm>
            <a:off x="7717536" y="3895344"/>
            <a:ext cx="4270248" cy="1298448"/>
          </a:xfrm>
          <a:prstGeom prst="rect">
            <a:avLst/>
          </a:prstGeom>
          <a:solidFill>
            <a:srgbClr val="FFFFFF"/>
          </a:solidFill>
          <a:ln w="12700">
            <a:solidFill>
              <a:srgbClr val="D9D6E3"/>
            </a:solidFill>
            <a:prstDash val="solid"/>
          </a:ln>
        </p:spPr>
      </p:sp>
      <p:sp>
        <p:nvSpPr>
          <p:cNvPr id="94" name="Shape 92"/>
          <p:cNvSpPr/>
          <p:nvPr/>
        </p:nvSpPr>
        <p:spPr>
          <a:xfrm>
            <a:off x="7717536" y="3895344"/>
            <a:ext cx="4270248" cy="274320"/>
          </a:xfrm>
          <a:prstGeom prst="rect">
            <a:avLst/>
          </a:prstGeom>
          <a:solidFill>
            <a:srgbClr val="7500C0"/>
          </a:solidFill>
          <a:ln w="12700">
            <a:solidFill>
              <a:srgbClr val="7500C0"/>
            </a:solidFill>
            <a:prstDash val="solid"/>
          </a:ln>
        </p:spPr>
      </p:sp>
      <p:sp>
        <p:nvSpPr>
          <p:cNvPr id="95" name="Text 93"/>
          <p:cNvSpPr txBox="1"/>
          <p:nvPr/>
        </p:nvSpPr>
        <p:spPr>
          <a:xfrm>
            <a:off x="7717536" y="3895344"/>
            <a:ext cx="427024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FRAMING DECISIONS, TAKEN UP FRONT</a:t>
            </a:r>
            <a:endParaRPr lang="en-US" sz="1050" dirty="0"/>
          </a:p>
        </p:txBody>
      </p:sp>
      <p:sp>
        <p:nvSpPr>
          <p:cNvPr id="96" name="Text 94"/>
          <p:cNvSpPr txBox="1"/>
          <p:nvPr/>
        </p:nvSpPr>
        <p:spPr>
          <a:xfrm>
            <a:off x="7836408" y="4261104"/>
            <a:ext cx="1554480"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Jurisdiction</a:t>
            </a:r>
            <a:endParaRPr lang="en-US" sz="900" dirty="0"/>
          </a:p>
        </p:txBody>
      </p:sp>
      <p:sp>
        <p:nvSpPr>
          <p:cNvPr id="97" name="Text 95"/>
          <p:cNvSpPr txBox="1"/>
          <p:nvPr/>
        </p:nvSpPr>
        <p:spPr>
          <a:xfrm>
            <a:off x="9390888" y="4261104"/>
            <a:ext cx="2478024" cy="182880"/>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India · DPDP Act 2023</a:t>
            </a:r>
            <a:endParaRPr lang="en-US" sz="900" dirty="0"/>
          </a:p>
        </p:txBody>
      </p:sp>
      <p:sp>
        <p:nvSpPr>
          <p:cNvPr id="98" name="Text 96"/>
          <p:cNvSpPr txBox="1"/>
          <p:nvPr/>
        </p:nvSpPr>
        <p:spPr>
          <a:xfrm>
            <a:off x="7836408" y="4453128"/>
            <a:ext cx="1554480"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Acuity scale</a:t>
            </a:r>
            <a:endParaRPr lang="en-US" sz="900" dirty="0"/>
          </a:p>
        </p:txBody>
      </p:sp>
      <p:sp>
        <p:nvSpPr>
          <p:cNvPr id="99" name="Text 97"/>
          <p:cNvSpPr txBox="1"/>
          <p:nvPr/>
        </p:nvSpPr>
        <p:spPr>
          <a:xfrm>
            <a:off x="9390888" y="4453128"/>
            <a:ext cx="2478024" cy="182880"/>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ESI, five levels</a:t>
            </a:r>
            <a:endParaRPr lang="en-US" sz="900" dirty="0"/>
          </a:p>
        </p:txBody>
      </p:sp>
      <p:sp>
        <p:nvSpPr>
          <p:cNvPr id="100" name="Text 98"/>
          <p:cNvSpPr txBox="1"/>
          <p:nvPr/>
        </p:nvSpPr>
        <p:spPr>
          <a:xfrm>
            <a:off x="7836408" y="4645152"/>
            <a:ext cx="1554480"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Display</a:t>
            </a:r>
            <a:endParaRPr lang="en-US" sz="900" dirty="0"/>
          </a:p>
        </p:txBody>
      </p:sp>
      <p:sp>
        <p:nvSpPr>
          <p:cNvPr id="101" name="Text 99"/>
          <p:cNvSpPr txBox="1"/>
          <p:nvPr/>
        </p:nvSpPr>
        <p:spPr>
          <a:xfrm>
            <a:off x="9390888" y="4645152"/>
            <a:ext cx="2478024" cy="182880"/>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RED / YELLOW / GREEN</a:t>
            </a:r>
            <a:endParaRPr lang="en-US" sz="900" dirty="0"/>
          </a:p>
        </p:txBody>
      </p:sp>
      <p:sp>
        <p:nvSpPr>
          <p:cNvPr id="102" name="Text 100"/>
          <p:cNvSpPr txBox="1"/>
          <p:nvPr/>
        </p:nvSpPr>
        <p:spPr>
          <a:xfrm>
            <a:off x="7836408" y="4837176"/>
            <a:ext cx="1554480"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Deployment</a:t>
            </a:r>
            <a:endParaRPr lang="en-US" sz="900" dirty="0"/>
          </a:p>
        </p:txBody>
      </p:sp>
      <p:sp>
        <p:nvSpPr>
          <p:cNvPr id="103" name="Text 101"/>
          <p:cNvSpPr txBox="1"/>
          <p:nvPr/>
        </p:nvSpPr>
        <p:spPr>
          <a:xfrm>
            <a:off x="9390888" y="4837176"/>
            <a:ext cx="2478024" cy="182880"/>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100-500+ visits per day</a:t>
            </a:r>
            <a:endParaRPr lang="en-US" sz="900" dirty="0"/>
          </a:p>
        </p:txBody>
      </p:sp>
      <p:sp>
        <p:nvSpPr>
          <p:cNvPr id="104" name="Text 102"/>
          <p:cNvSpPr txBox="1"/>
          <p:nvPr/>
        </p:nvSpPr>
        <p:spPr>
          <a:xfrm>
            <a:off x="7836408" y="5029200"/>
            <a:ext cx="1554480" cy="182880"/>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Evidence</a:t>
            </a:r>
            <a:endParaRPr lang="en-US" sz="900" dirty="0"/>
          </a:p>
        </p:txBody>
      </p:sp>
      <p:sp>
        <p:nvSpPr>
          <p:cNvPr id="105" name="Text 103"/>
          <p:cNvSpPr txBox="1"/>
          <p:nvPr/>
        </p:nvSpPr>
        <p:spPr>
          <a:xfrm>
            <a:off x="9390888" y="5029200"/>
            <a:ext cx="2478024" cy="182880"/>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500 synthetic encounters</a:t>
            </a:r>
            <a:endParaRPr lang="en-US" sz="900" dirty="0"/>
          </a:p>
        </p:txBody>
      </p:sp>
      <p:sp>
        <p:nvSpPr>
          <p:cNvPr id="106" name="Shape 104"/>
          <p:cNvSpPr/>
          <p:nvPr/>
        </p:nvSpPr>
        <p:spPr>
          <a:xfrm>
            <a:off x="7717536" y="5340096"/>
            <a:ext cx="4270248" cy="1316736"/>
          </a:xfrm>
          <a:prstGeom prst="rect">
            <a:avLst/>
          </a:prstGeom>
          <a:solidFill>
            <a:srgbClr val="FFFFFF"/>
          </a:solidFill>
          <a:ln w="12700">
            <a:solidFill>
              <a:srgbClr val="D9D6E3"/>
            </a:solidFill>
            <a:prstDash val="solid"/>
          </a:ln>
        </p:spPr>
      </p:sp>
      <p:sp>
        <p:nvSpPr>
          <p:cNvPr id="107" name="Shape 105"/>
          <p:cNvSpPr/>
          <p:nvPr/>
        </p:nvSpPr>
        <p:spPr>
          <a:xfrm>
            <a:off x="7717536" y="5340096"/>
            <a:ext cx="4270248" cy="274320"/>
          </a:xfrm>
          <a:prstGeom prst="rect">
            <a:avLst/>
          </a:prstGeom>
          <a:solidFill>
            <a:srgbClr val="8F5300"/>
          </a:solidFill>
          <a:ln w="12700">
            <a:solidFill>
              <a:srgbClr val="8F5300"/>
            </a:solidFill>
            <a:prstDash val="solid"/>
          </a:ln>
        </p:spPr>
      </p:sp>
      <p:sp>
        <p:nvSpPr>
          <p:cNvPr id="108" name="Text 106"/>
          <p:cNvSpPr txBox="1"/>
          <p:nvPr/>
        </p:nvSpPr>
        <p:spPr>
          <a:xfrm>
            <a:off x="7717536" y="5340096"/>
            <a:ext cx="427024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WHAT WE ASSUME — AND LABEL AS OURS</a:t>
            </a:r>
            <a:endParaRPr lang="en-US" sz="1050" dirty="0"/>
          </a:p>
        </p:txBody>
      </p:sp>
      <p:sp>
        <p:nvSpPr>
          <p:cNvPr id="109" name="Text 107"/>
          <p:cNvSpPr txBox="1"/>
          <p:nvPr/>
        </p:nvSpPr>
        <p:spPr>
          <a:xfrm>
            <a:off x="7836408" y="5705856"/>
            <a:ext cx="4032504" cy="274320"/>
          </a:xfrm>
          <a:prstGeom prst="rect">
            <a:avLst/>
          </a:prstGeom>
          <a:noFill/>
          <a:ln/>
        </p:spPr>
        <p:txBody>
          <a:bodyPr wrap="square" lIns="0" tIns="0" rIns="0" bIns="0" rtlCol="0" anchor="ctr"/>
          <a:lstStyle/>
          <a:p>
            <a:pPr marL="0" indent="0">
              <a:lnSpc>
                <a:spcPct val="106000"/>
              </a:lnSpc>
              <a:buNone/>
            </a:pPr>
            <a:r>
              <a:rPr lang="en-US" sz="880" b="1" dirty="0">
                <a:solidFill>
                  <a:srgbClr val="111018"/>
                </a:solidFill>
                <a:latin typeface="Calibri" pitchFamily="34" charset="0"/>
                <a:ea typeface="Calibri" pitchFamily="34" charset="-122"/>
                <a:cs typeface="Calibri" pitchFamily="34" charset="-120"/>
              </a:rPr>
              <a:t>Synthetic evidence.  </a:t>
            </a:r>
            <a:r>
              <a:rPr lang="en-US" sz="880" dirty="0">
                <a:solidFill>
                  <a:srgbClr val="2E2E36"/>
                </a:solidFill>
                <a:latin typeface="Calibri" pitchFamily="34" charset="0"/>
                <a:ea typeface="Calibri" pitchFamily="34" charset="-122"/>
                <a:cs typeface="Calibri" pitchFamily="34" charset="-120"/>
              </a:rPr>
              <a:t>All engine figures are measured on data we generated against ground truth we assigned.</a:t>
            </a:r>
            <a:endParaRPr lang="en-US" sz="880" dirty="0"/>
          </a:p>
        </p:txBody>
      </p:sp>
      <p:sp>
        <p:nvSpPr>
          <p:cNvPr id="110" name="Text 108"/>
          <p:cNvSpPr txBox="1"/>
          <p:nvPr/>
        </p:nvSpPr>
        <p:spPr>
          <a:xfrm>
            <a:off x="7836408" y="6007608"/>
            <a:ext cx="4032504" cy="274320"/>
          </a:xfrm>
          <a:prstGeom prst="rect">
            <a:avLst/>
          </a:prstGeom>
          <a:noFill/>
          <a:ln/>
        </p:spPr>
        <p:txBody>
          <a:bodyPr wrap="square" lIns="0" tIns="0" rIns="0" bIns="0" rtlCol="0" anchor="ctr"/>
          <a:lstStyle/>
          <a:p>
            <a:pPr marL="0" indent="0">
              <a:lnSpc>
                <a:spcPct val="106000"/>
              </a:lnSpc>
              <a:buNone/>
            </a:pPr>
            <a:r>
              <a:rPr lang="en-US" sz="880" b="1" dirty="0">
                <a:solidFill>
                  <a:srgbClr val="111018"/>
                </a:solidFill>
                <a:latin typeface="Calibri" pitchFamily="34" charset="0"/>
                <a:ea typeface="Calibri" pitchFamily="34" charset="-122"/>
                <a:cs typeface="Calibri" pitchFamily="34" charset="-120"/>
              </a:rPr>
              <a:t>Crowding share, 50%.  </a:t>
            </a:r>
            <a:r>
              <a:rPr lang="en-US" sz="880" dirty="0">
                <a:solidFill>
                  <a:srgbClr val="2E2E36"/>
                </a:solidFill>
                <a:latin typeface="Calibri" pitchFamily="34" charset="0"/>
                <a:ea typeface="Calibri" pitchFamily="34" charset="-122"/>
                <a:cs typeface="Calibri" pitchFamily="34" charset="-120"/>
              </a:rPr>
              <a:t>The only invented input in the top-down sizing chain.</a:t>
            </a:r>
            <a:endParaRPr lang="en-US" sz="880" dirty="0"/>
          </a:p>
        </p:txBody>
      </p:sp>
      <p:sp>
        <p:nvSpPr>
          <p:cNvPr id="111" name="Text 109"/>
          <p:cNvSpPr txBox="1"/>
          <p:nvPr/>
        </p:nvSpPr>
        <p:spPr>
          <a:xfrm>
            <a:off x="7836408" y="6309360"/>
            <a:ext cx="4032504" cy="274320"/>
          </a:xfrm>
          <a:prstGeom prst="rect">
            <a:avLst/>
          </a:prstGeom>
          <a:noFill/>
          <a:ln/>
        </p:spPr>
        <p:txBody>
          <a:bodyPr wrap="square" lIns="0" tIns="0" rIns="0" bIns="0" rtlCol="0" anchor="ctr"/>
          <a:lstStyle/>
          <a:p>
            <a:pPr marL="0" indent="0">
              <a:lnSpc>
                <a:spcPct val="106000"/>
              </a:lnSpc>
              <a:buNone/>
            </a:pPr>
            <a:r>
              <a:rPr lang="en-US" sz="880" b="1" dirty="0">
                <a:solidFill>
                  <a:srgbClr val="111018"/>
                </a:solidFill>
                <a:latin typeface="Calibri" pitchFamily="34" charset="0"/>
                <a:ea typeface="Calibri" pitchFamily="34" charset="-122"/>
                <a:cs typeface="Calibri" pitchFamily="34" charset="-120"/>
              </a:rPr>
              <a:t>Two-thirds haircut.  </a:t>
            </a:r>
            <a:r>
              <a:rPr lang="en-US" sz="880" dirty="0">
                <a:solidFill>
                  <a:srgbClr val="2E2E36"/>
                </a:solidFill>
                <a:latin typeface="Calibri" pitchFamily="34" charset="0"/>
                <a:ea typeface="Calibri" pitchFamily="34" charset="-122"/>
                <a:cs typeface="Calibri" pitchFamily="34" charset="-120"/>
              </a:rPr>
              <a:t>Applied to our own simulated impact before we quote it.</a:t>
            </a:r>
            <a:endParaRPr lang="en-US" sz="880" dirty="0"/>
          </a:p>
        </p:txBody>
      </p:sp>
      <p:sp>
        <p:nvSpPr>
          <p:cNvPr id="112" name="Text 110"/>
          <p:cNvSpPr txBox="1"/>
          <p:nvPr/>
        </p:nvSpPr>
        <p:spPr>
          <a:xfrm>
            <a:off x="201168" y="6711696"/>
            <a:ext cx="11789359" cy="146304"/>
          </a:xfrm>
          <a:prstGeom prst="rect">
            <a:avLst/>
          </a:prstGeom>
          <a:noFill/>
          <a:ln/>
        </p:spPr>
        <p:txBody>
          <a:bodyPr wrap="square" lIns="0" tIns="0" rIns="0" bIns="0" rtlCol="0" anchor="ctr"/>
          <a:lstStyle/>
          <a:p>
            <a:pPr marL="0" indent="0">
              <a:buNone/>
            </a:pPr>
            <a:r>
              <a:rPr lang="en-US" sz="850" dirty="0">
                <a:solidFill>
                  <a:srgbClr val="8A8A96"/>
                </a:solidFill>
                <a:latin typeface="Calibri" pitchFamily="34" charset="0"/>
                <a:ea typeface="Calibri" pitchFamily="34" charset="-122"/>
                <a:cs typeface="Calibri" pitchFamily="34" charset="-120"/>
              </a:rPr>
              <a: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Text 3"/>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PROBLEM</a:t>
            </a:r>
            <a:endParaRPr lang="en-US" sz="1050" dirty="0"/>
          </a:p>
        </p:txBody>
      </p:sp>
      <p:sp>
        <p:nvSpPr>
          <p:cNvPr id="6" name="Shape 4"/>
          <p:cNvSpPr/>
          <p:nvPr/>
        </p:nvSpPr>
        <p:spPr>
          <a:xfrm>
            <a:off x="2070463" y="0"/>
            <a:ext cx="1338943" cy="402336"/>
          </a:xfrm>
          <a:prstGeom prst="rect">
            <a:avLst/>
          </a:prstGeom>
          <a:solidFill>
            <a:srgbClr val="460073"/>
          </a:solidFill>
          <a:ln w="12700">
            <a:solidFill>
              <a:srgbClr val="460073"/>
            </a:solidFill>
            <a:prstDash val="solid"/>
          </a:ln>
        </p:spPr>
      </p:sp>
      <p:sp>
        <p:nvSpPr>
          <p:cNvPr id="7" name="Text 5"/>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INSIGHT</a:t>
            </a:r>
            <a:endParaRPr lang="en-US" sz="1100" dirty="0"/>
          </a:p>
        </p:txBody>
      </p:sp>
      <p:sp>
        <p:nvSpPr>
          <p:cNvPr id="8" name="Text 6"/>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SOLUTION</a:t>
            </a:r>
            <a:endParaRPr lang="en-US" sz="1050" dirty="0"/>
          </a:p>
        </p:txBody>
      </p:sp>
      <p:sp>
        <p:nvSpPr>
          <p:cNvPr id="9" name="Text 7"/>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PRODUCT</a:t>
            </a:r>
            <a:endParaRPr lang="en-US" sz="1050" dirty="0"/>
          </a:p>
        </p:txBody>
      </p:sp>
      <p:sp>
        <p:nvSpPr>
          <p:cNvPr id="10" name="Text 8"/>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ARCHITECTURE</a:t>
            </a:r>
            <a:endParaRPr lang="en-US" sz="1050" dirty="0"/>
          </a:p>
        </p:txBody>
      </p:sp>
      <p:sp>
        <p:nvSpPr>
          <p:cNvPr id="11" name="Text 9"/>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IMPACT</a:t>
            </a:r>
            <a:endParaRPr lang="en-US" sz="1050" dirty="0"/>
          </a:p>
        </p:txBody>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EXECUTION</a:t>
            </a:r>
            <a:endParaRPr lang="en-US" sz="105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201168" y="530352"/>
            <a:ext cx="3794760" cy="3986784"/>
          </a:xfrm>
          <a:prstGeom prst="rect">
            <a:avLst/>
          </a:prstGeom>
          <a:solidFill>
            <a:srgbClr val="FFFFFF"/>
          </a:solidFill>
          <a:ln w="12700">
            <a:solidFill>
              <a:srgbClr val="D9D6E3"/>
            </a:solidFill>
            <a:prstDash val="solid"/>
          </a:ln>
        </p:spPr>
      </p:sp>
      <p:sp>
        <p:nvSpPr>
          <p:cNvPr id="15" name="Shape 13"/>
          <p:cNvSpPr/>
          <p:nvPr/>
        </p:nvSpPr>
        <p:spPr>
          <a:xfrm>
            <a:off x="201168" y="530352"/>
            <a:ext cx="3794760" cy="274320"/>
          </a:xfrm>
          <a:prstGeom prst="rect">
            <a:avLst/>
          </a:prstGeom>
          <a:solidFill>
            <a:srgbClr val="5C0099"/>
          </a:solidFill>
          <a:ln w="12700">
            <a:solidFill>
              <a:srgbClr val="5C0099"/>
            </a:solidFill>
            <a:prstDash val="solid"/>
          </a:ln>
        </p:spPr>
      </p:sp>
      <p:sp>
        <p:nvSpPr>
          <p:cNvPr id="16" name="Text 14"/>
          <p:cNvSpPr txBox="1"/>
          <p:nvPr/>
        </p:nvSpPr>
        <p:spPr>
          <a:xfrm>
            <a:off x="201168" y="530352"/>
            <a:ext cx="379476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ONE ADULT BAND, TWO OPPOSITE FAILURES</a:t>
            </a:r>
            <a:endParaRPr lang="en-US" sz="1050" dirty="0"/>
          </a:p>
        </p:txBody>
      </p:sp>
      <p:sp>
        <p:nvSpPr>
          <p:cNvPr id="17" name="Shape 15"/>
          <p:cNvSpPr/>
          <p:nvPr/>
        </p:nvSpPr>
        <p:spPr>
          <a:xfrm>
            <a:off x="320040" y="896112"/>
            <a:ext cx="3557016" cy="219456"/>
          </a:xfrm>
          <a:prstGeom prst="rect">
            <a:avLst/>
          </a:prstGeom>
          <a:solidFill>
            <a:srgbClr val="FDF2E0"/>
          </a:solidFill>
          <a:ln w="12700">
            <a:solidFill>
              <a:srgbClr val="FDF2E0"/>
            </a:solidFill>
            <a:prstDash val="solid"/>
          </a:ln>
        </p:spPr>
      </p:sp>
      <p:sp>
        <p:nvSpPr>
          <p:cNvPr id="18" name="Text 16"/>
          <p:cNvSpPr txBox="1"/>
          <p:nvPr/>
        </p:nvSpPr>
        <p:spPr>
          <a:xfrm>
            <a:off x="320040" y="896112"/>
            <a:ext cx="3557016" cy="219456"/>
          </a:xfrm>
          <a:prstGeom prst="rect">
            <a:avLst/>
          </a:prstGeom>
          <a:noFill/>
          <a:ln/>
        </p:spPr>
        <p:txBody>
          <a:bodyPr wrap="square" lIns="0" tIns="0" rIns="0" bIns="0" rtlCol="0" anchor="ctr"/>
          <a:lstStyle/>
          <a:p>
            <a:pPr marL="0" indent="0" algn="ctr">
              <a:buNone/>
            </a:pPr>
            <a:r>
              <a:rPr lang="en-US" sz="950" b="1" kern="0" spc="60" dirty="0">
                <a:solidFill>
                  <a:srgbClr val="460073"/>
                </a:solidFill>
                <a:latin typeface="Arial" pitchFamily="34" charset="0"/>
                <a:ea typeface="Arial" pitchFamily="34" charset="-122"/>
                <a:cs typeface="Arial" pitchFamily="34" charset="-120"/>
              </a:rPr>
              <a:t>3-YEAR-OLD, FEBRILE</a:t>
            </a:r>
            <a:endParaRPr lang="en-US" sz="950" dirty="0"/>
          </a:p>
        </p:txBody>
      </p:sp>
      <p:pic>
        <p:nvPicPr>
          <p:cNvPr id="19" name="Image 0" descr="/home/claude/deck/icons/LuBaby_amb.png"/>
          <p:cNvPicPr>
            <a:picLocks noChangeAspect="1"/>
          </p:cNvPicPr>
          <p:nvPr/>
        </p:nvPicPr>
        <p:blipFill>
          <a:blip r:embed="rId3"/>
          <a:stretch>
            <a:fillRect/>
          </a:stretch>
        </p:blipFill>
        <p:spPr>
          <a:xfrm>
            <a:off x="320040" y="1170432"/>
            <a:ext cx="201168" cy="201168"/>
          </a:xfrm>
          <a:prstGeom prst="rect">
            <a:avLst/>
          </a:prstGeom>
        </p:spPr>
      </p:pic>
      <p:sp>
        <p:nvSpPr>
          <p:cNvPr id="20" name="Text 17"/>
          <p:cNvSpPr txBox="1"/>
          <p:nvPr/>
        </p:nvSpPr>
        <p:spPr>
          <a:xfrm>
            <a:off x="576072" y="1170432"/>
            <a:ext cx="3300984" cy="310896"/>
          </a:xfrm>
          <a:prstGeom prst="rect">
            <a:avLst/>
          </a:prstGeom>
          <a:noFill/>
          <a:ln/>
        </p:spPr>
        <p:txBody>
          <a:bodyPr wrap="square" lIns="0" tIns="0" rIns="0" bIns="0" rtlCol="0" anchor="ctr"/>
          <a:lstStyle/>
          <a:p>
            <a:pPr marL="0" indent="0">
              <a:lnSpc>
                <a:spcPct val="105000"/>
              </a:lnSpc>
              <a:buNone/>
            </a:pPr>
            <a:r>
              <a:rPr lang="en-US" sz="950" b="1" dirty="0">
                <a:solidFill>
                  <a:srgbClr val="111018"/>
                </a:solidFill>
                <a:latin typeface="Arial" pitchFamily="34" charset="0"/>
                <a:ea typeface="Arial" pitchFamily="34" charset="-122"/>
                <a:cs typeface="Arial" pitchFamily="34" charset="-120"/>
              </a:rPr>
              <a:t>HR 140 · RR 28 · 38.5 °C · alert, capillary refill under 2 s</a:t>
            </a:r>
            <a:endParaRPr lang="en-US" sz="950" dirty="0"/>
          </a:p>
        </p:txBody>
      </p:sp>
      <p:sp>
        <p:nvSpPr>
          <p:cNvPr id="21" name="Text 18"/>
          <p:cNvSpPr txBox="1"/>
          <p:nvPr/>
        </p:nvSpPr>
        <p:spPr>
          <a:xfrm>
            <a:off x="320040" y="1536192"/>
            <a:ext cx="3557016" cy="164592"/>
          </a:xfrm>
          <a:prstGeom prst="rect">
            <a:avLst/>
          </a:prstGeom>
          <a:noFill/>
          <a:ln/>
        </p:spPr>
        <p:txBody>
          <a:bodyPr wrap="square" lIns="0" tIns="0" rIns="0" bIns="0" rtlCol="0" anchor="ctr"/>
          <a:lstStyle/>
          <a:p>
            <a:pPr marL="0" indent="0">
              <a:buNone/>
            </a:pPr>
            <a:r>
              <a:rPr lang="en-US" sz="800" b="1" kern="0" spc="100" dirty="0">
                <a:solidFill>
                  <a:srgbClr val="5F5F6B"/>
                </a:solidFill>
                <a:latin typeface="Arial" pitchFamily="34" charset="0"/>
                <a:ea typeface="Arial" pitchFamily="34" charset="-122"/>
                <a:cs typeface="Arial" pitchFamily="34" charset="-120"/>
              </a:rPr>
              <a:t>ADULT-CALIBRATED MODEL RETURNS</a:t>
            </a:r>
            <a:endParaRPr lang="en-US" sz="800" dirty="0"/>
          </a:p>
        </p:txBody>
      </p:sp>
      <p:sp>
        <p:nvSpPr>
          <p:cNvPr id="22" name="Text 19"/>
          <p:cNvSpPr txBox="1"/>
          <p:nvPr/>
        </p:nvSpPr>
        <p:spPr>
          <a:xfrm>
            <a:off x="320040" y="1700784"/>
            <a:ext cx="3557016" cy="219456"/>
          </a:xfrm>
          <a:prstGeom prst="rect">
            <a:avLst/>
          </a:prstGeom>
          <a:noFill/>
          <a:ln/>
        </p:spPr>
        <p:txBody>
          <a:bodyPr wrap="square" lIns="0" tIns="0" rIns="0" bIns="0" rtlCol="0" anchor="ctr"/>
          <a:lstStyle/>
          <a:p>
            <a:pPr marL="0" indent="0">
              <a:buNone/>
            </a:pPr>
            <a:r>
              <a:rPr lang="en-US" sz="1200" b="1" dirty="0">
                <a:solidFill>
                  <a:srgbClr val="B81C26"/>
                </a:solidFill>
                <a:latin typeface="Arial" pitchFamily="34" charset="0"/>
                <a:ea typeface="Arial" pitchFamily="34" charset="-122"/>
                <a:cs typeface="Arial" pitchFamily="34" charset="-120"/>
              </a:rPr>
              <a:t>NEWS2 7 - emergency response</a:t>
            </a:r>
            <a:endParaRPr lang="en-US" sz="1200" dirty="0"/>
          </a:p>
        </p:txBody>
      </p:sp>
      <p:sp>
        <p:nvSpPr>
          <p:cNvPr id="23" name="Text 20"/>
          <p:cNvSpPr txBox="1"/>
          <p:nvPr/>
        </p:nvSpPr>
        <p:spPr>
          <a:xfrm>
            <a:off x="320040" y="1938528"/>
            <a:ext cx="3557016" cy="512064"/>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HR 140 is band-normal for ages 1-4; heart rate rises about 10 bpm per 1 °C of fever. Every observed cue is reassuring.</a:t>
            </a:r>
            <a:endParaRPr lang="en-US" sz="900" dirty="0"/>
          </a:p>
        </p:txBody>
      </p:sp>
      <p:sp>
        <p:nvSpPr>
          <p:cNvPr id="24" name="Shape 21"/>
          <p:cNvSpPr/>
          <p:nvPr/>
        </p:nvSpPr>
        <p:spPr>
          <a:xfrm>
            <a:off x="320040" y="2450592"/>
            <a:ext cx="1517904" cy="219456"/>
          </a:xfrm>
          <a:prstGeom prst="roundRect">
            <a:avLst>
              <a:gd name="adj" fmla="val 208333"/>
            </a:avLst>
          </a:prstGeom>
          <a:solidFill>
            <a:srgbClr val="FDF2E0"/>
          </a:solidFill>
          <a:ln w="12700">
            <a:solidFill>
              <a:srgbClr val="8F5300"/>
            </a:solidFill>
            <a:prstDash val="solid"/>
          </a:ln>
        </p:spPr>
      </p:sp>
      <p:sp>
        <p:nvSpPr>
          <p:cNvPr id="25" name="Text 22"/>
          <p:cNvSpPr txBox="1"/>
          <p:nvPr/>
        </p:nvSpPr>
        <p:spPr>
          <a:xfrm>
            <a:off x="320040" y="2450592"/>
            <a:ext cx="1517904" cy="219456"/>
          </a:xfrm>
          <a:prstGeom prst="rect">
            <a:avLst/>
          </a:prstGeom>
          <a:noFill/>
          <a:ln/>
        </p:spPr>
        <p:txBody>
          <a:bodyPr wrap="square" lIns="0" tIns="0" rIns="0" bIns="0" rtlCol="0" anchor="ctr"/>
          <a:lstStyle/>
          <a:p>
            <a:pPr marL="0" indent="0" algn="ctr">
              <a:buNone/>
            </a:pPr>
            <a:r>
              <a:rPr lang="en-US" sz="850" b="1" kern="0" spc="40" dirty="0">
                <a:solidFill>
                  <a:srgbClr val="8F5300"/>
                </a:solidFill>
                <a:latin typeface="Arial" pitchFamily="34" charset="0"/>
                <a:ea typeface="Arial" pitchFamily="34" charset="-122"/>
                <a:cs typeface="Arial" pitchFamily="34" charset="-120"/>
              </a:rPr>
              <a:t>ERROR: OVER-TRIAGE</a:t>
            </a:r>
            <a:endParaRPr lang="en-US" sz="850" dirty="0"/>
          </a:p>
        </p:txBody>
      </p:sp>
      <p:sp>
        <p:nvSpPr>
          <p:cNvPr id="26" name="Text 23"/>
          <p:cNvSpPr txBox="1"/>
          <p:nvPr/>
        </p:nvSpPr>
        <p:spPr>
          <a:xfrm>
            <a:off x="1892808" y="2478024"/>
            <a:ext cx="1984248" cy="201168"/>
          </a:xfrm>
          <a:prstGeom prst="rect">
            <a:avLst/>
          </a:prstGeom>
          <a:noFill/>
          <a:ln/>
        </p:spPr>
        <p:txBody>
          <a:bodyPr wrap="square" lIns="0" tIns="0" rIns="0" bIns="0" rtlCol="0" anchor="ctr"/>
          <a:lstStyle/>
          <a:p>
            <a:pPr marL="0" indent="0" algn="r">
              <a:buNone/>
            </a:pPr>
            <a:r>
              <a:rPr lang="en-US" sz="880" b="1" dirty="0">
                <a:solidFill>
                  <a:srgbClr val="0A6E43"/>
                </a:solidFill>
                <a:latin typeface="Arial" pitchFamily="34" charset="0"/>
                <a:ea typeface="Arial" pitchFamily="34" charset="-122"/>
                <a:cs typeface="Arial" pitchFamily="34" charset="-120"/>
              </a:rPr>
              <a:t>→ ESI-3 + fever pathway</a:t>
            </a:r>
            <a:endParaRPr lang="en-US" sz="880" dirty="0"/>
          </a:p>
        </p:txBody>
      </p:sp>
      <p:sp>
        <p:nvSpPr>
          <p:cNvPr id="27" name="Shape 24"/>
          <p:cNvSpPr/>
          <p:nvPr/>
        </p:nvSpPr>
        <p:spPr>
          <a:xfrm>
            <a:off x="320040" y="2798064"/>
            <a:ext cx="3557016" cy="219456"/>
          </a:xfrm>
          <a:prstGeom prst="rect">
            <a:avLst/>
          </a:prstGeom>
          <a:solidFill>
            <a:srgbClr val="FBEAEB"/>
          </a:solidFill>
          <a:ln w="12700">
            <a:solidFill>
              <a:srgbClr val="FBEAEB"/>
            </a:solidFill>
            <a:prstDash val="solid"/>
          </a:ln>
        </p:spPr>
      </p:sp>
      <p:sp>
        <p:nvSpPr>
          <p:cNvPr id="28" name="Text 25"/>
          <p:cNvSpPr txBox="1"/>
          <p:nvPr/>
        </p:nvSpPr>
        <p:spPr>
          <a:xfrm>
            <a:off x="320040" y="2798064"/>
            <a:ext cx="3557016" cy="219456"/>
          </a:xfrm>
          <a:prstGeom prst="rect">
            <a:avLst/>
          </a:prstGeom>
          <a:noFill/>
          <a:ln/>
        </p:spPr>
        <p:txBody>
          <a:bodyPr wrap="square" lIns="0" tIns="0" rIns="0" bIns="0" rtlCol="0" anchor="ctr"/>
          <a:lstStyle/>
          <a:p>
            <a:pPr marL="0" indent="0" algn="ctr">
              <a:buNone/>
            </a:pPr>
            <a:r>
              <a:rPr lang="en-US" sz="950" b="1" kern="0" spc="60" dirty="0">
                <a:solidFill>
                  <a:srgbClr val="460073"/>
                </a:solidFill>
                <a:latin typeface="Arial" pitchFamily="34" charset="0"/>
                <a:ea typeface="Arial" pitchFamily="34" charset="-122"/>
                <a:cs typeface="Arial" pitchFamily="34" charset="-120"/>
              </a:rPr>
              <a:t>78-YEAR-OLD, “NORMAL”</a:t>
            </a:r>
            <a:endParaRPr lang="en-US" sz="950" dirty="0"/>
          </a:p>
        </p:txBody>
      </p:sp>
      <p:pic>
        <p:nvPicPr>
          <p:cNvPr id="29" name="Image 1" descr="/home/claude/deck/icons/LuPersonStanding_red.png"/>
          <p:cNvPicPr>
            <a:picLocks noChangeAspect="1"/>
          </p:cNvPicPr>
          <p:nvPr/>
        </p:nvPicPr>
        <p:blipFill>
          <a:blip r:embed="rId4"/>
          <a:stretch>
            <a:fillRect/>
          </a:stretch>
        </p:blipFill>
        <p:spPr>
          <a:xfrm>
            <a:off x="320040" y="3072384"/>
            <a:ext cx="201168" cy="201168"/>
          </a:xfrm>
          <a:prstGeom prst="rect">
            <a:avLst/>
          </a:prstGeom>
        </p:spPr>
      </p:pic>
      <p:sp>
        <p:nvSpPr>
          <p:cNvPr id="30" name="Text 26"/>
          <p:cNvSpPr txBox="1"/>
          <p:nvPr/>
        </p:nvSpPr>
        <p:spPr>
          <a:xfrm>
            <a:off x="576072" y="3072384"/>
            <a:ext cx="3300984" cy="310896"/>
          </a:xfrm>
          <a:prstGeom prst="rect">
            <a:avLst/>
          </a:prstGeom>
          <a:noFill/>
          <a:ln/>
        </p:spPr>
        <p:txBody>
          <a:bodyPr wrap="square" lIns="0" tIns="0" rIns="0" bIns="0" rtlCol="0" anchor="ctr"/>
          <a:lstStyle/>
          <a:p>
            <a:pPr marL="0" indent="0">
              <a:lnSpc>
                <a:spcPct val="105000"/>
              </a:lnSpc>
              <a:buNone/>
            </a:pPr>
            <a:r>
              <a:rPr lang="en-US" sz="950" b="1" dirty="0">
                <a:solidFill>
                  <a:srgbClr val="111018"/>
                </a:solidFill>
                <a:latin typeface="Arial" pitchFamily="34" charset="0"/>
                <a:ea typeface="Arial" pitchFamily="34" charset="-122"/>
                <a:cs typeface="Arial" pitchFamily="34" charset="-120"/>
              </a:rPr>
              <a:t>HR 95 · RR 18 · 37.0 °C · BP 112/68 · new confusion</a:t>
            </a:r>
            <a:endParaRPr lang="en-US" sz="950" dirty="0"/>
          </a:p>
        </p:txBody>
      </p:sp>
      <p:sp>
        <p:nvSpPr>
          <p:cNvPr id="31" name="Text 27"/>
          <p:cNvSpPr txBox="1"/>
          <p:nvPr/>
        </p:nvSpPr>
        <p:spPr>
          <a:xfrm>
            <a:off x="320040" y="3438144"/>
            <a:ext cx="3557016" cy="164592"/>
          </a:xfrm>
          <a:prstGeom prst="rect">
            <a:avLst/>
          </a:prstGeom>
          <a:noFill/>
          <a:ln/>
        </p:spPr>
        <p:txBody>
          <a:bodyPr wrap="square" lIns="0" tIns="0" rIns="0" bIns="0" rtlCol="0" anchor="ctr"/>
          <a:lstStyle/>
          <a:p>
            <a:pPr marL="0" indent="0">
              <a:buNone/>
            </a:pPr>
            <a:r>
              <a:rPr lang="en-US" sz="800" b="1" kern="0" spc="100" dirty="0">
                <a:solidFill>
                  <a:srgbClr val="5F5F6B"/>
                </a:solidFill>
                <a:latin typeface="Arial" pitchFamily="34" charset="0"/>
                <a:ea typeface="Arial" pitchFamily="34" charset="-122"/>
                <a:cs typeface="Arial" pitchFamily="34" charset="-120"/>
              </a:rPr>
              <a:t>ADULT-CALIBRATED MODEL RETURNS</a:t>
            </a:r>
            <a:endParaRPr lang="en-US" sz="800" dirty="0"/>
          </a:p>
        </p:txBody>
      </p:sp>
      <p:sp>
        <p:nvSpPr>
          <p:cNvPr id="32" name="Text 28"/>
          <p:cNvSpPr txBox="1"/>
          <p:nvPr/>
        </p:nvSpPr>
        <p:spPr>
          <a:xfrm>
            <a:off x="320040" y="3602736"/>
            <a:ext cx="3557016" cy="219456"/>
          </a:xfrm>
          <a:prstGeom prst="rect">
            <a:avLst/>
          </a:prstGeom>
          <a:noFill/>
          <a:ln/>
        </p:spPr>
        <p:txBody>
          <a:bodyPr wrap="square" lIns="0" tIns="0" rIns="0" bIns="0" rtlCol="0" anchor="ctr"/>
          <a:lstStyle/>
          <a:p>
            <a:pPr marL="0" indent="0">
              <a:buNone/>
            </a:pPr>
            <a:r>
              <a:rPr lang="en-US" sz="1200" b="1" dirty="0">
                <a:solidFill>
                  <a:srgbClr val="B81C26"/>
                </a:solidFill>
                <a:latin typeface="Arial" pitchFamily="34" charset="0"/>
                <a:ea typeface="Arial" pitchFamily="34" charset="-122"/>
                <a:cs typeface="Arial" pitchFamily="34" charset="-120"/>
              </a:rPr>
              <a:t>Every parameter scores 0 - GREEN</a:t>
            </a:r>
            <a:endParaRPr lang="en-US" sz="1200" dirty="0"/>
          </a:p>
        </p:txBody>
      </p:sp>
      <p:sp>
        <p:nvSpPr>
          <p:cNvPr id="33" name="Text 29"/>
          <p:cNvSpPr txBox="1"/>
          <p:nvPr/>
        </p:nvSpPr>
        <p:spPr>
          <a:xfrm>
            <a:off x="320040" y="3840480"/>
            <a:ext cx="3557016" cy="512064"/>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Blunted fever response. Beta-blockade caps the tachycardia: HR 95 here is the equivalent of 130. Systolic 112 against a baseline of 150 is a 25% drop.</a:t>
            </a:r>
            <a:endParaRPr lang="en-US" sz="900" dirty="0"/>
          </a:p>
        </p:txBody>
      </p:sp>
      <p:sp>
        <p:nvSpPr>
          <p:cNvPr id="34" name="Shape 30"/>
          <p:cNvSpPr/>
          <p:nvPr/>
        </p:nvSpPr>
        <p:spPr>
          <a:xfrm>
            <a:off x="304038" y="4251960"/>
            <a:ext cx="1517904" cy="219456"/>
          </a:xfrm>
          <a:prstGeom prst="roundRect">
            <a:avLst>
              <a:gd name="adj" fmla="val 208333"/>
            </a:avLst>
          </a:prstGeom>
          <a:solidFill>
            <a:srgbClr val="FBEAEB"/>
          </a:solidFill>
          <a:ln w="12700">
            <a:solidFill>
              <a:srgbClr val="B81C26"/>
            </a:solidFill>
            <a:prstDash val="solid"/>
          </a:ln>
        </p:spPr>
      </p:sp>
      <p:sp>
        <p:nvSpPr>
          <p:cNvPr id="35" name="Text 31"/>
          <p:cNvSpPr txBox="1"/>
          <p:nvPr/>
        </p:nvSpPr>
        <p:spPr>
          <a:xfrm>
            <a:off x="297180" y="4270248"/>
            <a:ext cx="1517904" cy="219456"/>
          </a:xfrm>
          <a:prstGeom prst="rect">
            <a:avLst/>
          </a:prstGeom>
          <a:noFill/>
          <a:ln/>
        </p:spPr>
        <p:txBody>
          <a:bodyPr wrap="square" lIns="0" tIns="0" rIns="0" bIns="0" rtlCol="0" anchor="ctr"/>
          <a:lstStyle/>
          <a:p>
            <a:pPr marL="0" indent="0" algn="ctr">
              <a:buNone/>
            </a:pPr>
            <a:r>
              <a:rPr lang="en-US" sz="850" b="1" kern="0" spc="40" dirty="0">
                <a:solidFill>
                  <a:srgbClr val="B81C26"/>
                </a:solidFill>
                <a:latin typeface="Arial" pitchFamily="34" charset="0"/>
                <a:ea typeface="Arial" pitchFamily="34" charset="-122"/>
                <a:cs typeface="Arial" pitchFamily="34" charset="-120"/>
              </a:rPr>
              <a:t>ERROR: UNDER-TRIAGE</a:t>
            </a:r>
            <a:endParaRPr lang="en-US" sz="850" dirty="0"/>
          </a:p>
        </p:txBody>
      </p:sp>
      <p:sp>
        <p:nvSpPr>
          <p:cNvPr id="36" name="Text 32"/>
          <p:cNvSpPr txBox="1"/>
          <p:nvPr/>
        </p:nvSpPr>
        <p:spPr>
          <a:xfrm>
            <a:off x="1956536" y="4279392"/>
            <a:ext cx="1984248" cy="201168"/>
          </a:xfrm>
          <a:prstGeom prst="rect">
            <a:avLst/>
          </a:prstGeom>
          <a:noFill/>
          <a:ln/>
        </p:spPr>
        <p:txBody>
          <a:bodyPr wrap="square" lIns="0" tIns="0" rIns="0" bIns="0" rtlCol="0" anchor="ctr"/>
          <a:lstStyle/>
          <a:p>
            <a:pPr marL="0" indent="0" algn="r">
              <a:buNone/>
            </a:pPr>
            <a:r>
              <a:rPr lang="en-US" sz="880" b="1" dirty="0">
                <a:solidFill>
                  <a:srgbClr val="0A6E43"/>
                </a:solidFill>
                <a:latin typeface="Arial" pitchFamily="34" charset="0"/>
                <a:ea typeface="Arial" pitchFamily="34" charset="-122"/>
                <a:cs typeface="Arial" pitchFamily="34" charset="-120"/>
              </a:rPr>
              <a:t>→ ESI-2 + sepsis screen</a:t>
            </a:r>
            <a:endParaRPr lang="en-US" sz="880" dirty="0"/>
          </a:p>
        </p:txBody>
      </p:sp>
      <p:sp>
        <p:nvSpPr>
          <p:cNvPr id="37" name="Shape 33"/>
          <p:cNvSpPr/>
          <p:nvPr/>
        </p:nvSpPr>
        <p:spPr>
          <a:xfrm>
            <a:off x="201168" y="4626864"/>
            <a:ext cx="3794760" cy="2029968"/>
          </a:xfrm>
          <a:prstGeom prst="rect">
            <a:avLst/>
          </a:prstGeom>
          <a:solidFill>
            <a:srgbClr val="FFFFFF"/>
          </a:solidFill>
          <a:ln w="12700">
            <a:solidFill>
              <a:srgbClr val="D9D6E3"/>
            </a:solidFill>
            <a:prstDash val="solid"/>
          </a:ln>
        </p:spPr>
      </p:sp>
      <p:sp>
        <p:nvSpPr>
          <p:cNvPr id="38" name="Shape 34"/>
          <p:cNvSpPr/>
          <p:nvPr/>
        </p:nvSpPr>
        <p:spPr>
          <a:xfrm>
            <a:off x="201168" y="4626864"/>
            <a:ext cx="3794760" cy="274320"/>
          </a:xfrm>
          <a:prstGeom prst="rect">
            <a:avLst/>
          </a:prstGeom>
          <a:solidFill>
            <a:srgbClr val="7500C0"/>
          </a:solidFill>
          <a:ln w="12700">
            <a:solidFill>
              <a:srgbClr val="7500C0"/>
            </a:solidFill>
            <a:prstDash val="solid"/>
          </a:ln>
        </p:spPr>
      </p:sp>
      <p:sp>
        <p:nvSpPr>
          <p:cNvPr id="39" name="Text 35"/>
          <p:cNvSpPr txBox="1"/>
          <p:nvPr/>
        </p:nvSpPr>
        <p:spPr>
          <a:xfrm>
            <a:off x="201168" y="4626864"/>
            <a:ext cx="379476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THE MECHANISM WE BUILT INSTEAD</a:t>
            </a:r>
            <a:endParaRPr lang="en-US" sz="1050" dirty="0"/>
          </a:p>
        </p:txBody>
      </p:sp>
      <p:sp>
        <p:nvSpPr>
          <p:cNvPr id="40" name="Text 36"/>
          <p:cNvSpPr txBox="1"/>
          <p:nvPr/>
        </p:nvSpPr>
        <p:spPr>
          <a:xfrm>
            <a:off x="320040" y="4992624"/>
            <a:ext cx="3557016" cy="493776"/>
          </a:xfrm>
          <a:prstGeom prst="rect">
            <a:avLst/>
          </a:prstGeom>
          <a:noFill/>
          <a:ln/>
        </p:spPr>
        <p:txBody>
          <a:bodyPr wrap="square" lIns="0" tIns="0" rIns="0" bIns="0" rtlCol="0" anchor="ctr"/>
          <a:lstStyle/>
          <a:p>
            <a:pPr marL="0" indent="0">
              <a:lnSpc>
                <a:spcPct val="106000"/>
              </a:lnSpc>
              <a:buNone/>
            </a:pPr>
            <a:r>
              <a:rPr lang="en-US" sz="900" b="1" dirty="0">
                <a:solidFill>
                  <a:srgbClr val="111018"/>
                </a:solidFill>
                <a:latin typeface="Calibri" pitchFamily="34" charset="0"/>
                <a:ea typeface="Calibri" pitchFamily="34" charset="-122"/>
                <a:cs typeface="Calibri" pitchFamily="34" charset="-120"/>
              </a:rPr>
              <a:t>Five vital-sign bands.  </a:t>
            </a:r>
            <a:r>
              <a:rPr lang="en-US" sz="900" dirty="0">
                <a:solidFill>
                  <a:srgbClr val="2E2E36"/>
                </a:solidFill>
                <a:latin typeface="Calibri" pitchFamily="34" charset="0"/>
                <a:ea typeface="Calibri" pitchFamily="34" charset="-122"/>
                <a:cs typeface="Calibri" pitchFamily="34" charset="-120"/>
              </a:rPr>
              <a:t>0-1, 1-4, 5-11, 12-17 and adult, plus a ≥ 65 profile working on deviation from the patient’s own baseline.</a:t>
            </a:r>
            <a:endParaRPr lang="en-US" sz="900" dirty="0"/>
          </a:p>
        </p:txBody>
      </p:sp>
      <p:sp>
        <p:nvSpPr>
          <p:cNvPr id="41" name="Text 37"/>
          <p:cNvSpPr txBox="1"/>
          <p:nvPr/>
        </p:nvSpPr>
        <p:spPr>
          <a:xfrm>
            <a:off x="320040" y="5522976"/>
            <a:ext cx="3557016" cy="493776"/>
          </a:xfrm>
          <a:prstGeom prst="rect">
            <a:avLst/>
          </a:prstGeom>
          <a:noFill/>
          <a:ln/>
        </p:spPr>
        <p:txBody>
          <a:bodyPr wrap="square" lIns="0" tIns="0" rIns="0" bIns="0" rtlCol="0" anchor="ctr"/>
          <a:lstStyle/>
          <a:p>
            <a:pPr marL="0" indent="0">
              <a:lnSpc>
                <a:spcPct val="106000"/>
              </a:lnSpc>
              <a:buNone/>
            </a:pPr>
            <a:r>
              <a:rPr lang="en-US" sz="900" b="1" dirty="0">
                <a:solidFill>
                  <a:srgbClr val="111018"/>
                </a:solidFill>
                <a:latin typeface="Calibri" pitchFamily="34" charset="0"/>
                <a:ea typeface="Calibri" pitchFamily="34" charset="-122"/>
                <a:cs typeface="Calibri" pitchFamily="34" charset="-120"/>
              </a:rPr>
              <a:t>Deviation, not raw values.  </a:t>
            </a:r>
            <a:r>
              <a:rPr lang="en-US" sz="900" dirty="0">
                <a:solidFill>
                  <a:srgbClr val="2E2E36"/>
                </a:solidFill>
                <a:latin typeface="Calibri" pitchFamily="34" charset="0"/>
                <a:ea typeface="Calibri" pitchFamily="34" charset="-122"/>
                <a:cs typeface="Calibri" pitchFamily="34" charset="-120"/>
              </a:rPr>
              <a:t>Features are engineered as distance outside the patient’s own age band - which is what makes the monotonic constraint clinically meaningful.</a:t>
            </a:r>
            <a:endParaRPr lang="en-US" sz="900" dirty="0"/>
          </a:p>
        </p:txBody>
      </p:sp>
      <p:sp>
        <p:nvSpPr>
          <p:cNvPr id="42" name="Text 38"/>
          <p:cNvSpPr txBox="1"/>
          <p:nvPr/>
        </p:nvSpPr>
        <p:spPr>
          <a:xfrm>
            <a:off x="320040" y="6053328"/>
            <a:ext cx="3557016" cy="493776"/>
          </a:xfrm>
          <a:prstGeom prst="rect">
            <a:avLst/>
          </a:prstGeom>
          <a:noFill/>
          <a:ln/>
        </p:spPr>
        <p:txBody>
          <a:bodyPr wrap="square" lIns="0" tIns="0" rIns="0" bIns="0" rtlCol="0" anchor="ctr"/>
          <a:lstStyle/>
          <a:p>
            <a:pPr marL="0" indent="0">
              <a:lnSpc>
                <a:spcPct val="106000"/>
              </a:lnSpc>
              <a:buNone/>
            </a:pPr>
            <a:r>
              <a:rPr lang="en-US" sz="900" b="1" dirty="0">
                <a:solidFill>
                  <a:srgbClr val="111018"/>
                </a:solidFill>
                <a:latin typeface="Calibri" pitchFamily="34" charset="0"/>
                <a:ea typeface="Calibri" pitchFamily="34" charset="-122"/>
                <a:cs typeface="Calibri" pitchFamily="34" charset="-120"/>
              </a:rPr>
              <a:t>Observed cues are first-class.  </a:t>
            </a:r>
            <a:r>
              <a:rPr lang="en-US" sz="900" dirty="0">
                <a:solidFill>
                  <a:srgbClr val="2E2E36"/>
                </a:solidFill>
                <a:latin typeface="Calibri" pitchFamily="34" charset="0"/>
                <a:ea typeface="Calibri" pitchFamily="34" charset="-122"/>
                <a:cs typeface="Calibri" pitchFamily="34" charset="-120"/>
              </a:rPr>
              <a:t>ACVPU, work of breathing, colour and gait are structured inputs. New confusion alone scores +3 on NEWS2; a vitals-only pipeline drops it.</a:t>
            </a:r>
            <a:endParaRPr lang="en-US" sz="900" dirty="0"/>
          </a:p>
        </p:txBody>
      </p:sp>
      <p:sp>
        <p:nvSpPr>
          <p:cNvPr id="43" name="Shape 39"/>
          <p:cNvSpPr/>
          <p:nvPr/>
        </p:nvSpPr>
        <p:spPr>
          <a:xfrm>
            <a:off x="4197096" y="530352"/>
            <a:ext cx="3794760" cy="4041648"/>
          </a:xfrm>
          <a:prstGeom prst="rect">
            <a:avLst/>
          </a:prstGeom>
          <a:solidFill>
            <a:srgbClr val="FFFFFF"/>
          </a:solidFill>
          <a:ln w="12700">
            <a:solidFill>
              <a:srgbClr val="D9D6E3"/>
            </a:solidFill>
            <a:prstDash val="solid"/>
          </a:ln>
        </p:spPr>
      </p:sp>
      <p:sp>
        <p:nvSpPr>
          <p:cNvPr id="44" name="Shape 40"/>
          <p:cNvSpPr/>
          <p:nvPr/>
        </p:nvSpPr>
        <p:spPr>
          <a:xfrm>
            <a:off x="4197096" y="530352"/>
            <a:ext cx="3794760" cy="274320"/>
          </a:xfrm>
          <a:prstGeom prst="rect">
            <a:avLst/>
          </a:prstGeom>
          <a:solidFill>
            <a:srgbClr val="460073"/>
          </a:solidFill>
          <a:ln w="12700">
            <a:solidFill>
              <a:srgbClr val="460073"/>
            </a:solidFill>
            <a:prstDash val="solid"/>
          </a:ln>
        </p:spPr>
      </p:sp>
      <p:sp>
        <p:nvSpPr>
          <p:cNvPr id="45" name="Text 41"/>
          <p:cNvSpPr txBox="1"/>
          <p:nvPr/>
        </p:nvSpPr>
        <p:spPr>
          <a:xfrm>
            <a:off x="4197096" y="530352"/>
            <a:ext cx="379476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ONE SET OF OBSERVATIONS, FOUR ANSWERS</a:t>
            </a:r>
            <a:endParaRPr lang="en-US" sz="1050" dirty="0"/>
          </a:p>
        </p:txBody>
      </p:sp>
      <p:pic>
        <p:nvPicPr>
          <p:cNvPr id="46" name="Image 2" descr="/home/claude/deck/ui_ageband.png"/>
          <p:cNvPicPr>
            <a:picLocks noChangeAspect="1"/>
          </p:cNvPicPr>
          <p:nvPr/>
        </p:nvPicPr>
        <p:blipFill>
          <a:blip r:embed="rId5"/>
          <a:stretch>
            <a:fillRect/>
          </a:stretch>
        </p:blipFill>
        <p:spPr>
          <a:xfrm>
            <a:off x="4677156" y="896112"/>
            <a:ext cx="2834640" cy="3145536"/>
          </a:xfrm>
          <a:prstGeom prst="rect">
            <a:avLst/>
          </a:prstGeom>
        </p:spPr>
      </p:pic>
      <p:sp>
        <p:nvSpPr>
          <p:cNvPr id="47" name="Text 42"/>
          <p:cNvSpPr txBox="1"/>
          <p:nvPr/>
        </p:nvSpPr>
        <p:spPr>
          <a:xfrm>
            <a:off x="4315968" y="4133088"/>
            <a:ext cx="3557016" cy="402336"/>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Live from the prototype: the same observations held constant and scored in each age band. A single adult-calibrated scale would return one answer for all five.</a:t>
            </a:r>
            <a:endParaRPr lang="en-US" sz="900" dirty="0"/>
          </a:p>
        </p:txBody>
      </p:sp>
      <p:sp>
        <p:nvSpPr>
          <p:cNvPr id="48" name="Shape 43"/>
          <p:cNvSpPr/>
          <p:nvPr/>
        </p:nvSpPr>
        <p:spPr>
          <a:xfrm>
            <a:off x="4197096" y="4626864"/>
            <a:ext cx="3794760" cy="2029968"/>
          </a:xfrm>
          <a:prstGeom prst="rect">
            <a:avLst/>
          </a:prstGeom>
          <a:solidFill>
            <a:srgbClr val="FFFFFF"/>
          </a:solidFill>
          <a:ln w="12700">
            <a:solidFill>
              <a:srgbClr val="D9D6E3"/>
            </a:solidFill>
            <a:prstDash val="solid"/>
          </a:ln>
        </p:spPr>
      </p:sp>
      <p:sp>
        <p:nvSpPr>
          <p:cNvPr id="49" name="Shape 44"/>
          <p:cNvSpPr/>
          <p:nvPr/>
        </p:nvSpPr>
        <p:spPr>
          <a:xfrm>
            <a:off x="4197096" y="4626864"/>
            <a:ext cx="3794760" cy="274320"/>
          </a:xfrm>
          <a:prstGeom prst="rect">
            <a:avLst/>
          </a:prstGeom>
          <a:solidFill>
            <a:srgbClr val="B81C26"/>
          </a:solidFill>
          <a:ln w="12700">
            <a:solidFill>
              <a:srgbClr val="B81C26"/>
            </a:solidFill>
            <a:prstDash val="solid"/>
          </a:ln>
        </p:spPr>
      </p:sp>
      <p:sp>
        <p:nvSpPr>
          <p:cNvPr id="50" name="Text 45"/>
          <p:cNvSpPr txBox="1"/>
          <p:nvPr/>
        </p:nvSpPr>
        <p:spPr>
          <a:xfrm>
            <a:off x="4197096" y="4626864"/>
            <a:ext cx="379476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WHY THE OLD PATTERN PERSISTS</a:t>
            </a:r>
            <a:endParaRPr lang="en-US" sz="1050" dirty="0"/>
          </a:p>
        </p:txBody>
      </p:sp>
      <p:sp>
        <p:nvSpPr>
          <p:cNvPr id="51" name="Text 46"/>
          <p:cNvSpPr txBox="1"/>
          <p:nvPr/>
        </p:nvSpPr>
        <p:spPr>
          <a:xfrm>
            <a:off x="4315968" y="4992624"/>
            <a:ext cx="3557016" cy="493776"/>
          </a:xfrm>
          <a:prstGeom prst="rect">
            <a:avLst/>
          </a:prstGeom>
          <a:noFill/>
          <a:ln/>
        </p:spPr>
        <p:txBody>
          <a:bodyPr wrap="square" lIns="0" tIns="0" rIns="0" bIns="0" rtlCol="0" anchor="ctr"/>
          <a:lstStyle/>
          <a:p>
            <a:pPr marL="0" indent="0">
              <a:lnSpc>
                <a:spcPct val="106000"/>
              </a:lnSpc>
              <a:buNone/>
            </a:pPr>
            <a:r>
              <a:rPr lang="en-US" sz="900" b="1" dirty="0">
                <a:solidFill>
                  <a:srgbClr val="111018"/>
                </a:solidFill>
                <a:latin typeface="Calibri" pitchFamily="34" charset="0"/>
                <a:ea typeface="Calibri" pitchFamily="34" charset="-122"/>
                <a:cs typeface="Calibri" pitchFamily="34" charset="-120"/>
              </a:rPr>
              <a:t>Diabetes blunts cardiac pain.  </a:t>
            </a:r>
            <a:r>
              <a:rPr lang="en-US" sz="900" dirty="0">
                <a:solidFill>
                  <a:srgbClr val="2E2E36"/>
                </a:solidFill>
                <a:latin typeface="Calibri" pitchFamily="34" charset="0"/>
                <a:ea typeface="Calibri" pitchFamily="34" charset="-122"/>
                <a:cs typeface="Calibri" pitchFamily="34" charset="-120"/>
              </a:rPr>
              <a:t>Up to 40% of infarctions in diabetics present atypically - the alarm signal is absent, not weak.</a:t>
            </a:r>
            <a:endParaRPr lang="en-US" sz="900" dirty="0"/>
          </a:p>
        </p:txBody>
      </p:sp>
      <p:sp>
        <p:nvSpPr>
          <p:cNvPr id="52" name="Text 47"/>
          <p:cNvSpPr txBox="1"/>
          <p:nvPr/>
        </p:nvSpPr>
        <p:spPr>
          <a:xfrm>
            <a:off x="4315968" y="5522976"/>
            <a:ext cx="3557016" cy="493776"/>
          </a:xfrm>
          <a:prstGeom prst="rect">
            <a:avLst/>
          </a:prstGeom>
          <a:noFill/>
          <a:ln/>
        </p:spPr>
        <p:txBody>
          <a:bodyPr wrap="square" lIns="0" tIns="0" rIns="0" bIns="0" rtlCol="0" anchor="ctr"/>
          <a:lstStyle/>
          <a:p>
            <a:pPr marL="0" indent="0">
              <a:lnSpc>
                <a:spcPct val="106000"/>
              </a:lnSpc>
              <a:buNone/>
            </a:pPr>
            <a:r>
              <a:rPr lang="en-US" sz="900" b="1" dirty="0">
                <a:solidFill>
                  <a:srgbClr val="111018"/>
                </a:solidFill>
                <a:latin typeface="Calibri" pitchFamily="34" charset="0"/>
                <a:ea typeface="Calibri" pitchFamily="34" charset="-122"/>
                <a:cs typeface="Calibri" pitchFamily="34" charset="-120"/>
              </a:rPr>
              <a:t>Older women present atypically.  </a:t>
            </a:r>
            <a:r>
              <a:rPr lang="en-US" sz="900" dirty="0">
                <a:solidFill>
                  <a:srgbClr val="2E2E36"/>
                </a:solidFill>
                <a:latin typeface="Calibri" pitchFamily="34" charset="0"/>
                <a:ea typeface="Calibri" pitchFamily="34" charset="-122"/>
                <a:cs typeface="Calibri" pitchFamily="34" charset="-120"/>
              </a:rPr>
              <a:t>Nearly half of over-65s with an infarction arrive with no chest pain at all.</a:t>
            </a:r>
            <a:endParaRPr lang="en-US" sz="900" dirty="0"/>
          </a:p>
        </p:txBody>
      </p:sp>
      <p:sp>
        <p:nvSpPr>
          <p:cNvPr id="53" name="Text 48"/>
          <p:cNvSpPr txBox="1"/>
          <p:nvPr/>
        </p:nvSpPr>
        <p:spPr>
          <a:xfrm>
            <a:off x="4315968" y="6053328"/>
            <a:ext cx="3557016" cy="493776"/>
          </a:xfrm>
          <a:prstGeom prst="rect">
            <a:avLst/>
          </a:prstGeom>
          <a:noFill/>
          <a:ln/>
        </p:spPr>
        <p:txBody>
          <a:bodyPr wrap="square" lIns="0" tIns="0" rIns="0" bIns="0" rtlCol="0" anchor="ctr"/>
          <a:lstStyle/>
          <a:p>
            <a:pPr marL="0" indent="0">
              <a:lnSpc>
                <a:spcPct val="106000"/>
              </a:lnSpc>
              <a:buNone/>
            </a:pPr>
            <a:r>
              <a:rPr lang="en-US" sz="900" b="1" dirty="0">
                <a:solidFill>
                  <a:srgbClr val="111018"/>
                </a:solidFill>
                <a:latin typeface="Calibri" pitchFamily="34" charset="0"/>
                <a:ea typeface="Calibri" pitchFamily="34" charset="-122"/>
                <a:cs typeface="Calibri" pitchFamily="34" charset="-120"/>
              </a:rPr>
              <a:t>The benign pattern is more available.  </a:t>
            </a:r>
            <a:r>
              <a:rPr lang="en-US" sz="900" dirty="0">
                <a:solidFill>
                  <a:srgbClr val="2E2E36"/>
                </a:solidFill>
                <a:latin typeface="Calibri" pitchFamily="34" charset="0"/>
                <a:ea typeface="Calibri" pitchFamily="34" charset="-122"/>
                <a:cs typeface="Calibri" pitchFamily="34" charset="-120"/>
              </a:rPr>
              <a:t>GI symptoms read as gastritis under time pressure, because gastritis is far more common.</a:t>
            </a:r>
            <a:endParaRPr lang="en-US" sz="900" dirty="0"/>
          </a:p>
        </p:txBody>
      </p:sp>
      <p:sp>
        <p:nvSpPr>
          <p:cNvPr id="54" name="Shape 49"/>
          <p:cNvSpPr/>
          <p:nvPr/>
        </p:nvSpPr>
        <p:spPr>
          <a:xfrm>
            <a:off x="8193024" y="530352"/>
            <a:ext cx="3794760" cy="3054096"/>
          </a:xfrm>
          <a:prstGeom prst="rect">
            <a:avLst/>
          </a:prstGeom>
          <a:solidFill>
            <a:srgbClr val="FFFFFF"/>
          </a:solidFill>
          <a:ln w="12700">
            <a:solidFill>
              <a:srgbClr val="D9D6E3"/>
            </a:solidFill>
            <a:prstDash val="solid"/>
          </a:ln>
        </p:spPr>
      </p:sp>
      <p:sp>
        <p:nvSpPr>
          <p:cNvPr id="55" name="Shape 50"/>
          <p:cNvSpPr/>
          <p:nvPr/>
        </p:nvSpPr>
        <p:spPr>
          <a:xfrm>
            <a:off x="8193024" y="530352"/>
            <a:ext cx="3794760" cy="274320"/>
          </a:xfrm>
          <a:prstGeom prst="rect">
            <a:avLst/>
          </a:prstGeom>
          <a:solidFill>
            <a:srgbClr val="5C0099"/>
          </a:solidFill>
          <a:ln w="12700">
            <a:solidFill>
              <a:srgbClr val="5C0099"/>
            </a:solidFill>
            <a:prstDash val="solid"/>
          </a:ln>
        </p:spPr>
      </p:sp>
      <p:sp>
        <p:nvSpPr>
          <p:cNvPr id="56" name="Text 51"/>
          <p:cNvSpPr txBox="1"/>
          <p:nvPr/>
        </p:nvSpPr>
        <p:spPr>
          <a:xfrm>
            <a:off x="8193024" y="530352"/>
            <a:ext cx="379476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WHAT THE CONTEXT LAYER IS WORTH</a:t>
            </a:r>
            <a:endParaRPr lang="en-US" sz="1050" dirty="0"/>
          </a:p>
        </p:txBody>
      </p:sp>
      <p:sp>
        <p:nvSpPr>
          <p:cNvPr id="57" name="Text 52"/>
          <p:cNvSpPr txBox="1"/>
          <p:nvPr/>
        </p:nvSpPr>
        <p:spPr>
          <a:xfrm>
            <a:off x="8311896" y="896112"/>
            <a:ext cx="3557016" cy="164592"/>
          </a:xfrm>
          <a:prstGeom prst="rect">
            <a:avLst/>
          </a:prstGeom>
          <a:noFill/>
          <a:ln/>
        </p:spPr>
        <p:txBody>
          <a:bodyPr wrap="square" lIns="0" tIns="0" rIns="0" bIns="0" rtlCol="0" anchor="ctr"/>
          <a:lstStyle/>
          <a:p>
            <a:pPr marL="0" indent="0">
              <a:buNone/>
            </a:pPr>
            <a:r>
              <a:rPr lang="en-US" sz="800" b="1" kern="0" spc="80" dirty="0">
                <a:solidFill>
                  <a:srgbClr val="5F5F6B"/>
                </a:solidFill>
                <a:latin typeface="Arial" pitchFamily="34" charset="0"/>
                <a:ea typeface="Arial" pitchFamily="34" charset="-122"/>
                <a:cs typeface="Arial" pitchFamily="34" charset="-120"/>
              </a:rPr>
              <a:t>HIGH-ACUITY MISSED · 500-ENCOUNTER COHORT</a:t>
            </a:r>
            <a:endParaRPr lang="en-US" sz="800" dirty="0"/>
          </a:p>
        </p:txBody>
      </p:sp>
      <p:sp>
        <p:nvSpPr>
          <p:cNvPr id="58" name="Text 53"/>
          <p:cNvSpPr txBox="1"/>
          <p:nvPr/>
        </p:nvSpPr>
        <p:spPr>
          <a:xfrm>
            <a:off x="8311896" y="1133856"/>
            <a:ext cx="1600200" cy="274320"/>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Adult-calibrated vitals only</a:t>
            </a:r>
            <a:endParaRPr lang="en-US" sz="900" dirty="0"/>
          </a:p>
        </p:txBody>
      </p:sp>
      <p:sp>
        <p:nvSpPr>
          <p:cNvPr id="59" name="Shape 54"/>
          <p:cNvSpPr/>
          <p:nvPr/>
        </p:nvSpPr>
        <p:spPr>
          <a:xfrm>
            <a:off x="10003536" y="1133856"/>
            <a:ext cx="1060704" cy="274320"/>
          </a:xfrm>
          <a:prstGeom prst="rect">
            <a:avLst/>
          </a:prstGeom>
          <a:solidFill>
            <a:srgbClr val="E9E7EF"/>
          </a:solidFill>
          <a:ln w="12700">
            <a:solidFill>
              <a:srgbClr val="E9E7EF"/>
            </a:solidFill>
            <a:prstDash val="solid"/>
          </a:ln>
        </p:spPr>
      </p:sp>
      <p:sp>
        <p:nvSpPr>
          <p:cNvPr id="60" name="Shape 55"/>
          <p:cNvSpPr/>
          <p:nvPr/>
        </p:nvSpPr>
        <p:spPr>
          <a:xfrm>
            <a:off x="10003536" y="1133856"/>
            <a:ext cx="954634" cy="274320"/>
          </a:xfrm>
          <a:prstGeom prst="rect">
            <a:avLst/>
          </a:prstGeom>
          <a:solidFill>
            <a:srgbClr val="B5B2C2"/>
          </a:solidFill>
          <a:ln w="12700">
            <a:solidFill>
              <a:srgbClr val="B5B2C2"/>
            </a:solidFill>
            <a:prstDash val="solid"/>
          </a:ln>
        </p:spPr>
      </p:sp>
      <p:sp>
        <p:nvSpPr>
          <p:cNvPr id="61" name="Text 56"/>
          <p:cNvSpPr txBox="1"/>
          <p:nvPr/>
        </p:nvSpPr>
        <p:spPr>
          <a:xfrm>
            <a:off x="11137392" y="1133856"/>
            <a:ext cx="658368" cy="274320"/>
          </a:xfrm>
          <a:prstGeom prst="rect">
            <a:avLst/>
          </a:prstGeom>
          <a:noFill/>
          <a:ln/>
        </p:spPr>
        <p:txBody>
          <a:bodyPr wrap="square" lIns="0" tIns="0" rIns="0" bIns="0" rtlCol="0" anchor="ctr"/>
          <a:lstStyle/>
          <a:p>
            <a:pPr marL="0" indent="0" algn="r">
              <a:buNone/>
            </a:pPr>
            <a:r>
              <a:rPr lang="en-US" sz="1000" b="1" dirty="0">
                <a:solidFill>
                  <a:srgbClr val="5F5F6B"/>
                </a:solidFill>
                <a:latin typeface="Arial" pitchFamily="34" charset="0"/>
                <a:ea typeface="Arial" pitchFamily="34" charset="-122"/>
                <a:cs typeface="Arial" pitchFamily="34" charset="-120"/>
              </a:rPr>
              <a:t>45.0%</a:t>
            </a:r>
            <a:endParaRPr lang="en-US" sz="1000" dirty="0"/>
          </a:p>
        </p:txBody>
      </p:sp>
      <p:sp>
        <p:nvSpPr>
          <p:cNvPr id="62" name="Text 57"/>
          <p:cNvSpPr txBox="1"/>
          <p:nvPr/>
        </p:nvSpPr>
        <p:spPr>
          <a:xfrm>
            <a:off x="8311896" y="1572768"/>
            <a:ext cx="1600200" cy="274320"/>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Risk modifiers removed</a:t>
            </a:r>
            <a:endParaRPr lang="en-US" sz="900" dirty="0"/>
          </a:p>
        </p:txBody>
      </p:sp>
      <p:sp>
        <p:nvSpPr>
          <p:cNvPr id="63" name="Shape 58"/>
          <p:cNvSpPr/>
          <p:nvPr/>
        </p:nvSpPr>
        <p:spPr>
          <a:xfrm>
            <a:off x="10003536" y="1572768"/>
            <a:ext cx="1060704" cy="274320"/>
          </a:xfrm>
          <a:prstGeom prst="rect">
            <a:avLst/>
          </a:prstGeom>
          <a:solidFill>
            <a:srgbClr val="E9E7EF"/>
          </a:solidFill>
          <a:ln w="12700">
            <a:solidFill>
              <a:srgbClr val="E9E7EF"/>
            </a:solidFill>
            <a:prstDash val="solid"/>
          </a:ln>
        </p:spPr>
      </p:sp>
      <p:sp>
        <p:nvSpPr>
          <p:cNvPr id="64" name="Shape 59"/>
          <p:cNvSpPr/>
          <p:nvPr/>
        </p:nvSpPr>
        <p:spPr>
          <a:xfrm>
            <a:off x="10003536" y="1572768"/>
            <a:ext cx="424282" cy="274320"/>
          </a:xfrm>
          <a:prstGeom prst="rect">
            <a:avLst/>
          </a:prstGeom>
          <a:solidFill>
            <a:srgbClr val="B5B2C2"/>
          </a:solidFill>
          <a:ln w="12700">
            <a:solidFill>
              <a:srgbClr val="B5B2C2"/>
            </a:solidFill>
            <a:prstDash val="solid"/>
          </a:ln>
        </p:spPr>
      </p:sp>
      <p:sp>
        <p:nvSpPr>
          <p:cNvPr id="65" name="Text 60"/>
          <p:cNvSpPr txBox="1"/>
          <p:nvPr/>
        </p:nvSpPr>
        <p:spPr>
          <a:xfrm>
            <a:off x="11137392" y="1572768"/>
            <a:ext cx="658368" cy="274320"/>
          </a:xfrm>
          <a:prstGeom prst="rect">
            <a:avLst/>
          </a:prstGeom>
          <a:noFill/>
          <a:ln/>
        </p:spPr>
        <p:txBody>
          <a:bodyPr wrap="square" lIns="0" tIns="0" rIns="0" bIns="0" rtlCol="0" anchor="ctr"/>
          <a:lstStyle/>
          <a:p>
            <a:pPr marL="0" indent="0" algn="r">
              <a:buNone/>
            </a:pPr>
            <a:r>
              <a:rPr lang="en-US" sz="1000" b="1" dirty="0">
                <a:solidFill>
                  <a:srgbClr val="5F5F6B"/>
                </a:solidFill>
                <a:latin typeface="Arial" pitchFamily="34" charset="0"/>
                <a:ea typeface="Arial" pitchFamily="34" charset="-122"/>
                <a:cs typeface="Arial" pitchFamily="34" charset="-120"/>
              </a:rPr>
              <a:t>20.0%</a:t>
            </a:r>
            <a:endParaRPr lang="en-US" sz="1000" dirty="0"/>
          </a:p>
        </p:txBody>
      </p:sp>
      <p:sp>
        <p:nvSpPr>
          <p:cNvPr id="66" name="Text 61"/>
          <p:cNvSpPr txBox="1"/>
          <p:nvPr/>
        </p:nvSpPr>
        <p:spPr>
          <a:xfrm>
            <a:off x="8311896" y="2011680"/>
            <a:ext cx="1600200" cy="274320"/>
          </a:xfrm>
          <a:prstGeom prst="rect">
            <a:avLst/>
          </a:prstGeom>
          <a:noFill/>
          <a:ln/>
        </p:spPr>
        <p:txBody>
          <a:bodyPr wrap="square" lIns="0" tIns="0" rIns="0" bIns="0" rtlCol="0" anchor="ctr"/>
          <a:lstStyle/>
          <a:p>
            <a:pPr marL="0" indent="0">
              <a:buNone/>
            </a:pPr>
            <a:r>
              <a:rPr lang="en-US" sz="900" b="1" dirty="0">
                <a:solidFill>
                  <a:srgbClr val="111018"/>
                </a:solidFill>
                <a:latin typeface="Calibri" pitchFamily="34" charset="0"/>
                <a:ea typeface="Calibri" pitchFamily="34" charset="-122"/>
                <a:cs typeface="Calibri" pitchFamily="34" charset="-120"/>
              </a:rPr>
              <a:t>Full engine as proposed</a:t>
            </a:r>
            <a:endParaRPr lang="en-US" sz="900" dirty="0"/>
          </a:p>
        </p:txBody>
      </p:sp>
      <p:sp>
        <p:nvSpPr>
          <p:cNvPr id="67" name="Shape 62"/>
          <p:cNvSpPr/>
          <p:nvPr/>
        </p:nvSpPr>
        <p:spPr>
          <a:xfrm>
            <a:off x="10003536" y="2011680"/>
            <a:ext cx="1060704" cy="274320"/>
          </a:xfrm>
          <a:prstGeom prst="rect">
            <a:avLst/>
          </a:prstGeom>
          <a:solidFill>
            <a:srgbClr val="E9E7EF"/>
          </a:solidFill>
          <a:ln w="12700">
            <a:solidFill>
              <a:srgbClr val="E9E7EF"/>
            </a:solidFill>
            <a:prstDash val="solid"/>
          </a:ln>
        </p:spPr>
      </p:sp>
      <p:sp>
        <p:nvSpPr>
          <p:cNvPr id="68" name="Shape 63"/>
          <p:cNvSpPr/>
          <p:nvPr/>
        </p:nvSpPr>
        <p:spPr>
          <a:xfrm>
            <a:off x="10003536" y="2011680"/>
            <a:ext cx="159106" cy="274320"/>
          </a:xfrm>
          <a:prstGeom prst="rect">
            <a:avLst/>
          </a:prstGeom>
          <a:solidFill>
            <a:srgbClr val="A100FF"/>
          </a:solidFill>
          <a:ln w="12700">
            <a:solidFill>
              <a:srgbClr val="A100FF"/>
            </a:solidFill>
            <a:prstDash val="solid"/>
          </a:ln>
        </p:spPr>
      </p:sp>
      <p:sp>
        <p:nvSpPr>
          <p:cNvPr id="69" name="Text 64"/>
          <p:cNvSpPr txBox="1"/>
          <p:nvPr/>
        </p:nvSpPr>
        <p:spPr>
          <a:xfrm>
            <a:off x="11137392" y="2011680"/>
            <a:ext cx="658368" cy="274320"/>
          </a:xfrm>
          <a:prstGeom prst="rect">
            <a:avLst/>
          </a:prstGeom>
          <a:noFill/>
          <a:ln/>
        </p:spPr>
        <p:txBody>
          <a:bodyPr wrap="square" lIns="0" tIns="0" rIns="0" bIns="0" rtlCol="0" anchor="ctr"/>
          <a:lstStyle/>
          <a:p>
            <a:pPr marL="0" indent="0" algn="r">
              <a:buNone/>
            </a:pPr>
            <a:r>
              <a:rPr lang="en-US" sz="1100" b="1" dirty="0">
                <a:solidFill>
                  <a:srgbClr val="460073"/>
                </a:solidFill>
                <a:latin typeface="Arial" pitchFamily="34" charset="0"/>
                <a:ea typeface="Arial" pitchFamily="34" charset="-122"/>
                <a:cs typeface="Arial" pitchFamily="34" charset="-120"/>
              </a:rPr>
              <a:t>7.5%</a:t>
            </a:r>
            <a:endParaRPr lang="en-US" sz="1100" dirty="0"/>
          </a:p>
        </p:txBody>
      </p:sp>
      <p:sp>
        <p:nvSpPr>
          <p:cNvPr id="70" name="Shape 65"/>
          <p:cNvSpPr/>
          <p:nvPr/>
        </p:nvSpPr>
        <p:spPr>
          <a:xfrm>
            <a:off x="8311896" y="2468880"/>
            <a:ext cx="3557016" cy="274320"/>
          </a:xfrm>
          <a:prstGeom prst="rect">
            <a:avLst/>
          </a:prstGeom>
          <a:solidFill>
            <a:srgbClr val="F4ECFE"/>
          </a:solidFill>
          <a:ln w="12700">
            <a:solidFill>
              <a:srgbClr val="F4ECFE"/>
            </a:solidFill>
            <a:prstDash val="solid"/>
          </a:ln>
        </p:spPr>
      </p:sp>
      <p:sp>
        <p:nvSpPr>
          <p:cNvPr id="71" name="Text 66"/>
          <p:cNvSpPr txBox="1"/>
          <p:nvPr/>
        </p:nvSpPr>
        <p:spPr>
          <a:xfrm>
            <a:off x="8311896" y="2468880"/>
            <a:ext cx="3557016" cy="274320"/>
          </a:xfrm>
          <a:prstGeom prst="rect">
            <a:avLst/>
          </a:prstGeom>
          <a:noFill/>
          <a:ln/>
        </p:spPr>
        <p:txBody>
          <a:bodyPr wrap="square" lIns="0" tIns="0" rIns="0" bIns="0" rtlCol="0" anchor="ctr"/>
          <a:lstStyle/>
          <a:p>
            <a:pPr marL="0" indent="0" algn="ctr">
              <a:buNone/>
            </a:pPr>
            <a:r>
              <a:rPr lang="en-US" sz="1050" b="1" dirty="0">
                <a:solidFill>
                  <a:srgbClr val="460073"/>
                </a:solidFill>
                <a:latin typeface="Arial" pitchFamily="34" charset="0"/>
                <a:ea typeface="Arial" pitchFamily="34" charset="-122"/>
                <a:cs typeface="Arial" pitchFamily="34" charset="-120"/>
              </a:rPr>
              <a:t>Six times fewer misses at the same over-triage cost.</a:t>
            </a:r>
            <a:endParaRPr lang="en-US" sz="1050" dirty="0"/>
          </a:p>
        </p:txBody>
      </p:sp>
      <p:sp>
        <p:nvSpPr>
          <p:cNvPr id="72" name="Text 67"/>
          <p:cNvSpPr txBox="1"/>
          <p:nvPr/>
        </p:nvSpPr>
        <p:spPr>
          <a:xfrm>
            <a:off x="8311896" y="2816352"/>
            <a:ext cx="3557016" cy="603504"/>
          </a:xfrm>
          <a:prstGeom prst="rect">
            <a:avLst/>
          </a:prstGeom>
          <a:noFill/>
          <a:ln/>
        </p:spPr>
        <p:txBody>
          <a:bodyPr wrap="square" lIns="0" tIns="0" rIns="0" bIns="0" rtlCol="0" anchor="ctr"/>
          <a:lstStyle/>
          <a:p>
            <a:pPr marL="0" indent="0">
              <a:lnSpc>
                <a:spcPct val="105000"/>
              </a:lnSpc>
              <a:buNone/>
            </a:pPr>
            <a:r>
              <a:rPr lang="en-US" sz="900" dirty="0">
                <a:solidFill>
                  <a:srgbClr val="2E2E36"/>
                </a:solidFill>
                <a:latin typeface="Calibri" pitchFamily="34" charset="0"/>
                <a:ea typeface="Calibri" pitchFamily="34" charset="-122"/>
                <a:cs typeface="Calibri" pitchFamily="34" charset="-120"/>
              </a:rPr>
              <a:t>Over-triage held at 33.2% in the vitals-only baseline and 32.0% in the full engine - the improvement is not bought with extra false alarms. Removing the context layer nearly triples misses, so the layer is not a refinement; it is the product.</a:t>
            </a:r>
            <a:endParaRPr lang="en-US" sz="900" dirty="0"/>
          </a:p>
        </p:txBody>
      </p:sp>
      <p:sp>
        <p:nvSpPr>
          <p:cNvPr id="73" name="Shape 68"/>
          <p:cNvSpPr/>
          <p:nvPr/>
        </p:nvSpPr>
        <p:spPr>
          <a:xfrm>
            <a:off x="8193024" y="3694176"/>
            <a:ext cx="3794760" cy="2962656"/>
          </a:xfrm>
          <a:prstGeom prst="rect">
            <a:avLst/>
          </a:prstGeom>
          <a:solidFill>
            <a:srgbClr val="FFFFFF"/>
          </a:solidFill>
          <a:ln w="12700">
            <a:solidFill>
              <a:srgbClr val="D9D6E3"/>
            </a:solidFill>
            <a:prstDash val="solid"/>
          </a:ln>
        </p:spPr>
      </p:sp>
      <p:sp>
        <p:nvSpPr>
          <p:cNvPr id="74" name="Shape 69"/>
          <p:cNvSpPr/>
          <p:nvPr/>
        </p:nvSpPr>
        <p:spPr>
          <a:xfrm>
            <a:off x="8193024" y="3694176"/>
            <a:ext cx="3794760" cy="274320"/>
          </a:xfrm>
          <a:prstGeom prst="rect">
            <a:avLst/>
          </a:prstGeom>
          <a:solidFill>
            <a:srgbClr val="7500C0"/>
          </a:solidFill>
          <a:ln w="12700">
            <a:solidFill>
              <a:srgbClr val="7500C0"/>
            </a:solidFill>
            <a:prstDash val="solid"/>
          </a:ln>
        </p:spPr>
      </p:sp>
      <p:sp>
        <p:nvSpPr>
          <p:cNvPr id="75" name="Text 70"/>
          <p:cNvSpPr txBox="1"/>
          <p:nvPr/>
        </p:nvSpPr>
        <p:spPr>
          <a:xfrm>
            <a:off x="8193024" y="3694176"/>
            <a:ext cx="379476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MEASURED, NOT ASSERTED</a:t>
            </a:r>
            <a:endParaRPr lang="en-US" sz="1050" dirty="0"/>
          </a:p>
        </p:txBody>
      </p:sp>
      <p:sp>
        <p:nvSpPr>
          <p:cNvPr id="76" name="Shape 71"/>
          <p:cNvSpPr/>
          <p:nvPr/>
        </p:nvSpPr>
        <p:spPr>
          <a:xfrm>
            <a:off x="8311896" y="4059936"/>
            <a:ext cx="1714500" cy="841248"/>
          </a:xfrm>
          <a:prstGeom prst="roundRect">
            <a:avLst>
              <a:gd name="adj" fmla="val 4348"/>
            </a:avLst>
          </a:prstGeom>
          <a:solidFill>
            <a:srgbClr val="F7F4FC"/>
          </a:solidFill>
          <a:ln w="12700">
            <a:solidFill>
              <a:srgbClr val="ECEAF3"/>
            </a:solidFill>
            <a:prstDash val="solid"/>
          </a:ln>
        </p:spPr>
      </p:sp>
      <p:sp>
        <p:nvSpPr>
          <p:cNvPr id="77" name="Text 72"/>
          <p:cNvSpPr txBox="1"/>
          <p:nvPr/>
        </p:nvSpPr>
        <p:spPr>
          <a:xfrm>
            <a:off x="8421624" y="4133088"/>
            <a:ext cx="1495044" cy="310896"/>
          </a:xfrm>
          <a:prstGeom prst="rect">
            <a:avLst/>
          </a:prstGeom>
          <a:noFill/>
          <a:ln/>
        </p:spPr>
        <p:txBody>
          <a:bodyPr wrap="square" lIns="0" tIns="0" rIns="0" bIns="0" rtlCol="0" anchor="ctr"/>
          <a:lstStyle/>
          <a:p>
            <a:pPr marL="0" indent="0">
              <a:buNone/>
            </a:pPr>
            <a:r>
              <a:rPr lang="en-US" sz="1900" b="1" dirty="0">
                <a:solidFill>
                  <a:srgbClr val="0A6E43"/>
                </a:solidFill>
                <a:latin typeface="Arial" pitchFamily="34" charset="0"/>
                <a:ea typeface="Arial" pitchFamily="34" charset="-122"/>
                <a:cs typeface="Arial" pitchFamily="34" charset="-120"/>
              </a:rPr>
              <a:t>16 of 21</a:t>
            </a:r>
            <a:endParaRPr lang="en-US" sz="1900" dirty="0"/>
          </a:p>
        </p:txBody>
      </p:sp>
      <p:sp>
        <p:nvSpPr>
          <p:cNvPr id="78" name="Text 73"/>
          <p:cNvSpPr txBox="1"/>
          <p:nvPr/>
        </p:nvSpPr>
        <p:spPr>
          <a:xfrm>
            <a:off x="8421624" y="4443984"/>
            <a:ext cx="1495044"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hidden-sick caught</a:t>
            </a:r>
            <a:endParaRPr lang="en-US" sz="950" dirty="0"/>
          </a:p>
        </p:txBody>
      </p:sp>
      <p:sp>
        <p:nvSpPr>
          <p:cNvPr id="79" name="Text 74"/>
          <p:cNvSpPr txBox="1"/>
          <p:nvPr/>
        </p:nvSpPr>
        <p:spPr>
          <a:xfrm>
            <a:off x="8421624" y="4626864"/>
            <a:ext cx="1495044" cy="201168"/>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genuinely high-acuity on entirely normal vitals</a:t>
            </a:r>
            <a:endParaRPr lang="en-US" sz="900" dirty="0"/>
          </a:p>
        </p:txBody>
      </p:sp>
      <p:sp>
        <p:nvSpPr>
          <p:cNvPr id="80" name="Shape 75"/>
          <p:cNvSpPr/>
          <p:nvPr/>
        </p:nvSpPr>
        <p:spPr>
          <a:xfrm>
            <a:off x="10154412" y="4059936"/>
            <a:ext cx="1714500" cy="841248"/>
          </a:xfrm>
          <a:prstGeom prst="roundRect">
            <a:avLst>
              <a:gd name="adj" fmla="val 4348"/>
            </a:avLst>
          </a:prstGeom>
          <a:solidFill>
            <a:srgbClr val="F7F4FC"/>
          </a:solidFill>
          <a:ln w="12700">
            <a:solidFill>
              <a:srgbClr val="ECEAF3"/>
            </a:solidFill>
            <a:prstDash val="solid"/>
          </a:ln>
        </p:spPr>
      </p:sp>
      <p:sp>
        <p:nvSpPr>
          <p:cNvPr id="81" name="Text 76"/>
          <p:cNvSpPr txBox="1"/>
          <p:nvPr/>
        </p:nvSpPr>
        <p:spPr>
          <a:xfrm>
            <a:off x="10264140" y="4133088"/>
            <a:ext cx="1495044" cy="310896"/>
          </a:xfrm>
          <a:prstGeom prst="rect">
            <a:avLst/>
          </a:prstGeom>
          <a:noFill/>
          <a:ln/>
        </p:spPr>
        <p:txBody>
          <a:bodyPr wrap="square" lIns="0" tIns="0" rIns="0" bIns="0" rtlCol="0" anchor="ctr"/>
          <a:lstStyle/>
          <a:p>
            <a:pPr marL="0" indent="0">
              <a:buNone/>
            </a:pPr>
            <a:r>
              <a:rPr lang="en-US" sz="1900" b="1" dirty="0">
                <a:solidFill>
                  <a:srgbClr val="0A6E43"/>
                </a:solidFill>
                <a:latin typeface="Arial" pitchFamily="34" charset="0"/>
                <a:ea typeface="Arial" pitchFamily="34" charset="-122"/>
                <a:cs typeface="Arial" pitchFamily="34" charset="-120"/>
              </a:rPr>
              <a:t>0</a:t>
            </a:r>
            <a:endParaRPr lang="en-US" sz="1900" dirty="0"/>
          </a:p>
        </p:txBody>
      </p:sp>
      <p:sp>
        <p:nvSpPr>
          <p:cNvPr id="82" name="Text 77"/>
          <p:cNvSpPr txBox="1"/>
          <p:nvPr/>
        </p:nvSpPr>
        <p:spPr>
          <a:xfrm>
            <a:off x="10264140" y="4443984"/>
            <a:ext cx="1495044"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monotonicity violations</a:t>
            </a:r>
            <a:endParaRPr lang="en-US" sz="950" dirty="0"/>
          </a:p>
        </p:txBody>
      </p:sp>
      <p:sp>
        <p:nvSpPr>
          <p:cNvPr id="83" name="Text 78"/>
          <p:cNvSpPr txBox="1"/>
          <p:nvPr/>
        </p:nvSpPr>
        <p:spPr>
          <a:xfrm>
            <a:off x="10264140" y="4626864"/>
            <a:ext cx="1495044" cy="201168"/>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8 features × 1,200 held-out rows</a:t>
            </a:r>
            <a:endParaRPr lang="en-US" sz="900" dirty="0"/>
          </a:p>
        </p:txBody>
      </p:sp>
      <p:sp>
        <p:nvSpPr>
          <p:cNvPr id="84" name="Shape 79"/>
          <p:cNvSpPr/>
          <p:nvPr/>
        </p:nvSpPr>
        <p:spPr>
          <a:xfrm>
            <a:off x="8311896" y="4992624"/>
            <a:ext cx="1714500" cy="841248"/>
          </a:xfrm>
          <a:prstGeom prst="roundRect">
            <a:avLst>
              <a:gd name="adj" fmla="val 4348"/>
            </a:avLst>
          </a:prstGeom>
          <a:solidFill>
            <a:srgbClr val="F7F4FC"/>
          </a:solidFill>
          <a:ln w="12700">
            <a:solidFill>
              <a:srgbClr val="ECEAF3"/>
            </a:solidFill>
            <a:prstDash val="solid"/>
          </a:ln>
        </p:spPr>
      </p:sp>
      <p:sp>
        <p:nvSpPr>
          <p:cNvPr id="85" name="Text 80"/>
          <p:cNvSpPr txBox="1"/>
          <p:nvPr/>
        </p:nvSpPr>
        <p:spPr>
          <a:xfrm>
            <a:off x="8421624" y="5065776"/>
            <a:ext cx="1495044" cy="310896"/>
          </a:xfrm>
          <a:prstGeom prst="rect">
            <a:avLst/>
          </a:prstGeom>
          <a:noFill/>
          <a:ln/>
        </p:spPr>
        <p:txBody>
          <a:bodyPr wrap="square" lIns="0" tIns="0" rIns="0" bIns="0" rtlCol="0" anchor="ctr"/>
          <a:lstStyle/>
          <a:p>
            <a:pPr marL="0" indent="0">
              <a:buNone/>
            </a:pPr>
            <a:r>
              <a:rPr lang="en-US" sz="1900" b="1" dirty="0">
                <a:solidFill>
                  <a:srgbClr val="460073"/>
                </a:solidFill>
                <a:latin typeface="Arial" pitchFamily="34" charset="0"/>
                <a:ea typeface="Arial" pitchFamily="34" charset="-122"/>
                <a:cs typeface="Arial" pitchFamily="34" charset="-120"/>
              </a:rPr>
              <a:t>0.943</a:t>
            </a:r>
            <a:endParaRPr lang="en-US" sz="1900" dirty="0"/>
          </a:p>
        </p:txBody>
      </p:sp>
      <p:sp>
        <p:nvSpPr>
          <p:cNvPr id="86" name="Text 81"/>
          <p:cNvSpPr txBox="1"/>
          <p:nvPr/>
        </p:nvSpPr>
        <p:spPr>
          <a:xfrm>
            <a:off x="8421624" y="5376672"/>
            <a:ext cx="1495044"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held-out AUROC</a:t>
            </a:r>
            <a:endParaRPr lang="en-US" sz="950" dirty="0"/>
          </a:p>
        </p:txBody>
      </p:sp>
      <p:sp>
        <p:nvSpPr>
          <p:cNvPr id="87" name="Text 82"/>
          <p:cNvSpPr txBox="1"/>
          <p:nvPr/>
        </p:nvSpPr>
        <p:spPr>
          <a:xfrm>
            <a:off x="8421624" y="5559552"/>
            <a:ext cx="1495044" cy="201168"/>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AUPRC 0.838 · Brier 0.058 · logistic baseline 0.934</a:t>
            </a:r>
            <a:endParaRPr lang="en-US" sz="900" dirty="0"/>
          </a:p>
        </p:txBody>
      </p:sp>
      <p:sp>
        <p:nvSpPr>
          <p:cNvPr id="88" name="Shape 83"/>
          <p:cNvSpPr/>
          <p:nvPr/>
        </p:nvSpPr>
        <p:spPr>
          <a:xfrm>
            <a:off x="10154412" y="4992624"/>
            <a:ext cx="1714500" cy="841248"/>
          </a:xfrm>
          <a:prstGeom prst="roundRect">
            <a:avLst>
              <a:gd name="adj" fmla="val 4348"/>
            </a:avLst>
          </a:prstGeom>
          <a:solidFill>
            <a:srgbClr val="F7F4FC"/>
          </a:solidFill>
          <a:ln w="12700">
            <a:solidFill>
              <a:srgbClr val="ECEAF3"/>
            </a:solidFill>
            <a:prstDash val="solid"/>
          </a:ln>
        </p:spPr>
      </p:sp>
      <p:sp>
        <p:nvSpPr>
          <p:cNvPr id="89" name="Text 84"/>
          <p:cNvSpPr txBox="1"/>
          <p:nvPr/>
        </p:nvSpPr>
        <p:spPr>
          <a:xfrm>
            <a:off x="10264140" y="5065776"/>
            <a:ext cx="1495044" cy="310896"/>
          </a:xfrm>
          <a:prstGeom prst="rect">
            <a:avLst/>
          </a:prstGeom>
          <a:noFill/>
          <a:ln/>
        </p:spPr>
        <p:txBody>
          <a:bodyPr wrap="square" lIns="0" tIns="0" rIns="0" bIns="0" rtlCol="0" anchor="ctr"/>
          <a:lstStyle/>
          <a:p>
            <a:pPr marL="0" indent="0">
              <a:buNone/>
            </a:pPr>
            <a:r>
              <a:rPr lang="en-US" sz="1900" b="1" dirty="0">
                <a:solidFill>
                  <a:srgbClr val="8F5300"/>
                </a:solidFill>
                <a:latin typeface="Arial" pitchFamily="34" charset="0"/>
                <a:ea typeface="Arial" pitchFamily="34" charset="-122"/>
                <a:cs typeface="Arial" pitchFamily="34" charset="-120"/>
              </a:rPr>
              <a:t>3.0%</a:t>
            </a:r>
            <a:endParaRPr lang="en-US" sz="1900" dirty="0"/>
          </a:p>
        </p:txBody>
      </p:sp>
      <p:sp>
        <p:nvSpPr>
          <p:cNvPr id="90" name="Text 85"/>
          <p:cNvSpPr txBox="1"/>
          <p:nvPr/>
        </p:nvSpPr>
        <p:spPr>
          <a:xfrm>
            <a:off x="10264140" y="5376672"/>
            <a:ext cx="1495044"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encounters abstain</a:t>
            </a:r>
            <a:endParaRPr lang="en-US" sz="950" dirty="0"/>
          </a:p>
        </p:txBody>
      </p:sp>
      <p:sp>
        <p:nvSpPr>
          <p:cNvPr id="91" name="Text 86"/>
          <p:cNvSpPr txBox="1"/>
          <p:nvPr/>
        </p:nvSpPr>
        <p:spPr>
          <a:xfrm>
            <a:off x="10264140" y="5559552"/>
            <a:ext cx="1495044" cy="201168"/>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confidence below 0.50 routes to a clinician</a:t>
            </a:r>
            <a:endParaRPr lang="en-US" sz="900" dirty="0"/>
          </a:p>
        </p:txBody>
      </p:sp>
      <p:sp>
        <p:nvSpPr>
          <p:cNvPr id="92" name="Shape 87"/>
          <p:cNvSpPr/>
          <p:nvPr/>
        </p:nvSpPr>
        <p:spPr>
          <a:xfrm>
            <a:off x="8311896" y="5943600"/>
            <a:ext cx="2103120" cy="219456"/>
          </a:xfrm>
          <a:prstGeom prst="roundRect">
            <a:avLst>
              <a:gd name="adj" fmla="val 208333"/>
            </a:avLst>
          </a:prstGeom>
          <a:solidFill>
            <a:srgbClr val="FDF2E0"/>
          </a:solidFill>
          <a:ln w="12700">
            <a:solidFill>
              <a:srgbClr val="8F5300"/>
            </a:solidFill>
            <a:prstDash val="solid"/>
          </a:ln>
        </p:spPr>
      </p:sp>
      <p:sp>
        <p:nvSpPr>
          <p:cNvPr id="93" name="Text 88"/>
          <p:cNvSpPr txBox="1"/>
          <p:nvPr/>
        </p:nvSpPr>
        <p:spPr>
          <a:xfrm>
            <a:off x="8311896" y="5943600"/>
            <a:ext cx="2103120" cy="219456"/>
          </a:xfrm>
          <a:prstGeom prst="rect">
            <a:avLst/>
          </a:prstGeom>
          <a:noFill/>
          <a:ln/>
        </p:spPr>
        <p:txBody>
          <a:bodyPr wrap="square" lIns="0" tIns="0" rIns="0" bIns="0" rtlCol="0" anchor="ctr"/>
          <a:lstStyle/>
          <a:p>
            <a:pPr marL="0" indent="0" algn="ctr">
              <a:buNone/>
            </a:pPr>
            <a:r>
              <a:rPr lang="en-US" sz="850" b="1" kern="0" spc="40" dirty="0">
                <a:solidFill>
                  <a:srgbClr val="8F5300"/>
                </a:solidFill>
                <a:latin typeface="Arial" pitchFamily="34" charset="0"/>
                <a:ea typeface="Arial" pitchFamily="34" charset="-122"/>
                <a:cs typeface="Arial" pitchFamily="34" charset="-120"/>
              </a:rPr>
              <a:t>SYNTHETIC · NOT CLINICAL</a:t>
            </a:r>
            <a:endParaRPr lang="en-US" sz="850" dirty="0"/>
          </a:p>
        </p:txBody>
      </p:sp>
      <p:sp>
        <p:nvSpPr>
          <p:cNvPr id="94" name="Text 89"/>
          <p:cNvSpPr txBox="1"/>
          <p:nvPr/>
        </p:nvSpPr>
        <p:spPr>
          <a:xfrm>
            <a:off x="8311896" y="6199632"/>
            <a:ext cx="3557016" cy="402336"/>
          </a:xfrm>
          <a:prstGeom prst="rect">
            <a:avLst/>
          </a:prstGeom>
          <a:noFill/>
          <a:ln/>
        </p:spPr>
        <p:txBody>
          <a:bodyPr wrap="square" lIns="0" tIns="0" rIns="0" bIns="0" rtlCol="0" anchor="ctr"/>
          <a:lstStyle/>
          <a:p>
            <a:pPr marL="0" indent="0">
              <a:lnSpc>
                <a:spcPct val="104000"/>
              </a:lnSpc>
              <a:buNone/>
            </a:pPr>
            <a:r>
              <a:rPr lang="en-US" sz="850" dirty="0">
                <a:solidFill>
                  <a:srgbClr val="5F5F6B"/>
                </a:solidFill>
                <a:latin typeface="Calibri" pitchFamily="34" charset="0"/>
                <a:ea typeface="Calibri" pitchFamily="34" charset="-122"/>
                <a:cs typeface="Calibri" pitchFamily="34" charset="-120"/>
              </a:rPr>
              <a:t>Ground truth is constructed at generation, independent of the engine — these figures show the architecture behaves as designed, not that it helps patients.</a:t>
            </a:r>
            <a:endParaRPr lang="en-US" sz="850" dirty="0"/>
          </a:p>
        </p:txBody>
      </p:sp>
      <p:sp>
        <p:nvSpPr>
          <p:cNvPr id="95" name="Text 90"/>
          <p:cNvSpPr txBox="1"/>
          <p:nvPr/>
        </p:nvSpPr>
        <p:spPr>
          <a:xfrm>
            <a:off x="201168" y="6711696"/>
            <a:ext cx="11789359" cy="146304"/>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Text 3"/>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PROBLEM</a:t>
            </a:r>
            <a:endParaRPr lang="en-US" sz="1050" dirty="0"/>
          </a:p>
        </p:txBody>
      </p:sp>
      <p:sp>
        <p:nvSpPr>
          <p:cNvPr id="6" name="Text 4"/>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INSIGHT</a:t>
            </a:r>
            <a:endParaRPr lang="en-US" sz="1050" dirty="0"/>
          </a:p>
        </p:txBody>
      </p:sp>
      <p:sp>
        <p:nvSpPr>
          <p:cNvPr id="7" name="Shape 5"/>
          <p:cNvSpPr/>
          <p:nvPr/>
        </p:nvSpPr>
        <p:spPr>
          <a:xfrm>
            <a:off x="3409406" y="0"/>
            <a:ext cx="1338943" cy="402336"/>
          </a:xfrm>
          <a:prstGeom prst="rect">
            <a:avLst/>
          </a:prstGeom>
          <a:solidFill>
            <a:srgbClr val="460073"/>
          </a:solidFill>
          <a:ln w="12700">
            <a:solidFill>
              <a:srgbClr val="460073"/>
            </a:solidFill>
            <a:prstDash val="solid"/>
          </a:ln>
        </p:spPr>
      </p:sp>
      <p:sp>
        <p:nvSpPr>
          <p:cNvPr id="8" name="Text 6"/>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SOLUTION</a:t>
            </a:r>
            <a:endParaRPr lang="en-US" sz="1100" dirty="0"/>
          </a:p>
        </p:txBody>
      </p:sp>
      <p:sp>
        <p:nvSpPr>
          <p:cNvPr id="9" name="Text 7"/>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PRODUCT</a:t>
            </a:r>
            <a:endParaRPr lang="en-US" sz="1050" dirty="0"/>
          </a:p>
        </p:txBody>
      </p:sp>
      <p:sp>
        <p:nvSpPr>
          <p:cNvPr id="10" name="Text 8"/>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ARCHITECTURE</a:t>
            </a:r>
            <a:endParaRPr lang="en-US" sz="1050" dirty="0"/>
          </a:p>
        </p:txBody>
      </p:sp>
      <p:sp>
        <p:nvSpPr>
          <p:cNvPr id="11" name="Text 9"/>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IMPACT</a:t>
            </a:r>
            <a:endParaRPr lang="en-US" sz="1050" dirty="0"/>
          </a:p>
        </p:txBody>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EXECUTION</a:t>
            </a:r>
            <a:endParaRPr lang="en-US" sz="105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201168" y="530352"/>
            <a:ext cx="4983480" cy="3840480"/>
          </a:xfrm>
          <a:prstGeom prst="rect">
            <a:avLst/>
          </a:prstGeom>
          <a:solidFill>
            <a:srgbClr val="FFFFFF"/>
          </a:solidFill>
          <a:ln w="12700">
            <a:solidFill>
              <a:srgbClr val="D9D6E3"/>
            </a:solidFill>
            <a:prstDash val="solid"/>
          </a:ln>
        </p:spPr>
      </p:sp>
      <p:sp>
        <p:nvSpPr>
          <p:cNvPr id="15" name="Shape 13"/>
          <p:cNvSpPr/>
          <p:nvPr/>
        </p:nvSpPr>
        <p:spPr>
          <a:xfrm>
            <a:off x="201168" y="530352"/>
            <a:ext cx="4983480" cy="274320"/>
          </a:xfrm>
          <a:prstGeom prst="rect">
            <a:avLst/>
          </a:prstGeom>
          <a:solidFill>
            <a:srgbClr val="5C0099"/>
          </a:solidFill>
          <a:ln w="12700">
            <a:solidFill>
              <a:srgbClr val="5C0099"/>
            </a:solidFill>
            <a:prstDash val="solid"/>
          </a:ln>
        </p:spPr>
      </p:sp>
      <p:sp>
        <p:nvSpPr>
          <p:cNvPr id="16" name="Text 14"/>
          <p:cNvSpPr txBox="1"/>
          <p:nvPr/>
        </p:nvSpPr>
        <p:spPr>
          <a:xfrm>
            <a:off x="201168" y="530352"/>
            <a:ext cx="498348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THE DETERMINISTIC ACUITY FLOOR</a:t>
            </a:r>
            <a:endParaRPr lang="en-US" sz="1050" dirty="0"/>
          </a:p>
        </p:txBody>
      </p:sp>
      <p:sp>
        <p:nvSpPr>
          <p:cNvPr id="17" name="Shape 15"/>
          <p:cNvSpPr/>
          <p:nvPr/>
        </p:nvSpPr>
        <p:spPr>
          <a:xfrm>
            <a:off x="320040" y="896112"/>
            <a:ext cx="4745736" cy="566928"/>
          </a:xfrm>
          <a:prstGeom prst="roundRect">
            <a:avLst>
              <a:gd name="adj" fmla="val 6452"/>
            </a:avLst>
          </a:prstGeom>
          <a:solidFill>
            <a:srgbClr val="FBEAEB"/>
          </a:solidFill>
          <a:ln w="12700">
            <a:solidFill>
              <a:srgbClr val="FBEAEB"/>
            </a:solidFill>
            <a:prstDash val="solid"/>
          </a:ln>
        </p:spPr>
      </p:sp>
      <p:pic>
        <p:nvPicPr>
          <p:cNvPr id="18" name="Image 0" descr="/home/claude/deck/icons/LuActivity_red.png"/>
          <p:cNvPicPr>
            <a:picLocks noChangeAspect="1"/>
          </p:cNvPicPr>
          <p:nvPr/>
        </p:nvPicPr>
        <p:blipFill>
          <a:blip r:embed="rId3"/>
          <a:stretch>
            <a:fillRect/>
          </a:stretch>
        </p:blipFill>
        <p:spPr>
          <a:xfrm>
            <a:off x="411480" y="1042416"/>
            <a:ext cx="237744" cy="237744"/>
          </a:xfrm>
          <a:prstGeom prst="rect">
            <a:avLst/>
          </a:prstGeom>
        </p:spPr>
      </p:pic>
      <p:sp>
        <p:nvSpPr>
          <p:cNvPr id="19" name="Text 16"/>
          <p:cNvSpPr txBox="1"/>
          <p:nvPr/>
        </p:nvSpPr>
        <p:spPr>
          <a:xfrm>
            <a:off x="722376" y="987552"/>
            <a:ext cx="2377440" cy="182880"/>
          </a:xfrm>
          <a:prstGeom prst="rect">
            <a:avLst/>
          </a:prstGeom>
          <a:noFill/>
          <a:ln/>
        </p:spPr>
        <p:txBody>
          <a:bodyPr wrap="square" lIns="0" tIns="0" rIns="0" bIns="0" rtlCol="0" anchor="ctr"/>
          <a:lstStyle/>
          <a:p>
            <a:pPr marL="0" indent="0">
              <a:buNone/>
            </a:pPr>
            <a:r>
              <a:rPr lang="en-US" sz="900" b="1" kern="0" spc="80" dirty="0">
                <a:solidFill>
                  <a:srgbClr val="B81C26"/>
                </a:solidFill>
                <a:latin typeface="Arial" pitchFamily="34" charset="0"/>
                <a:ea typeface="Arial" pitchFamily="34" charset="-122"/>
                <a:cs typeface="Arial" pitchFamily="34" charset="-120"/>
              </a:rPr>
              <a:t>MACHINE LEARNING</a:t>
            </a:r>
            <a:endParaRPr lang="en-US" sz="900" dirty="0"/>
          </a:p>
        </p:txBody>
      </p:sp>
      <p:sp>
        <p:nvSpPr>
          <p:cNvPr id="20" name="Text 17"/>
          <p:cNvSpPr txBox="1"/>
          <p:nvPr/>
        </p:nvSpPr>
        <p:spPr>
          <a:xfrm>
            <a:off x="722376" y="1188720"/>
            <a:ext cx="4251960" cy="201168"/>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Monotonic GBM finds hidden risk the rules cannot see.</a:t>
            </a:r>
            <a:endParaRPr lang="en-US" sz="900" dirty="0"/>
          </a:p>
        </p:txBody>
      </p:sp>
      <p:pic>
        <p:nvPicPr>
          <p:cNvPr id="21" name="Image 1" descr="/home/claude/deck/icons/LuArrowUp_red.png"/>
          <p:cNvPicPr>
            <a:picLocks noChangeAspect="1"/>
          </p:cNvPicPr>
          <p:nvPr/>
        </p:nvPicPr>
        <p:blipFill>
          <a:blip r:embed="rId4"/>
          <a:stretch>
            <a:fillRect/>
          </a:stretch>
        </p:blipFill>
        <p:spPr>
          <a:xfrm>
            <a:off x="411480" y="1536192"/>
            <a:ext cx="219456" cy="219456"/>
          </a:xfrm>
          <a:prstGeom prst="rect">
            <a:avLst/>
          </a:prstGeom>
        </p:spPr>
      </p:pic>
      <p:sp>
        <p:nvSpPr>
          <p:cNvPr id="22" name="Text 18"/>
          <p:cNvSpPr txBox="1"/>
          <p:nvPr/>
        </p:nvSpPr>
        <p:spPr>
          <a:xfrm>
            <a:off x="722376" y="1554480"/>
            <a:ext cx="2011680" cy="182880"/>
          </a:xfrm>
          <a:prstGeom prst="rect">
            <a:avLst/>
          </a:prstGeom>
          <a:noFill/>
          <a:ln/>
        </p:spPr>
        <p:txBody>
          <a:bodyPr wrap="square" lIns="0" tIns="0" rIns="0" bIns="0" rtlCol="0" anchor="ctr"/>
          <a:lstStyle/>
          <a:p>
            <a:pPr marL="0" indent="0">
              <a:buNone/>
            </a:pPr>
            <a:r>
              <a:rPr lang="en-US" sz="950" b="1" dirty="0">
                <a:solidFill>
                  <a:srgbClr val="B81C26"/>
                </a:solidFill>
                <a:latin typeface="Arial" pitchFamily="34" charset="0"/>
                <a:ea typeface="Arial" pitchFamily="34" charset="-122"/>
                <a:cs typeface="Arial" pitchFamily="34" charset="-120"/>
              </a:rPr>
              <a:t>MAY RAISE ACUITY</a:t>
            </a:r>
            <a:endParaRPr lang="en-US" sz="950" dirty="0"/>
          </a:p>
        </p:txBody>
      </p:sp>
      <p:sp>
        <p:nvSpPr>
          <p:cNvPr id="23" name="Text 19"/>
          <p:cNvSpPr txBox="1"/>
          <p:nvPr/>
        </p:nvSpPr>
        <p:spPr>
          <a:xfrm>
            <a:off x="2697480" y="1563624"/>
            <a:ext cx="2368296" cy="182880"/>
          </a:xfrm>
          <a:prstGeom prst="rect">
            <a:avLst/>
          </a:prstGeom>
          <a:noFill/>
          <a:ln/>
        </p:spPr>
        <p:txBody>
          <a:bodyPr wrap="square" lIns="0" tIns="0" rIns="0" bIns="0" rtlCol="0" anchor="ctr"/>
          <a:lstStyle/>
          <a:p>
            <a:pPr marL="0" indent="0" algn="r">
              <a:buNone/>
            </a:pPr>
            <a:r>
              <a:rPr lang="en-US" sz="880" dirty="0">
                <a:solidFill>
                  <a:srgbClr val="5F5F6B"/>
                </a:solidFill>
                <a:latin typeface="Calibri" pitchFamily="34" charset="0"/>
                <a:ea typeface="Calibri" pitchFamily="34" charset="-122"/>
                <a:cs typeface="Calibri" pitchFamily="34" charset="-120"/>
              </a:rPr>
              <a:t>ESI-4 → ESI-2, without asking permission</a:t>
            </a:r>
            <a:endParaRPr lang="en-US" sz="880" dirty="0"/>
          </a:p>
        </p:txBody>
      </p:sp>
      <p:sp>
        <p:nvSpPr>
          <p:cNvPr id="24" name="Shape 20"/>
          <p:cNvSpPr/>
          <p:nvPr/>
        </p:nvSpPr>
        <p:spPr>
          <a:xfrm>
            <a:off x="320040" y="1828800"/>
            <a:ext cx="4745736" cy="676656"/>
          </a:xfrm>
          <a:prstGeom prst="roundRect">
            <a:avLst>
              <a:gd name="adj" fmla="val 5405"/>
            </a:avLst>
          </a:prstGeom>
          <a:solidFill>
            <a:srgbClr val="E6F3EC"/>
          </a:solidFill>
          <a:ln w="12700">
            <a:solidFill>
              <a:srgbClr val="0A6E43"/>
            </a:solidFill>
            <a:prstDash val="solid"/>
          </a:ln>
        </p:spPr>
      </p:sp>
      <p:sp>
        <p:nvSpPr>
          <p:cNvPr id="25" name="Text 21"/>
          <p:cNvSpPr txBox="1"/>
          <p:nvPr/>
        </p:nvSpPr>
        <p:spPr>
          <a:xfrm>
            <a:off x="448056" y="1920240"/>
            <a:ext cx="3108960" cy="237744"/>
          </a:xfrm>
          <a:prstGeom prst="rect">
            <a:avLst/>
          </a:prstGeom>
          <a:noFill/>
          <a:ln/>
        </p:spPr>
        <p:txBody>
          <a:bodyPr wrap="square" lIns="0" tIns="0" rIns="0" bIns="0" rtlCol="0" anchor="ctr"/>
          <a:lstStyle/>
          <a:p>
            <a:pPr marL="0" indent="0">
              <a:buNone/>
            </a:pPr>
            <a:r>
              <a:rPr lang="en-US" sz="1300" b="1" dirty="0">
                <a:solidFill>
                  <a:srgbClr val="0A6E43"/>
                </a:solidFill>
                <a:latin typeface="Arial" pitchFamily="34" charset="0"/>
                <a:ea typeface="Arial" pitchFamily="34" charset="-122"/>
                <a:cs typeface="Arial" pitchFamily="34" charset="-120"/>
              </a:rPr>
              <a:t>DETERMINISTIC ACUITY FLOOR</a:t>
            </a:r>
            <a:endParaRPr lang="en-US" sz="1300" dirty="0"/>
          </a:p>
        </p:txBody>
      </p:sp>
      <p:sp>
        <p:nvSpPr>
          <p:cNvPr id="26" name="Text 22"/>
          <p:cNvSpPr txBox="1"/>
          <p:nvPr/>
        </p:nvSpPr>
        <p:spPr>
          <a:xfrm>
            <a:off x="448056" y="2176272"/>
            <a:ext cx="3566160" cy="219456"/>
          </a:xfrm>
          <a:prstGeom prst="rect">
            <a:avLst/>
          </a:prstGeom>
          <a:noFill/>
          <a:ln/>
        </p:spPr>
        <p:txBody>
          <a:bodyPr wrap="square" lIns="0" tIns="0" rIns="0" bIns="0" rtlCol="0" anchor="ctr"/>
          <a:lstStyle/>
          <a:p>
            <a:pPr marL="0" indent="0">
              <a:buNone/>
            </a:pPr>
            <a:r>
              <a:rPr lang="en-US" sz="880" dirty="0">
                <a:solidFill>
                  <a:srgbClr val="2E2E36"/>
                </a:solidFill>
                <a:latin typeface="Calibri" pitchFamily="34" charset="0"/>
                <a:ea typeface="Calibri" pitchFamily="34" charset="-122"/>
                <a:cs typeface="Calibri" pitchFamily="34" charset="-120"/>
              </a:rPr>
              <a:t>ESI Point A · red-flag rules · age &amp; history modifiers · NEWS2 five bands</a:t>
            </a:r>
            <a:endParaRPr lang="en-US" sz="880" dirty="0"/>
          </a:p>
        </p:txBody>
      </p:sp>
      <p:sp>
        <p:nvSpPr>
          <p:cNvPr id="27" name="Shape 23"/>
          <p:cNvSpPr/>
          <p:nvPr/>
        </p:nvSpPr>
        <p:spPr>
          <a:xfrm>
            <a:off x="4151376" y="1975104"/>
            <a:ext cx="804672" cy="310896"/>
          </a:xfrm>
          <a:prstGeom prst="roundRect">
            <a:avLst>
              <a:gd name="adj" fmla="val 147059"/>
            </a:avLst>
          </a:prstGeom>
          <a:solidFill>
            <a:srgbClr val="E6F3EC"/>
          </a:solidFill>
          <a:ln w="12700">
            <a:solidFill>
              <a:srgbClr val="0A6E43"/>
            </a:solidFill>
            <a:prstDash val="solid"/>
          </a:ln>
        </p:spPr>
      </p:sp>
      <p:sp>
        <p:nvSpPr>
          <p:cNvPr id="28" name="Text 24"/>
          <p:cNvSpPr txBox="1"/>
          <p:nvPr/>
        </p:nvSpPr>
        <p:spPr>
          <a:xfrm>
            <a:off x="4151376" y="1975104"/>
            <a:ext cx="804672" cy="310896"/>
          </a:xfrm>
          <a:prstGeom prst="rect">
            <a:avLst/>
          </a:prstGeom>
          <a:noFill/>
          <a:ln/>
        </p:spPr>
        <p:txBody>
          <a:bodyPr wrap="square" lIns="0" tIns="0" rIns="0" bIns="0" rtlCol="0" anchor="ctr"/>
          <a:lstStyle/>
          <a:p>
            <a:pPr marL="0" indent="0" algn="ctr">
              <a:buNone/>
            </a:pPr>
            <a:r>
              <a:rPr lang="en-US" sz="1100" b="1" kern="0" spc="40" dirty="0">
                <a:solidFill>
                  <a:srgbClr val="0A6E43"/>
                </a:solidFill>
                <a:latin typeface="Arial" pitchFamily="34" charset="0"/>
                <a:ea typeface="Arial" pitchFamily="34" charset="-122"/>
                <a:cs typeface="Arial" pitchFamily="34" charset="-120"/>
              </a:rPr>
              <a:t>min ( )</a:t>
            </a:r>
            <a:endParaRPr lang="en-US" sz="1100" dirty="0"/>
          </a:p>
        </p:txBody>
      </p:sp>
      <p:pic>
        <p:nvPicPr>
          <p:cNvPr id="29" name="Image 2" descr="/home/claude/deck/icons/LuCircleSlash_mut.png"/>
          <p:cNvPicPr>
            <a:picLocks noChangeAspect="1"/>
          </p:cNvPicPr>
          <p:nvPr/>
        </p:nvPicPr>
        <p:blipFill>
          <a:blip r:embed="rId5"/>
          <a:stretch>
            <a:fillRect/>
          </a:stretch>
        </p:blipFill>
        <p:spPr>
          <a:xfrm>
            <a:off x="411480" y="2596896"/>
            <a:ext cx="219456" cy="219456"/>
          </a:xfrm>
          <a:prstGeom prst="rect">
            <a:avLst/>
          </a:prstGeom>
        </p:spPr>
      </p:pic>
      <p:sp>
        <p:nvSpPr>
          <p:cNvPr id="30" name="Text 25"/>
          <p:cNvSpPr txBox="1"/>
          <p:nvPr/>
        </p:nvSpPr>
        <p:spPr>
          <a:xfrm>
            <a:off x="722376" y="2615184"/>
            <a:ext cx="2743200" cy="182880"/>
          </a:xfrm>
          <a:prstGeom prst="rect">
            <a:avLst/>
          </a:prstGeom>
          <a:noFill/>
          <a:ln/>
        </p:spPr>
        <p:txBody>
          <a:bodyPr wrap="square" lIns="0" tIns="0" rIns="0" bIns="0" rtlCol="0" anchor="ctr"/>
          <a:lstStyle/>
          <a:p>
            <a:pPr marL="0" indent="0">
              <a:buNone/>
            </a:pPr>
            <a:r>
              <a:rPr lang="en-US" sz="950" b="1" dirty="0">
                <a:solidFill>
                  <a:srgbClr val="5F5F6B"/>
                </a:solidFill>
                <a:latin typeface="Arial" pitchFamily="34" charset="0"/>
                <a:ea typeface="Arial" pitchFamily="34" charset="-122"/>
                <a:cs typeface="Arial" pitchFamily="34" charset="-120"/>
              </a:rPr>
              <a:t>NO PATH DOWN EXISTS IN CODE</a:t>
            </a:r>
            <a:endParaRPr lang="en-US" sz="950" dirty="0"/>
          </a:p>
        </p:txBody>
      </p:sp>
      <p:sp>
        <p:nvSpPr>
          <p:cNvPr id="31" name="Text 26"/>
          <p:cNvSpPr txBox="1"/>
          <p:nvPr/>
        </p:nvSpPr>
        <p:spPr>
          <a:xfrm>
            <a:off x="3063240" y="2624328"/>
            <a:ext cx="2002536" cy="182880"/>
          </a:xfrm>
          <a:prstGeom prst="rect">
            <a:avLst/>
          </a:prstGeom>
          <a:noFill/>
          <a:ln/>
        </p:spPr>
        <p:txBody>
          <a:bodyPr wrap="square" lIns="0" tIns="0" rIns="0" bIns="0" rtlCol="0" anchor="ctr"/>
          <a:lstStyle/>
          <a:p>
            <a:pPr marL="0" indent="0" algn="r">
              <a:buNone/>
            </a:pPr>
            <a:r>
              <a:rPr lang="en-US" sz="880" dirty="0">
                <a:solidFill>
                  <a:srgbClr val="5F5F6B"/>
                </a:solidFill>
                <a:latin typeface="Calibri" pitchFamily="34" charset="0"/>
                <a:ea typeface="Calibri" pitchFamily="34" charset="-122"/>
                <a:cs typeface="Calibri" pitchFamily="34" charset="-120"/>
              </a:rPr>
              <a:t>No component can lower a level</a:t>
            </a:r>
            <a:endParaRPr lang="en-US" sz="880" dirty="0"/>
          </a:p>
        </p:txBody>
      </p:sp>
      <p:sp>
        <p:nvSpPr>
          <p:cNvPr id="32" name="Shape 27"/>
          <p:cNvSpPr/>
          <p:nvPr/>
        </p:nvSpPr>
        <p:spPr>
          <a:xfrm>
            <a:off x="320040" y="2889504"/>
            <a:ext cx="4745736" cy="566928"/>
          </a:xfrm>
          <a:prstGeom prst="roundRect">
            <a:avLst>
              <a:gd name="adj" fmla="val 6452"/>
            </a:avLst>
          </a:prstGeom>
          <a:solidFill>
            <a:srgbClr val="F4ECFE"/>
          </a:solidFill>
          <a:ln w="12700">
            <a:solidFill>
              <a:srgbClr val="F4ECFE"/>
            </a:solidFill>
            <a:prstDash val="solid"/>
          </a:ln>
        </p:spPr>
      </p:sp>
      <p:pic>
        <p:nvPicPr>
          <p:cNvPr id="33" name="Image 3" descr="/home/claude/deck/icons/LuStethoscope_pur.png"/>
          <p:cNvPicPr>
            <a:picLocks noChangeAspect="1"/>
          </p:cNvPicPr>
          <p:nvPr/>
        </p:nvPicPr>
        <p:blipFill>
          <a:blip r:embed="rId6"/>
          <a:stretch>
            <a:fillRect/>
          </a:stretch>
        </p:blipFill>
        <p:spPr>
          <a:xfrm>
            <a:off x="411480" y="3035808"/>
            <a:ext cx="237744" cy="237744"/>
          </a:xfrm>
          <a:prstGeom prst="rect">
            <a:avLst/>
          </a:prstGeom>
        </p:spPr>
      </p:pic>
      <p:sp>
        <p:nvSpPr>
          <p:cNvPr id="34" name="Text 28"/>
          <p:cNvSpPr txBox="1"/>
          <p:nvPr/>
        </p:nvSpPr>
        <p:spPr>
          <a:xfrm>
            <a:off x="722376" y="2980944"/>
            <a:ext cx="3657600" cy="182880"/>
          </a:xfrm>
          <a:prstGeom prst="rect">
            <a:avLst/>
          </a:prstGeom>
          <a:noFill/>
          <a:ln/>
        </p:spPr>
        <p:txBody>
          <a:bodyPr wrap="square" lIns="0" tIns="0" rIns="0" bIns="0" rtlCol="0" anchor="ctr"/>
          <a:lstStyle/>
          <a:p>
            <a:pPr marL="0" indent="0">
              <a:buNone/>
            </a:pPr>
            <a:r>
              <a:rPr lang="en-US" sz="900" b="1" dirty="0">
                <a:solidFill>
                  <a:srgbClr val="460073"/>
                </a:solidFill>
                <a:latin typeface="Arial" pitchFamily="34" charset="0"/>
                <a:ea typeface="Arial" pitchFamily="34" charset="-122"/>
                <a:cs typeface="Arial" pitchFamily="34" charset="-120"/>
              </a:rPr>
              <a:t>LICENSED CLINICIAN — THE ONLY DOWNWARD PATH</a:t>
            </a:r>
            <a:endParaRPr lang="en-US" sz="900" dirty="0"/>
          </a:p>
        </p:txBody>
      </p:sp>
      <p:sp>
        <p:nvSpPr>
          <p:cNvPr id="35" name="Text 29"/>
          <p:cNvSpPr txBox="1"/>
          <p:nvPr/>
        </p:nvSpPr>
        <p:spPr>
          <a:xfrm>
            <a:off x="722376" y="3182112"/>
            <a:ext cx="4251960" cy="201168"/>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Reason code plus re-measured evidence, under their licence number.</a:t>
            </a:r>
            <a:endParaRPr lang="en-US" sz="900" dirty="0"/>
          </a:p>
        </p:txBody>
      </p:sp>
      <p:sp>
        <p:nvSpPr>
          <p:cNvPr id="36" name="Shape 30"/>
          <p:cNvSpPr/>
          <p:nvPr/>
        </p:nvSpPr>
        <p:spPr>
          <a:xfrm>
            <a:off x="320040" y="3566160"/>
            <a:ext cx="4745736" cy="310896"/>
          </a:xfrm>
          <a:prstGeom prst="rect">
            <a:avLst/>
          </a:prstGeom>
          <a:solidFill>
            <a:srgbClr val="460073"/>
          </a:solidFill>
          <a:ln w="12700">
            <a:solidFill>
              <a:srgbClr val="460073"/>
            </a:solidFill>
            <a:prstDash val="solid"/>
          </a:ln>
        </p:spPr>
      </p:sp>
      <p:sp>
        <p:nvSpPr>
          <p:cNvPr id="37" name="Text 31"/>
          <p:cNvSpPr txBox="1"/>
          <p:nvPr/>
        </p:nvSpPr>
        <p:spPr>
          <a:xfrm>
            <a:off x="320040" y="3566160"/>
            <a:ext cx="4745736" cy="310896"/>
          </a:xfrm>
          <a:prstGeom prst="rect">
            <a:avLst/>
          </a:prstGeom>
          <a:noFill/>
          <a:ln/>
        </p:spPr>
        <p:txBody>
          <a:bodyPr wrap="square" lIns="0" tIns="0" rIns="0" bIns="0" rtlCol="0" anchor="ctr"/>
          <a:lstStyle/>
          <a:p>
            <a:pPr marL="0" indent="0" algn="ctr">
              <a:buNone/>
            </a:pPr>
            <a:r>
              <a:rPr lang="en-US" sz="1050" b="1" kern="0" spc="80" dirty="0">
                <a:solidFill>
                  <a:srgbClr val="FFFFFF"/>
                </a:solidFill>
                <a:latin typeface="Arial" pitchFamily="34" charset="0"/>
                <a:ea typeface="Arial" pitchFamily="34" charset="-122"/>
                <a:cs typeface="Arial" pitchFamily="34" charset="-120"/>
              </a:rPr>
              <a:t>THE INVARIANT · MAY RAISE, NEVER LOWER</a:t>
            </a:r>
            <a:endParaRPr lang="en-US" sz="1050" dirty="0"/>
          </a:p>
        </p:txBody>
      </p:sp>
      <p:sp>
        <p:nvSpPr>
          <p:cNvPr id="38" name="Text 32"/>
          <p:cNvSpPr txBox="1"/>
          <p:nvPr/>
        </p:nvSpPr>
        <p:spPr>
          <a:xfrm>
            <a:off x="320040" y="3950208"/>
            <a:ext cx="4745736" cy="402336"/>
          </a:xfrm>
          <a:prstGeom prst="rect">
            <a:avLst/>
          </a:prstGeom>
          <a:noFill/>
          <a:ln/>
        </p:spPr>
        <p:txBody>
          <a:bodyPr wrap="square" lIns="0" tIns="0" rIns="0" bIns="0" rtlCol="0" anchor="ctr"/>
          <a:lstStyle/>
          <a:p>
            <a:pPr marL="0" indent="0">
              <a:lnSpc>
                <a:spcPct val="105000"/>
              </a:lnSpc>
              <a:buNone/>
            </a:pPr>
            <a:r>
              <a:rPr lang="en-US" sz="900" dirty="0">
                <a:solidFill>
                  <a:srgbClr val="2E2E36"/>
                </a:solidFill>
                <a:latin typeface="Calibri" pitchFamily="34" charset="0"/>
                <a:ea typeface="Calibri" pitchFamily="34" charset="-122"/>
                <a:cs typeface="Calibri" pitchFamily="34" charset="-120"/>
              </a:rPr>
              <a:t>The system is allowed to be cautious. It is not allowed to be falsely reassuring and that is a property of the code, not of the training run.</a:t>
            </a:r>
            <a:endParaRPr lang="en-US" sz="900" dirty="0"/>
          </a:p>
        </p:txBody>
      </p:sp>
      <p:sp>
        <p:nvSpPr>
          <p:cNvPr id="39" name="Shape 33"/>
          <p:cNvSpPr/>
          <p:nvPr/>
        </p:nvSpPr>
        <p:spPr>
          <a:xfrm>
            <a:off x="201168" y="4553712"/>
            <a:ext cx="4983480" cy="2103120"/>
          </a:xfrm>
          <a:prstGeom prst="rect">
            <a:avLst/>
          </a:prstGeom>
          <a:solidFill>
            <a:srgbClr val="FFFFFF"/>
          </a:solidFill>
          <a:ln w="12700">
            <a:solidFill>
              <a:srgbClr val="D9D6E3"/>
            </a:solidFill>
            <a:prstDash val="solid"/>
          </a:ln>
        </p:spPr>
      </p:sp>
      <p:sp>
        <p:nvSpPr>
          <p:cNvPr id="40" name="Shape 34"/>
          <p:cNvSpPr/>
          <p:nvPr/>
        </p:nvSpPr>
        <p:spPr>
          <a:xfrm>
            <a:off x="201168" y="4553712"/>
            <a:ext cx="4983480" cy="274320"/>
          </a:xfrm>
          <a:prstGeom prst="rect">
            <a:avLst/>
          </a:prstGeom>
          <a:solidFill>
            <a:srgbClr val="8F5300"/>
          </a:solidFill>
          <a:ln w="12700">
            <a:solidFill>
              <a:srgbClr val="8F5300"/>
            </a:solidFill>
            <a:prstDash val="solid"/>
          </a:ln>
        </p:spPr>
      </p:sp>
      <p:sp>
        <p:nvSpPr>
          <p:cNvPr id="41" name="Text 35"/>
          <p:cNvSpPr txBox="1"/>
          <p:nvPr/>
        </p:nvSpPr>
        <p:spPr>
          <a:xfrm>
            <a:off x="201168" y="4553712"/>
            <a:ext cx="498348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WHEN THE ENGINE DOES NOT KNOW</a:t>
            </a:r>
            <a:endParaRPr lang="en-US" sz="1050" dirty="0"/>
          </a:p>
        </p:txBody>
      </p:sp>
      <p:sp>
        <p:nvSpPr>
          <p:cNvPr id="42" name="Text 36"/>
          <p:cNvSpPr txBox="1"/>
          <p:nvPr/>
        </p:nvSpPr>
        <p:spPr>
          <a:xfrm>
            <a:off x="320040" y="4919472"/>
            <a:ext cx="4745736" cy="566928"/>
          </a:xfrm>
          <a:prstGeom prst="rect">
            <a:avLst/>
          </a:prstGeom>
          <a:noFill/>
          <a:ln/>
        </p:spPr>
        <p:txBody>
          <a:bodyPr wrap="square" lIns="0" tIns="0" rIns="0" bIns="0" rtlCol="0" anchor="ctr"/>
          <a:lstStyle/>
          <a:p>
            <a:pPr marL="0" indent="0">
              <a:lnSpc>
                <a:spcPct val="106000"/>
              </a:lnSpc>
              <a:buNone/>
            </a:pPr>
            <a:r>
              <a:rPr lang="en-US" sz="900" dirty="0">
                <a:solidFill>
                  <a:srgbClr val="2E2E36"/>
                </a:solidFill>
                <a:latin typeface="Calibri" pitchFamily="34" charset="0"/>
                <a:ea typeface="Calibri" pitchFamily="34" charset="-122"/>
                <a:cs typeface="Calibri" pitchFamily="34" charset="-120"/>
              </a:rPr>
              <a:t>Missing data is not permission to guess. Below 0.50 confidence the engine abstains, holds the level rather than lowering it, and routes the case to a clinician - naming the test that would resolve the uncertainty, never a diagnosis.</a:t>
            </a:r>
            <a:endParaRPr lang="en-US" sz="900" dirty="0"/>
          </a:p>
        </p:txBody>
      </p:sp>
      <p:sp>
        <p:nvSpPr>
          <p:cNvPr id="43" name="Text 37"/>
          <p:cNvSpPr txBox="1"/>
          <p:nvPr/>
        </p:nvSpPr>
        <p:spPr>
          <a:xfrm>
            <a:off x="526338" y="5596128"/>
            <a:ext cx="939594" cy="274320"/>
          </a:xfrm>
          <a:prstGeom prst="rect">
            <a:avLst/>
          </a:prstGeom>
          <a:noFill/>
          <a:ln/>
        </p:spPr>
        <p:txBody>
          <a:bodyPr wrap="square" lIns="0" tIns="0" rIns="0" bIns="0" rtlCol="0" anchor="ctr"/>
          <a:lstStyle/>
          <a:p>
            <a:pPr marL="0" indent="0">
              <a:buNone/>
            </a:pPr>
            <a:r>
              <a:rPr lang="en-US" sz="1500" b="1" dirty="0">
                <a:solidFill>
                  <a:srgbClr val="8F5300"/>
                </a:solidFill>
                <a:latin typeface="Arial" pitchFamily="34" charset="0"/>
                <a:ea typeface="Arial" pitchFamily="34" charset="-122"/>
                <a:cs typeface="Arial" pitchFamily="34" charset="-120"/>
              </a:rPr>
              <a:t>0.47</a:t>
            </a:r>
            <a:endParaRPr lang="en-US" sz="1500" dirty="0"/>
          </a:p>
        </p:txBody>
      </p:sp>
      <p:sp>
        <p:nvSpPr>
          <p:cNvPr id="44" name="Text 38"/>
          <p:cNvSpPr txBox="1"/>
          <p:nvPr/>
        </p:nvSpPr>
        <p:spPr>
          <a:xfrm>
            <a:off x="320040" y="5815584"/>
            <a:ext cx="1508760" cy="292608"/>
          </a:xfrm>
          <a:prstGeom prst="rect">
            <a:avLst/>
          </a:prstGeom>
          <a:noFill/>
          <a:ln/>
        </p:spPr>
        <p:txBody>
          <a:bodyPr wrap="square" lIns="0" tIns="0" rIns="0" bIns="0" rtlCol="0" anchor="ctr"/>
          <a:lstStyle/>
          <a:p>
            <a:pPr marL="0" indent="0">
              <a:lnSpc>
                <a:spcPct val="105000"/>
              </a:lnSpc>
              <a:buNone/>
            </a:pPr>
            <a:r>
              <a:rPr lang="en-US" sz="880" dirty="0">
                <a:solidFill>
                  <a:srgbClr val="5F5F6B"/>
                </a:solidFill>
                <a:latin typeface="Calibri" pitchFamily="34" charset="0"/>
                <a:ea typeface="Calibri" pitchFamily="34" charset="-122"/>
                <a:cs typeface="Calibri" pitchFamily="34" charset="-120"/>
              </a:rPr>
              <a:t>confidence, case P14</a:t>
            </a:r>
            <a:endParaRPr lang="en-US" sz="880" dirty="0"/>
          </a:p>
        </p:txBody>
      </p:sp>
      <p:sp>
        <p:nvSpPr>
          <p:cNvPr id="45" name="Text 39"/>
          <p:cNvSpPr txBox="1"/>
          <p:nvPr/>
        </p:nvSpPr>
        <p:spPr>
          <a:xfrm>
            <a:off x="2231136" y="5572148"/>
            <a:ext cx="1508760" cy="274320"/>
          </a:xfrm>
          <a:prstGeom prst="rect">
            <a:avLst/>
          </a:prstGeom>
          <a:noFill/>
          <a:ln/>
        </p:spPr>
        <p:txBody>
          <a:bodyPr wrap="square" lIns="0" tIns="0" rIns="0" bIns="0" rtlCol="0" anchor="ctr"/>
          <a:lstStyle/>
          <a:p>
            <a:pPr marL="0" indent="0">
              <a:buNone/>
            </a:pPr>
            <a:r>
              <a:rPr lang="en-US" sz="1500" b="1" dirty="0">
                <a:solidFill>
                  <a:srgbClr val="0A6E43"/>
                </a:solidFill>
                <a:latin typeface="Arial" pitchFamily="34" charset="0"/>
                <a:ea typeface="Arial" pitchFamily="34" charset="-122"/>
                <a:cs typeface="Arial" pitchFamily="34" charset="-120"/>
              </a:rPr>
              <a:t>2.8%</a:t>
            </a:r>
            <a:endParaRPr lang="en-US" sz="1500" dirty="0"/>
          </a:p>
        </p:txBody>
      </p:sp>
      <p:sp>
        <p:nvSpPr>
          <p:cNvPr id="46" name="Text 40"/>
          <p:cNvSpPr txBox="1"/>
          <p:nvPr/>
        </p:nvSpPr>
        <p:spPr>
          <a:xfrm>
            <a:off x="1938528" y="5815584"/>
            <a:ext cx="1508760" cy="292608"/>
          </a:xfrm>
          <a:prstGeom prst="rect">
            <a:avLst/>
          </a:prstGeom>
          <a:noFill/>
          <a:ln/>
        </p:spPr>
        <p:txBody>
          <a:bodyPr wrap="square" lIns="0" tIns="0" rIns="0" bIns="0" rtlCol="0" anchor="ctr"/>
          <a:lstStyle/>
          <a:p>
            <a:pPr marL="0" indent="0">
              <a:lnSpc>
                <a:spcPct val="105000"/>
              </a:lnSpc>
              <a:buNone/>
            </a:pPr>
            <a:r>
              <a:rPr lang="en-US" sz="880" dirty="0">
                <a:solidFill>
                  <a:srgbClr val="5F5F6B"/>
                </a:solidFill>
                <a:latin typeface="Calibri" pitchFamily="34" charset="0"/>
                <a:ea typeface="Calibri" pitchFamily="34" charset="-122"/>
                <a:cs typeface="Calibri" pitchFamily="34" charset="-120"/>
              </a:rPr>
              <a:t>missed · with a record</a:t>
            </a:r>
            <a:endParaRPr lang="en-US" sz="880" dirty="0"/>
          </a:p>
        </p:txBody>
      </p:sp>
      <p:sp>
        <p:nvSpPr>
          <p:cNvPr id="47" name="Text 41"/>
          <p:cNvSpPr txBox="1"/>
          <p:nvPr/>
        </p:nvSpPr>
        <p:spPr>
          <a:xfrm>
            <a:off x="3730752" y="5586984"/>
            <a:ext cx="1508760" cy="274320"/>
          </a:xfrm>
          <a:prstGeom prst="rect">
            <a:avLst/>
          </a:prstGeom>
          <a:noFill/>
          <a:ln/>
        </p:spPr>
        <p:txBody>
          <a:bodyPr wrap="square" lIns="0" tIns="0" rIns="0" bIns="0" rtlCol="0" anchor="ctr"/>
          <a:lstStyle/>
          <a:p>
            <a:pPr marL="0" indent="0">
              <a:buNone/>
            </a:pPr>
            <a:r>
              <a:rPr lang="en-US" sz="1500" b="1" dirty="0">
                <a:solidFill>
                  <a:srgbClr val="B81C26"/>
                </a:solidFill>
                <a:latin typeface="Arial" pitchFamily="34" charset="0"/>
                <a:ea typeface="Arial" pitchFamily="34" charset="-122"/>
                <a:cs typeface="Arial" pitchFamily="34" charset="-120"/>
              </a:rPr>
              <a:t>11.4%</a:t>
            </a:r>
            <a:endParaRPr lang="en-US" sz="1500" dirty="0"/>
          </a:p>
        </p:txBody>
      </p:sp>
      <p:sp>
        <p:nvSpPr>
          <p:cNvPr id="48" name="Text 42"/>
          <p:cNvSpPr txBox="1"/>
          <p:nvPr/>
        </p:nvSpPr>
        <p:spPr>
          <a:xfrm>
            <a:off x="3557016" y="5815584"/>
            <a:ext cx="1508760" cy="292608"/>
          </a:xfrm>
          <a:prstGeom prst="rect">
            <a:avLst/>
          </a:prstGeom>
          <a:noFill/>
          <a:ln/>
        </p:spPr>
        <p:txBody>
          <a:bodyPr wrap="square" lIns="0" tIns="0" rIns="0" bIns="0" rtlCol="0" anchor="ctr"/>
          <a:lstStyle/>
          <a:p>
            <a:pPr marL="0" indent="0">
              <a:lnSpc>
                <a:spcPct val="105000"/>
              </a:lnSpc>
              <a:buNone/>
            </a:pPr>
            <a:r>
              <a:rPr lang="en-US" sz="880" dirty="0">
                <a:solidFill>
                  <a:srgbClr val="5F5F6B"/>
                </a:solidFill>
                <a:latin typeface="Calibri" pitchFamily="34" charset="0"/>
                <a:ea typeface="Calibri" pitchFamily="34" charset="-122"/>
                <a:cs typeface="Calibri" pitchFamily="34" charset="-120"/>
              </a:rPr>
              <a:t>missed · no record</a:t>
            </a:r>
            <a:endParaRPr lang="en-US" sz="880" dirty="0"/>
          </a:p>
        </p:txBody>
      </p:sp>
      <p:sp>
        <p:nvSpPr>
          <p:cNvPr id="49" name="Shape 43"/>
          <p:cNvSpPr/>
          <p:nvPr/>
        </p:nvSpPr>
        <p:spPr>
          <a:xfrm>
            <a:off x="5385816" y="530352"/>
            <a:ext cx="3182112" cy="3054096"/>
          </a:xfrm>
          <a:prstGeom prst="rect">
            <a:avLst/>
          </a:prstGeom>
          <a:solidFill>
            <a:srgbClr val="FFFFFF"/>
          </a:solidFill>
          <a:ln w="12700">
            <a:solidFill>
              <a:srgbClr val="D9D6E3"/>
            </a:solidFill>
            <a:prstDash val="solid"/>
          </a:ln>
        </p:spPr>
      </p:sp>
      <p:sp>
        <p:nvSpPr>
          <p:cNvPr id="50" name="Shape 44"/>
          <p:cNvSpPr/>
          <p:nvPr/>
        </p:nvSpPr>
        <p:spPr>
          <a:xfrm>
            <a:off x="5385816" y="530352"/>
            <a:ext cx="3182112" cy="274320"/>
          </a:xfrm>
          <a:prstGeom prst="rect">
            <a:avLst/>
          </a:prstGeom>
          <a:solidFill>
            <a:srgbClr val="460073"/>
          </a:solidFill>
          <a:ln w="12700">
            <a:solidFill>
              <a:srgbClr val="460073"/>
            </a:solidFill>
            <a:prstDash val="solid"/>
          </a:ln>
        </p:spPr>
      </p:sp>
      <p:sp>
        <p:nvSpPr>
          <p:cNvPr id="51" name="Text 45"/>
          <p:cNvSpPr txBox="1"/>
          <p:nvPr/>
        </p:nvSpPr>
        <p:spPr>
          <a:xfrm>
            <a:off x="5385816" y="530352"/>
            <a:ext cx="3182112"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WHY THE GUARANTEE HOLDS</a:t>
            </a:r>
            <a:endParaRPr lang="en-US" sz="1050" dirty="0"/>
          </a:p>
        </p:txBody>
      </p:sp>
      <p:pic>
        <p:nvPicPr>
          <p:cNvPr id="52" name="Image 4" descr="/home/claude/deck/icons/LuShieldCheck_grn.png"/>
          <p:cNvPicPr>
            <a:picLocks noChangeAspect="1"/>
          </p:cNvPicPr>
          <p:nvPr/>
        </p:nvPicPr>
        <p:blipFill>
          <a:blip r:embed="rId7"/>
          <a:stretch>
            <a:fillRect/>
          </a:stretch>
        </p:blipFill>
        <p:spPr>
          <a:xfrm>
            <a:off x="5504688" y="896112"/>
            <a:ext cx="201168" cy="201168"/>
          </a:xfrm>
          <a:prstGeom prst="rect">
            <a:avLst/>
          </a:prstGeom>
        </p:spPr>
      </p:pic>
      <p:sp>
        <p:nvSpPr>
          <p:cNvPr id="53" name="Text 46"/>
          <p:cNvSpPr txBox="1"/>
          <p:nvPr/>
        </p:nvSpPr>
        <p:spPr>
          <a:xfrm>
            <a:off x="5779008" y="896112"/>
            <a:ext cx="2670048"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Enforced by construction</a:t>
            </a:r>
            <a:endParaRPr lang="en-US" sz="1000" dirty="0"/>
          </a:p>
        </p:txBody>
      </p:sp>
      <p:sp>
        <p:nvSpPr>
          <p:cNvPr id="54" name="Text 47"/>
          <p:cNvSpPr txBox="1"/>
          <p:nvPr/>
        </p:nvSpPr>
        <p:spPr>
          <a:xfrm>
            <a:off x="5504688" y="1133856"/>
            <a:ext cx="2944368" cy="603504"/>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The four rule layers combine with min(); the learned score is clamped to the result. It is a constraint, not a weighting we hope holds.</a:t>
            </a:r>
            <a:endParaRPr lang="en-US" sz="880" dirty="0"/>
          </a:p>
        </p:txBody>
      </p:sp>
      <p:pic>
        <p:nvPicPr>
          <p:cNvPr id="55" name="Image 5" descr="/home/claude/deck/icons/LuBadgeCheck_pur.png"/>
          <p:cNvPicPr>
            <a:picLocks noChangeAspect="1"/>
          </p:cNvPicPr>
          <p:nvPr/>
        </p:nvPicPr>
        <p:blipFill>
          <a:blip r:embed="rId8"/>
          <a:stretch>
            <a:fillRect/>
          </a:stretch>
        </p:blipFill>
        <p:spPr>
          <a:xfrm>
            <a:off x="5504688" y="1810512"/>
            <a:ext cx="201168" cy="201168"/>
          </a:xfrm>
          <a:prstGeom prst="rect">
            <a:avLst/>
          </a:prstGeom>
        </p:spPr>
      </p:pic>
      <p:sp>
        <p:nvSpPr>
          <p:cNvPr id="56" name="Text 48"/>
          <p:cNvSpPr txBox="1"/>
          <p:nvPr/>
        </p:nvSpPr>
        <p:spPr>
          <a:xfrm>
            <a:off x="5779008" y="1810512"/>
            <a:ext cx="2670048"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Provable without a test set</a:t>
            </a:r>
            <a:endParaRPr lang="en-US" sz="1000" dirty="0"/>
          </a:p>
        </p:txBody>
      </p:sp>
      <p:sp>
        <p:nvSpPr>
          <p:cNvPr id="57" name="Text 49"/>
          <p:cNvSpPr txBox="1"/>
          <p:nvPr/>
        </p:nvSpPr>
        <p:spPr>
          <a:xfrm>
            <a:off x="5504688" y="2048256"/>
            <a:ext cx="2944368" cy="603504"/>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Monotonicity is a property of the code, so the guarantee holds on data the model has never seen — including the day the case mix shifts.</a:t>
            </a:r>
            <a:endParaRPr lang="en-US" sz="880" dirty="0"/>
          </a:p>
        </p:txBody>
      </p:sp>
      <p:pic>
        <p:nvPicPr>
          <p:cNvPr id="58" name="Image 6" descr="/home/claude/deck/icons/LuCircleCheck_pur.png"/>
          <p:cNvPicPr>
            <a:picLocks noChangeAspect="1"/>
          </p:cNvPicPr>
          <p:nvPr/>
        </p:nvPicPr>
        <p:blipFill>
          <a:blip r:embed="rId9"/>
          <a:stretch>
            <a:fillRect/>
          </a:stretch>
        </p:blipFill>
        <p:spPr>
          <a:xfrm>
            <a:off x="5504688" y="2724912"/>
            <a:ext cx="201168" cy="201168"/>
          </a:xfrm>
          <a:prstGeom prst="rect">
            <a:avLst/>
          </a:prstGeom>
        </p:spPr>
      </p:pic>
      <p:sp>
        <p:nvSpPr>
          <p:cNvPr id="59" name="Text 50"/>
          <p:cNvSpPr txBox="1"/>
          <p:nvPr/>
        </p:nvSpPr>
        <p:spPr>
          <a:xfrm>
            <a:off x="5779008" y="2724912"/>
            <a:ext cx="2670048" cy="201168"/>
          </a:xfrm>
          <a:prstGeom prst="rect">
            <a:avLst/>
          </a:prstGeom>
          <a:noFill/>
          <a:ln/>
        </p:spPr>
        <p:txBody>
          <a:bodyPr wrap="square" lIns="0" tIns="0" rIns="0" bIns="0" rtlCol="0" anchor="ctr"/>
          <a:lstStyle/>
          <a:p>
            <a:pPr marL="0" indent="0">
              <a:buNone/>
            </a:pPr>
            <a:r>
              <a:rPr lang="en-US" sz="1000" b="1" dirty="0">
                <a:solidFill>
                  <a:srgbClr val="111018"/>
                </a:solidFill>
                <a:latin typeface="Arial" pitchFamily="34" charset="0"/>
                <a:ea typeface="Arial" pitchFamily="34" charset="-122"/>
                <a:cs typeface="Arial" pitchFamily="34" charset="-120"/>
              </a:rPr>
              <a:t>Verified · zero violations</a:t>
            </a:r>
            <a:endParaRPr lang="en-US" sz="1000" dirty="0"/>
          </a:p>
        </p:txBody>
      </p:sp>
      <p:sp>
        <p:nvSpPr>
          <p:cNvPr id="60" name="Text 51"/>
          <p:cNvSpPr txBox="1"/>
          <p:nvPr/>
        </p:nvSpPr>
        <p:spPr>
          <a:xfrm>
            <a:off x="5504688" y="2962656"/>
            <a:ext cx="2944368" cy="603504"/>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Every clinical feature raised by 1 SD across 8 features × 1,200 held-out rows. Worse physiology never once scored safer.</a:t>
            </a:r>
            <a:endParaRPr lang="en-US" sz="880" dirty="0"/>
          </a:p>
        </p:txBody>
      </p:sp>
      <p:sp>
        <p:nvSpPr>
          <p:cNvPr id="61" name="Shape 52"/>
          <p:cNvSpPr/>
          <p:nvPr/>
        </p:nvSpPr>
        <p:spPr>
          <a:xfrm>
            <a:off x="5385816" y="3694176"/>
            <a:ext cx="3182112" cy="2962656"/>
          </a:xfrm>
          <a:prstGeom prst="rect">
            <a:avLst/>
          </a:prstGeom>
          <a:solidFill>
            <a:srgbClr val="FFFFFF"/>
          </a:solidFill>
          <a:ln w="12700">
            <a:solidFill>
              <a:srgbClr val="D9D6E3"/>
            </a:solidFill>
            <a:prstDash val="solid"/>
          </a:ln>
        </p:spPr>
      </p:sp>
      <p:sp>
        <p:nvSpPr>
          <p:cNvPr id="62" name="Shape 53"/>
          <p:cNvSpPr/>
          <p:nvPr/>
        </p:nvSpPr>
        <p:spPr>
          <a:xfrm>
            <a:off x="5385816" y="3694176"/>
            <a:ext cx="3182112" cy="274320"/>
          </a:xfrm>
          <a:prstGeom prst="rect">
            <a:avLst/>
          </a:prstGeom>
          <a:solidFill>
            <a:srgbClr val="7500C0"/>
          </a:solidFill>
          <a:ln w="12700">
            <a:solidFill>
              <a:srgbClr val="7500C0"/>
            </a:solidFill>
            <a:prstDash val="solid"/>
          </a:ln>
        </p:spPr>
      </p:sp>
      <p:sp>
        <p:nvSpPr>
          <p:cNvPr id="63" name="Text 54"/>
          <p:cNvSpPr txBox="1"/>
          <p:nvPr/>
        </p:nvSpPr>
        <p:spPr>
          <a:xfrm>
            <a:off x="5385816" y="3694176"/>
            <a:ext cx="3182112"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TRAINED ON OUTCOMES, NOT OPINIONS</a:t>
            </a:r>
            <a:endParaRPr lang="en-US" sz="1050" dirty="0"/>
          </a:p>
        </p:txBody>
      </p:sp>
      <p:sp>
        <p:nvSpPr>
          <p:cNvPr id="64" name="Text 55"/>
          <p:cNvSpPr txBox="1"/>
          <p:nvPr/>
        </p:nvSpPr>
        <p:spPr>
          <a:xfrm>
            <a:off x="5504688" y="4059936"/>
            <a:ext cx="2944368" cy="457200"/>
          </a:xfrm>
          <a:prstGeom prst="rect">
            <a:avLst/>
          </a:prstGeom>
          <a:noFill/>
          <a:ln/>
        </p:spPr>
        <p:txBody>
          <a:bodyPr wrap="square" lIns="0" tIns="0" rIns="0" bIns="0" rtlCol="0" anchor="ctr"/>
          <a:lstStyle/>
          <a:p>
            <a:pPr marL="0" indent="0">
              <a:lnSpc>
                <a:spcPct val="105000"/>
              </a:lnSpc>
              <a:buNone/>
            </a:pPr>
            <a:r>
              <a:rPr lang="en-US" sz="900" dirty="0">
                <a:solidFill>
                  <a:srgbClr val="2E2E36"/>
                </a:solidFill>
                <a:latin typeface="Calibri" pitchFamily="34" charset="0"/>
                <a:ea typeface="Calibri" pitchFamily="34" charset="-122"/>
                <a:cs typeface="Calibri" pitchFamily="34" charset="-120"/>
              </a:rPr>
              <a:t>Train on the acuity a human assigned and you teach the model to reproduce the miss. P01 was assigned low acuity by a competent nurse.</a:t>
            </a:r>
            <a:endParaRPr lang="en-US" sz="900" dirty="0"/>
          </a:p>
        </p:txBody>
      </p:sp>
      <p:sp>
        <p:nvSpPr>
          <p:cNvPr id="65" name="Text 56"/>
          <p:cNvSpPr txBox="1"/>
          <p:nvPr/>
        </p:nvSpPr>
        <p:spPr>
          <a:xfrm>
            <a:off x="5504688" y="4553712"/>
            <a:ext cx="2944368" cy="384048"/>
          </a:xfrm>
          <a:prstGeom prst="rect">
            <a:avLst/>
          </a:prstGeom>
          <a:noFill/>
          <a:ln/>
        </p:spPr>
        <p:txBody>
          <a:bodyPr wrap="square" lIns="0" tIns="0" rIns="0" bIns="0" rtlCol="0" anchor="ctr"/>
          <a:lstStyle/>
          <a:p>
            <a:pPr marL="0" indent="0">
              <a:lnSpc>
                <a:spcPct val="105000"/>
              </a:lnSpc>
              <a:buNone/>
            </a:pPr>
            <a:r>
              <a:rPr lang="en-US" sz="900" b="1" dirty="0">
                <a:solidFill>
                  <a:srgbClr val="111018"/>
                </a:solidFill>
                <a:latin typeface="Arial" pitchFamily="34" charset="0"/>
                <a:ea typeface="Arial" pitchFamily="34" charset="-122"/>
                <a:cs typeface="Arial" pitchFamily="34" charset="-120"/>
              </a:rPr>
              <a:t>Labels come from what happened next - ICU transfer, admission, death, or intervention within 24 hours.</a:t>
            </a:r>
            <a:endParaRPr lang="en-US" sz="900" dirty="0"/>
          </a:p>
        </p:txBody>
      </p:sp>
      <p:sp>
        <p:nvSpPr>
          <p:cNvPr id="66" name="Shape 57"/>
          <p:cNvSpPr/>
          <p:nvPr/>
        </p:nvSpPr>
        <p:spPr>
          <a:xfrm>
            <a:off x="5504688" y="4992624"/>
            <a:ext cx="2944368" cy="7315"/>
          </a:xfrm>
          <a:prstGeom prst="rect">
            <a:avLst/>
          </a:prstGeom>
          <a:solidFill>
            <a:srgbClr val="ECEAF3"/>
          </a:solidFill>
          <a:ln w="12700">
            <a:solidFill>
              <a:srgbClr val="ECEAF3"/>
            </a:solidFill>
            <a:prstDash val="solid"/>
          </a:ln>
        </p:spPr>
      </p:sp>
      <p:sp>
        <p:nvSpPr>
          <p:cNvPr id="67" name="Text 58"/>
          <p:cNvSpPr txBox="1"/>
          <p:nvPr/>
        </p:nvSpPr>
        <p:spPr>
          <a:xfrm>
            <a:off x="5504688" y="5084064"/>
            <a:ext cx="2944368" cy="164592"/>
          </a:xfrm>
          <a:prstGeom prst="rect">
            <a:avLst/>
          </a:prstGeom>
          <a:noFill/>
          <a:ln/>
        </p:spPr>
        <p:txBody>
          <a:bodyPr wrap="square" lIns="0" tIns="0" rIns="0" bIns="0" rtlCol="0" anchor="ctr"/>
          <a:lstStyle/>
          <a:p>
            <a:pPr marL="0" indent="0">
              <a:buNone/>
            </a:pPr>
            <a:r>
              <a:rPr lang="en-US" sz="800" b="1" kern="0" spc="80" dirty="0">
                <a:solidFill>
                  <a:srgbClr val="8F5300"/>
                </a:solidFill>
                <a:latin typeface="Arial" pitchFamily="34" charset="0"/>
                <a:ea typeface="Arial" pitchFamily="34" charset="-122"/>
                <a:cs typeface="Arial" pitchFamily="34" charset="-120"/>
              </a:rPr>
              <a:t>WHAT WE WILL NOT CLAIM</a:t>
            </a:r>
            <a:endParaRPr lang="en-US" sz="800" dirty="0"/>
          </a:p>
        </p:txBody>
      </p:sp>
      <p:sp>
        <p:nvSpPr>
          <p:cNvPr id="68" name="Text 59"/>
          <p:cNvSpPr txBox="1"/>
          <p:nvPr/>
        </p:nvSpPr>
        <p:spPr>
          <a:xfrm>
            <a:off x="5504688" y="5285232"/>
            <a:ext cx="2944368" cy="329184"/>
          </a:xfrm>
          <a:prstGeom prst="rect">
            <a:avLst/>
          </a:prstGeom>
          <a:noFill/>
          <a:ln/>
        </p:spPr>
        <p:txBody>
          <a:bodyPr wrap="square" lIns="0" tIns="0" rIns="0" bIns="0" rtlCol="0" anchor="ctr"/>
          <a:lstStyle/>
          <a:p>
            <a:pPr marL="0" indent="0">
              <a:lnSpc>
                <a:spcPct val="104000"/>
              </a:lnSpc>
              <a:buNone/>
            </a:pPr>
            <a:r>
              <a:rPr lang="en-US" sz="880" dirty="0">
                <a:solidFill>
                  <a:srgbClr val="2E2E36"/>
                </a:solidFill>
                <a:latin typeface="Calibri" pitchFamily="34" charset="0"/>
                <a:ea typeface="Calibri" pitchFamily="34" charset="-122"/>
                <a:cs typeface="Calibri" pitchFamily="34" charset="-120"/>
              </a:rPr>
              <a:t>·  Synthetic training proves the pipeline, not the medicine.</a:t>
            </a:r>
            <a:endParaRPr lang="en-US" sz="880" dirty="0"/>
          </a:p>
        </p:txBody>
      </p:sp>
      <p:sp>
        <p:nvSpPr>
          <p:cNvPr id="69" name="Text 60"/>
          <p:cNvSpPr txBox="1"/>
          <p:nvPr/>
        </p:nvSpPr>
        <p:spPr>
          <a:xfrm>
            <a:off x="5504688" y="5632704"/>
            <a:ext cx="2944368" cy="329184"/>
          </a:xfrm>
          <a:prstGeom prst="rect">
            <a:avLst/>
          </a:prstGeom>
          <a:noFill/>
          <a:ln/>
        </p:spPr>
        <p:txBody>
          <a:bodyPr wrap="square" lIns="0" tIns="0" rIns="0" bIns="0" rtlCol="0" anchor="ctr"/>
          <a:lstStyle/>
          <a:p>
            <a:pPr marL="0" indent="0">
              <a:lnSpc>
                <a:spcPct val="104000"/>
              </a:lnSpc>
              <a:buNone/>
            </a:pPr>
            <a:r>
              <a:rPr lang="en-US" sz="880" dirty="0">
                <a:solidFill>
                  <a:srgbClr val="2E2E36"/>
                </a:solidFill>
                <a:latin typeface="Calibri" pitchFamily="34" charset="0"/>
                <a:ea typeface="Calibri" pitchFamily="34" charset="-122"/>
                <a:cs typeface="Calibri" pitchFamily="34" charset="-120"/>
              </a:rPr>
              <a:t>·  Real data will need recalibration - Boston 2011-2019 in Uttar Pradesh is distribution shift.</a:t>
            </a:r>
            <a:endParaRPr lang="en-US" sz="880" dirty="0"/>
          </a:p>
        </p:txBody>
      </p:sp>
      <p:sp>
        <p:nvSpPr>
          <p:cNvPr id="70" name="Text 61"/>
          <p:cNvSpPr txBox="1"/>
          <p:nvPr/>
        </p:nvSpPr>
        <p:spPr>
          <a:xfrm>
            <a:off x="5504688" y="5980176"/>
            <a:ext cx="2944368" cy="329184"/>
          </a:xfrm>
          <a:prstGeom prst="rect">
            <a:avLst/>
          </a:prstGeom>
          <a:noFill/>
          <a:ln/>
        </p:spPr>
        <p:txBody>
          <a:bodyPr wrap="square" lIns="0" tIns="0" rIns="0" bIns="0" rtlCol="0" anchor="ctr"/>
          <a:lstStyle/>
          <a:p>
            <a:pPr marL="0" indent="0">
              <a:lnSpc>
                <a:spcPct val="104000"/>
              </a:lnSpc>
              <a:buNone/>
            </a:pPr>
            <a:r>
              <a:rPr lang="en-US" sz="880" dirty="0">
                <a:solidFill>
                  <a:srgbClr val="2E2E36"/>
                </a:solidFill>
                <a:latin typeface="Calibri" pitchFamily="34" charset="0"/>
                <a:ea typeface="Calibri" pitchFamily="34" charset="-122"/>
                <a:cs typeface="Calibri" pitchFamily="34" charset="-120"/>
              </a:rPr>
              <a:t>·  Subgroups are audited before deployment: 0.941 paediatric, 0.945 adult, 0.935 geriatric.</a:t>
            </a:r>
            <a:endParaRPr lang="en-US" sz="880" dirty="0"/>
          </a:p>
        </p:txBody>
      </p:sp>
      <p:sp>
        <p:nvSpPr>
          <p:cNvPr id="71" name="Text 62"/>
          <p:cNvSpPr txBox="1"/>
          <p:nvPr/>
        </p:nvSpPr>
        <p:spPr>
          <a:xfrm>
            <a:off x="5504688" y="6327648"/>
            <a:ext cx="2944368" cy="329184"/>
          </a:xfrm>
          <a:prstGeom prst="rect">
            <a:avLst/>
          </a:prstGeom>
          <a:noFill/>
          <a:ln/>
        </p:spPr>
        <p:txBody>
          <a:bodyPr wrap="square" lIns="0" tIns="0" rIns="0" bIns="0" rtlCol="0" anchor="ctr"/>
          <a:lstStyle/>
          <a:p>
            <a:pPr marL="0" indent="0">
              <a:lnSpc>
                <a:spcPct val="104000"/>
              </a:lnSpc>
              <a:buNone/>
            </a:pPr>
            <a:r>
              <a:rPr lang="en-US" sz="880" dirty="0">
                <a:solidFill>
                  <a:srgbClr val="2E2E36"/>
                </a:solidFill>
                <a:latin typeface="Calibri" pitchFamily="34" charset="0"/>
                <a:ea typeface="Calibri" pitchFamily="34" charset="-122"/>
                <a:cs typeface="Calibri" pitchFamily="34" charset="-120"/>
              </a:rPr>
              <a:t>·  No claim of clinical efficacy is made anywhere in this deck.</a:t>
            </a:r>
            <a:endParaRPr lang="en-US" sz="880" dirty="0"/>
          </a:p>
        </p:txBody>
      </p:sp>
      <p:sp>
        <p:nvSpPr>
          <p:cNvPr id="72" name="Shape 63"/>
          <p:cNvSpPr/>
          <p:nvPr/>
        </p:nvSpPr>
        <p:spPr>
          <a:xfrm>
            <a:off x="8769096" y="530352"/>
            <a:ext cx="3218688" cy="3054096"/>
          </a:xfrm>
          <a:prstGeom prst="rect">
            <a:avLst/>
          </a:prstGeom>
          <a:solidFill>
            <a:srgbClr val="FFFFFF"/>
          </a:solidFill>
          <a:ln w="12700">
            <a:solidFill>
              <a:srgbClr val="D9D6E3"/>
            </a:solidFill>
            <a:prstDash val="solid"/>
          </a:ln>
        </p:spPr>
      </p:sp>
      <p:sp>
        <p:nvSpPr>
          <p:cNvPr id="73" name="Shape 64"/>
          <p:cNvSpPr/>
          <p:nvPr/>
        </p:nvSpPr>
        <p:spPr>
          <a:xfrm>
            <a:off x="8769096" y="530352"/>
            <a:ext cx="3218688" cy="274320"/>
          </a:xfrm>
          <a:prstGeom prst="rect">
            <a:avLst/>
          </a:prstGeom>
          <a:solidFill>
            <a:srgbClr val="7500C0"/>
          </a:solidFill>
          <a:ln w="12700">
            <a:solidFill>
              <a:srgbClr val="7500C0"/>
            </a:solidFill>
            <a:prstDash val="solid"/>
          </a:ln>
        </p:spPr>
      </p:sp>
      <p:sp>
        <p:nvSpPr>
          <p:cNvPr id="74" name="Text 65"/>
          <p:cNvSpPr txBox="1"/>
          <p:nvPr/>
        </p:nvSpPr>
        <p:spPr>
          <a:xfrm>
            <a:off x="8769096" y="530352"/>
            <a:ext cx="321868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WHAT THE ARCHITECTURE INHERITS</a:t>
            </a:r>
            <a:endParaRPr lang="en-US" sz="1050" dirty="0"/>
          </a:p>
        </p:txBody>
      </p:sp>
      <p:sp>
        <p:nvSpPr>
          <p:cNvPr id="75" name="Text 66"/>
          <p:cNvSpPr txBox="1"/>
          <p:nvPr/>
        </p:nvSpPr>
        <p:spPr>
          <a:xfrm>
            <a:off x="8887968" y="896112"/>
            <a:ext cx="1188720" cy="219456"/>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Acuity scale</a:t>
            </a:r>
            <a:endParaRPr lang="en-US" sz="900" dirty="0"/>
          </a:p>
        </p:txBody>
      </p:sp>
      <p:sp>
        <p:nvSpPr>
          <p:cNvPr id="76" name="Text 67"/>
          <p:cNvSpPr txBox="1"/>
          <p:nvPr/>
        </p:nvSpPr>
        <p:spPr>
          <a:xfrm>
            <a:off x="10076688" y="896112"/>
            <a:ext cx="1792224" cy="219456"/>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ESI v5, four decision points</a:t>
            </a:r>
            <a:endParaRPr lang="en-US" sz="900" dirty="0"/>
          </a:p>
        </p:txBody>
      </p:sp>
      <p:sp>
        <p:nvSpPr>
          <p:cNvPr id="77" name="Text 68"/>
          <p:cNvSpPr txBox="1"/>
          <p:nvPr/>
        </p:nvSpPr>
        <p:spPr>
          <a:xfrm>
            <a:off x="8887968" y="1143000"/>
            <a:ext cx="1188720" cy="219456"/>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Local protocol</a:t>
            </a:r>
            <a:endParaRPr lang="en-US" sz="900" dirty="0"/>
          </a:p>
        </p:txBody>
      </p:sp>
      <p:sp>
        <p:nvSpPr>
          <p:cNvPr id="78" name="Text 69"/>
          <p:cNvSpPr txBox="1"/>
          <p:nvPr/>
        </p:nvSpPr>
        <p:spPr>
          <a:xfrm>
            <a:off x="10076688" y="1143000"/>
            <a:ext cx="1792224" cy="219456"/>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AIIMS three-tier, validated</a:t>
            </a:r>
            <a:endParaRPr lang="en-US" sz="900" dirty="0"/>
          </a:p>
        </p:txBody>
      </p:sp>
      <p:sp>
        <p:nvSpPr>
          <p:cNvPr id="79" name="Text 70"/>
          <p:cNvSpPr txBox="1"/>
          <p:nvPr/>
        </p:nvSpPr>
        <p:spPr>
          <a:xfrm>
            <a:off x="8887968" y="1389888"/>
            <a:ext cx="1188720" cy="219456"/>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Vital scoring</a:t>
            </a:r>
            <a:endParaRPr lang="en-US" sz="900" dirty="0"/>
          </a:p>
        </p:txBody>
      </p:sp>
      <p:sp>
        <p:nvSpPr>
          <p:cNvPr id="80" name="Text 71"/>
          <p:cNvSpPr txBox="1"/>
          <p:nvPr/>
        </p:nvSpPr>
        <p:spPr>
          <a:xfrm>
            <a:off x="10076688" y="1389888"/>
            <a:ext cx="1792224" cy="219456"/>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NEWS2, five age bands</a:t>
            </a:r>
            <a:endParaRPr lang="en-US" sz="900" dirty="0"/>
          </a:p>
        </p:txBody>
      </p:sp>
      <p:sp>
        <p:nvSpPr>
          <p:cNvPr id="81" name="Text 72"/>
          <p:cNvSpPr txBox="1"/>
          <p:nvPr/>
        </p:nvSpPr>
        <p:spPr>
          <a:xfrm>
            <a:off x="8887968" y="1636776"/>
            <a:ext cx="1188720" cy="219456"/>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Training data</a:t>
            </a:r>
            <a:endParaRPr lang="en-US" sz="900" dirty="0"/>
          </a:p>
        </p:txBody>
      </p:sp>
      <p:sp>
        <p:nvSpPr>
          <p:cNvPr id="82" name="Text 73"/>
          <p:cNvSpPr txBox="1"/>
          <p:nvPr/>
        </p:nvSpPr>
        <p:spPr>
          <a:xfrm>
            <a:off x="10076688" y="1636776"/>
            <a:ext cx="1792224" cy="219456"/>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MIMIC-IV-ED, ~425,000 stays</a:t>
            </a:r>
            <a:endParaRPr lang="en-US" sz="900" dirty="0"/>
          </a:p>
        </p:txBody>
      </p:sp>
      <p:sp>
        <p:nvSpPr>
          <p:cNvPr id="83" name="Text 74"/>
          <p:cNvSpPr txBox="1"/>
          <p:nvPr/>
        </p:nvSpPr>
        <p:spPr>
          <a:xfrm>
            <a:off x="8887968" y="1883664"/>
            <a:ext cx="1188720" cy="219456"/>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Regulatory test</a:t>
            </a:r>
            <a:endParaRPr lang="en-US" sz="900" dirty="0"/>
          </a:p>
        </p:txBody>
      </p:sp>
      <p:sp>
        <p:nvSpPr>
          <p:cNvPr id="84" name="Text 75"/>
          <p:cNvSpPr txBox="1"/>
          <p:nvPr/>
        </p:nvSpPr>
        <p:spPr>
          <a:xfrm>
            <a:off x="10076688" y="1883664"/>
            <a:ext cx="1792224" cy="219456"/>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FDA CDS guidance, Jan 2026</a:t>
            </a:r>
            <a:endParaRPr lang="en-US" sz="900" dirty="0"/>
          </a:p>
        </p:txBody>
      </p:sp>
      <p:sp>
        <p:nvSpPr>
          <p:cNvPr id="85" name="Text 76"/>
          <p:cNvSpPr txBox="1"/>
          <p:nvPr/>
        </p:nvSpPr>
        <p:spPr>
          <a:xfrm>
            <a:off x="8887968" y="2130552"/>
            <a:ext cx="1188720" cy="219456"/>
          </a:xfrm>
          <a:prstGeom prst="rect">
            <a:avLst/>
          </a:prstGeom>
          <a:noFill/>
          <a:ln/>
        </p:spPr>
        <p:txBody>
          <a:bodyPr wrap="square" lIns="0" tIns="0" rIns="0" bIns="0" rtlCol="0" anchor="ctr"/>
          <a:lstStyle/>
          <a:p>
            <a:pPr marL="0" indent="0">
              <a:buNone/>
            </a:pPr>
            <a:r>
              <a:rPr lang="en-US" sz="900" dirty="0">
                <a:solidFill>
                  <a:srgbClr val="5F5F6B"/>
                </a:solidFill>
                <a:latin typeface="Calibri" pitchFamily="34" charset="0"/>
                <a:ea typeface="Calibri" pitchFamily="34" charset="-122"/>
                <a:cs typeface="Calibri" pitchFamily="34" charset="-120"/>
              </a:rPr>
              <a:t>Data law</a:t>
            </a:r>
            <a:endParaRPr lang="en-US" sz="900" dirty="0"/>
          </a:p>
        </p:txBody>
      </p:sp>
      <p:sp>
        <p:nvSpPr>
          <p:cNvPr id="86" name="Text 77"/>
          <p:cNvSpPr txBox="1"/>
          <p:nvPr/>
        </p:nvSpPr>
        <p:spPr>
          <a:xfrm>
            <a:off x="10076688" y="2130552"/>
            <a:ext cx="1792224" cy="219456"/>
          </a:xfrm>
          <a:prstGeom prst="rect">
            <a:avLst/>
          </a:prstGeom>
          <a:noFill/>
          <a:ln/>
        </p:spPr>
        <p:txBody>
          <a:bodyPr wrap="square" lIns="0" tIns="0" rIns="0" bIns="0" rtlCol="0" anchor="ctr"/>
          <a:lstStyle/>
          <a:p>
            <a:pPr marL="0" indent="0" algn="r">
              <a:buNone/>
            </a:pPr>
            <a:r>
              <a:rPr lang="en-US" sz="900" b="1" dirty="0">
                <a:solidFill>
                  <a:srgbClr val="111018"/>
                </a:solidFill>
                <a:latin typeface="Arial" pitchFamily="34" charset="0"/>
                <a:ea typeface="Arial" pitchFamily="34" charset="-122"/>
                <a:cs typeface="Arial" pitchFamily="34" charset="-120"/>
              </a:rPr>
              <a:t>DPDP Act 2023 · ABDM policy</a:t>
            </a:r>
            <a:endParaRPr lang="en-US" sz="900" dirty="0"/>
          </a:p>
        </p:txBody>
      </p:sp>
      <p:sp>
        <p:nvSpPr>
          <p:cNvPr id="87" name="Shape 78"/>
          <p:cNvSpPr/>
          <p:nvPr/>
        </p:nvSpPr>
        <p:spPr>
          <a:xfrm>
            <a:off x="8887968" y="2450592"/>
            <a:ext cx="2980944" cy="7315"/>
          </a:xfrm>
          <a:prstGeom prst="rect">
            <a:avLst/>
          </a:prstGeom>
          <a:solidFill>
            <a:srgbClr val="ECEAF3"/>
          </a:solidFill>
          <a:ln w="12700">
            <a:solidFill>
              <a:srgbClr val="ECEAF3"/>
            </a:solidFill>
            <a:prstDash val="solid"/>
          </a:ln>
        </p:spPr>
      </p:sp>
      <p:sp>
        <p:nvSpPr>
          <p:cNvPr id="88" name="Text 79"/>
          <p:cNvSpPr txBox="1"/>
          <p:nvPr/>
        </p:nvSpPr>
        <p:spPr>
          <a:xfrm>
            <a:off x="8887968" y="2542032"/>
            <a:ext cx="2980944" cy="164592"/>
          </a:xfrm>
          <a:prstGeom prst="rect">
            <a:avLst/>
          </a:prstGeom>
          <a:noFill/>
          <a:ln/>
        </p:spPr>
        <p:txBody>
          <a:bodyPr wrap="square" lIns="0" tIns="0" rIns="0" bIns="0" rtlCol="0" anchor="ctr"/>
          <a:lstStyle/>
          <a:p>
            <a:pPr marL="0" indent="0">
              <a:buNone/>
            </a:pPr>
            <a:r>
              <a:rPr lang="en-US" sz="800" b="1" kern="0" spc="80" dirty="0">
                <a:solidFill>
                  <a:srgbClr val="5F5F6B"/>
                </a:solidFill>
                <a:latin typeface="Arial" pitchFamily="34" charset="0"/>
                <a:ea typeface="Arial" pitchFamily="34" charset="-122"/>
                <a:cs typeface="Arial" pitchFamily="34" charset="-120"/>
              </a:rPr>
              <a:t>SOLVED</a:t>
            </a:r>
            <a:endParaRPr lang="en-US" sz="800" dirty="0"/>
          </a:p>
        </p:txBody>
      </p:sp>
      <p:sp>
        <p:nvSpPr>
          <p:cNvPr id="89" name="Text 80"/>
          <p:cNvSpPr txBox="1"/>
          <p:nvPr/>
        </p:nvSpPr>
        <p:spPr>
          <a:xfrm>
            <a:off x="8887968" y="2743200"/>
            <a:ext cx="1828800" cy="201168"/>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Acuity scoring</a:t>
            </a:r>
            <a:endParaRPr lang="en-US" sz="900" dirty="0"/>
          </a:p>
        </p:txBody>
      </p:sp>
      <p:sp>
        <p:nvSpPr>
          <p:cNvPr id="90" name="Text 81"/>
          <p:cNvSpPr txBox="1"/>
          <p:nvPr/>
        </p:nvSpPr>
        <p:spPr>
          <a:xfrm>
            <a:off x="10716768" y="2743200"/>
            <a:ext cx="1152144" cy="201168"/>
          </a:xfrm>
          <a:prstGeom prst="rect">
            <a:avLst/>
          </a:prstGeom>
          <a:noFill/>
          <a:ln/>
        </p:spPr>
        <p:txBody>
          <a:bodyPr wrap="square" lIns="0" tIns="0" rIns="0" bIns="0" rtlCol="0" anchor="ctr"/>
          <a:lstStyle/>
          <a:p>
            <a:pPr marL="0" indent="0" algn="r">
              <a:buNone/>
            </a:pPr>
            <a:r>
              <a:rPr lang="en-US" sz="900" b="1" dirty="0">
                <a:solidFill>
                  <a:srgbClr val="0A6E43"/>
                </a:solidFill>
                <a:latin typeface="Arial" pitchFamily="34" charset="0"/>
                <a:ea typeface="Arial" pitchFamily="34" charset="-122"/>
                <a:cs typeface="Arial" pitchFamily="34" charset="-120"/>
              </a:rPr>
              <a:t>solved</a:t>
            </a:r>
            <a:endParaRPr lang="en-US" sz="900" dirty="0"/>
          </a:p>
        </p:txBody>
      </p:sp>
      <p:sp>
        <p:nvSpPr>
          <p:cNvPr id="91" name="Text 82"/>
          <p:cNvSpPr txBox="1"/>
          <p:nvPr/>
        </p:nvSpPr>
        <p:spPr>
          <a:xfrm>
            <a:off x="8887968" y="2962656"/>
            <a:ext cx="1828800" cy="201168"/>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Safety architecture</a:t>
            </a:r>
            <a:endParaRPr lang="en-US" sz="900" dirty="0"/>
          </a:p>
        </p:txBody>
      </p:sp>
      <p:sp>
        <p:nvSpPr>
          <p:cNvPr id="92" name="Text 83"/>
          <p:cNvSpPr txBox="1"/>
          <p:nvPr/>
        </p:nvSpPr>
        <p:spPr>
          <a:xfrm>
            <a:off x="10716768" y="3035808"/>
            <a:ext cx="1152144" cy="201168"/>
          </a:xfrm>
          <a:prstGeom prst="rect">
            <a:avLst/>
          </a:prstGeom>
          <a:noFill/>
          <a:ln/>
        </p:spPr>
        <p:txBody>
          <a:bodyPr wrap="square" lIns="0" tIns="0" rIns="0" bIns="0" rtlCol="0" anchor="ctr"/>
          <a:lstStyle/>
          <a:p>
            <a:pPr algn="r"/>
            <a:r>
              <a:rPr lang="en-US" sz="900" b="1" dirty="0">
                <a:solidFill>
                  <a:srgbClr val="0A6E43"/>
                </a:solidFill>
                <a:latin typeface="Arial" pitchFamily="34" charset="0"/>
                <a:ea typeface="Arial" pitchFamily="34" charset="-122"/>
                <a:cs typeface="Arial" pitchFamily="34" charset="-120"/>
              </a:rPr>
              <a:t>solved</a:t>
            </a:r>
            <a:endParaRPr lang="en-US" sz="900" dirty="0"/>
          </a:p>
          <a:p>
            <a:pPr marL="0" indent="0" algn="r">
              <a:buNone/>
            </a:pPr>
            <a:endParaRPr lang="en-US" sz="900" dirty="0"/>
          </a:p>
        </p:txBody>
      </p:sp>
      <p:sp>
        <p:nvSpPr>
          <p:cNvPr id="93" name="Text 84"/>
          <p:cNvSpPr txBox="1"/>
          <p:nvPr/>
        </p:nvSpPr>
        <p:spPr>
          <a:xfrm>
            <a:off x="8887968" y="3182112"/>
            <a:ext cx="1828800" cy="201168"/>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Deployability</a:t>
            </a:r>
            <a:endParaRPr lang="en-US" sz="900" dirty="0"/>
          </a:p>
        </p:txBody>
      </p:sp>
      <p:sp>
        <p:nvSpPr>
          <p:cNvPr id="94" name="Text 85"/>
          <p:cNvSpPr txBox="1"/>
          <p:nvPr/>
        </p:nvSpPr>
        <p:spPr>
          <a:xfrm>
            <a:off x="10716768" y="3255264"/>
            <a:ext cx="1152144" cy="201168"/>
          </a:xfrm>
          <a:prstGeom prst="rect">
            <a:avLst/>
          </a:prstGeom>
          <a:noFill/>
          <a:ln/>
        </p:spPr>
        <p:txBody>
          <a:bodyPr wrap="square" lIns="0" tIns="0" rIns="0" bIns="0" rtlCol="0" anchor="ctr"/>
          <a:lstStyle/>
          <a:p>
            <a:pPr algn="r"/>
            <a:r>
              <a:rPr lang="en-US" sz="900" b="1" dirty="0">
                <a:solidFill>
                  <a:srgbClr val="0A6E43"/>
                </a:solidFill>
                <a:latin typeface="Arial" pitchFamily="34" charset="0"/>
                <a:ea typeface="Arial" pitchFamily="34" charset="-122"/>
                <a:cs typeface="Arial" pitchFamily="34" charset="-120"/>
              </a:rPr>
              <a:t>solved</a:t>
            </a:r>
            <a:endParaRPr lang="en-US" sz="900" dirty="0"/>
          </a:p>
          <a:p>
            <a:pPr marL="0" indent="0" algn="r">
              <a:buNone/>
            </a:pPr>
            <a:endParaRPr lang="en-US" sz="900" dirty="0"/>
          </a:p>
        </p:txBody>
      </p:sp>
      <p:sp>
        <p:nvSpPr>
          <p:cNvPr id="95" name="Text 86"/>
          <p:cNvSpPr txBox="1"/>
          <p:nvPr/>
        </p:nvSpPr>
        <p:spPr>
          <a:xfrm>
            <a:off x="8887968" y="3401568"/>
            <a:ext cx="1828800" cy="201168"/>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Clinical trust</a:t>
            </a:r>
            <a:endParaRPr lang="en-US" sz="900" dirty="0"/>
          </a:p>
        </p:txBody>
      </p:sp>
      <p:sp>
        <p:nvSpPr>
          <p:cNvPr id="96" name="Text 87"/>
          <p:cNvSpPr txBox="1"/>
          <p:nvPr/>
        </p:nvSpPr>
        <p:spPr>
          <a:xfrm>
            <a:off x="10716768" y="3401568"/>
            <a:ext cx="1152144" cy="201168"/>
          </a:xfrm>
          <a:prstGeom prst="rect">
            <a:avLst/>
          </a:prstGeom>
          <a:noFill/>
          <a:ln/>
        </p:spPr>
        <p:txBody>
          <a:bodyPr wrap="square" lIns="0" tIns="0" rIns="0" bIns="0" rtlCol="0" anchor="ctr"/>
          <a:lstStyle/>
          <a:p>
            <a:pPr marL="0" indent="0" algn="r">
              <a:buNone/>
            </a:pPr>
            <a:r>
              <a:rPr lang="en-US" sz="900" b="1" dirty="0">
                <a:solidFill>
                  <a:srgbClr val="B81C26"/>
                </a:solidFill>
                <a:latin typeface="Arial" pitchFamily="34" charset="0"/>
                <a:ea typeface="Arial" pitchFamily="34" charset="-122"/>
                <a:cs typeface="Arial" pitchFamily="34" charset="-120"/>
              </a:rPr>
              <a:t>not solved</a:t>
            </a:r>
            <a:endParaRPr lang="en-US" sz="900" dirty="0"/>
          </a:p>
        </p:txBody>
      </p:sp>
      <p:sp>
        <p:nvSpPr>
          <p:cNvPr id="97" name="Shape 88"/>
          <p:cNvSpPr/>
          <p:nvPr/>
        </p:nvSpPr>
        <p:spPr>
          <a:xfrm>
            <a:off x="8769096" y="3694176"/>
            <a:ext cx="3218688" cy="2962656"/>
          </a:xfrm>
          <a:prstGeom prst="rect">
            <a:avLst/>
          </a:prstGeom>
          <a:solidFill>
            <a:srgbClr val="FFFFFF"/>
          </a:solidFill>
          <a:ln w="12700">
            <a:solidFill>
              <a:srgbClr val="D9D6E3"/>
            </a:solidFill>
            <a:prstDash val="solid"/>
          </a:ln>
        </p:spPr>
      </p:sp>
      <p:sp>
        <p:nvSpPr>
          <p:cNvPr id="98" name="Shape 89"/>
          <p:cNvSpPr/>
          <p:nvPr/>
        </p:nvSpPr>
        <p:spPr>
          <a:xfrm>
            <a:off x="8769096" y="3694176"/>
            <a:ext cx="3218688" cy="274320"/>
          </a:xfrm>
          <a:prstGeom prst="rect">
            <a:avLst/>
          </a:prstGeom>
          <a:solidFill>
            <a:srgbClr val="B81C26"/>
          </a:solidFill>
          <a:ln w="12700">
            <a:solidFill>
              <a:srgbClr val="B81C26"/>
            </a:solidFill>
            <a:prstDash val="solid"/>
          </a:ln>
        </p:spPr>
      </p:sp>
      <p:sp>
        <p:nvSpPr>
          <p:cNvPr id="99" name="Text 90"/>
          <p:cNvSpPr txBox="1"/>
          <p:nvPr/>
        </p:nvSpPr>
        <p:spPr>
          <a:xfrm>
            <a:off x="8769096" y="3694176"/>
            <a:ext cx="321868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WHY NOT THE CHEAPER ANSWERS</a:t>
            </a:r>
            <a:endParaRPr lang="en-US" sz="1050" dirty="0"/>
          </a:p>
        </p:txBody>
      </p:sp>
      <p:sp>
        <p:nvSpPr>
          <p:cNvPr id="100" name="Text 91"/>
          <p:cNvSpPr txBox="1"/>
          <p:nvPr/>
        </p:nvSpPr>
        <p:spPr>
          <a:xfrm>
            <a:off x="8887968" y="4059936"/>
            <a:ext cx="2980944" cy="694944"/>
          </a:xfrm>
          <a:prstGeom prst="rect">
            <a:avLst/>
          </a:prstGeom>
          <a:noFill/>
          <a:ln/>
        </p:spPr>
        <p:txBody>
          <a:bodyPr wrap="square" lIns="0" tIns="0" rIns="0" bIns="0" rtlCol="0" anchor="ctr"/>
          <a:lstStyle/>
          <a:p>
            <a:pPr marL="0" indent="0">
              <a:lnSpc>
                <a:spcPct val="106000"/>
              </a:lnSpc>
              <a:buNone/>
            </a:pPr>
            <a:r>
              <a:rPr lang="en-US" sz="880" b="1" dirty="0">
                <a:solidFill>
                  <a:srgbClr val="111018"/>
                </a:solidFill>
                <a:latin typeface="Calibri" pitchFamily="34" charset="0"/>
                <a:ea typeface="Calibri" pitchFamily="34" charset="-122"/>
                <a:cs typeface="Calibri" pitchFamily="34" charset="-120"/>
              </a:rPr>
              <a:t>Do nothing.  </a:t>
            </a:r>
            <a:r>
              <a:rPr lang="en-US" sz="880" dirty="0">
                <a:solidFill>
                  <a:srgbClr val="2E2E36"/>
                </a:solidFill>
                <a:latin typeface="Calibri" pitchFamily="34" charset="0"/>
                <a:ea typeface="Calibri" pitchFamily="34" charset="-122"/>
                <a:cs typeface="Calibri" pitchFamily="34" charset="-120"/>
              </a:rPr>
              <a:t>One in three critically ill patients is not identified, and the failure is invisible to the department it happens in.</a:t>
            </a:r>
            <a:endParaRPr lang="en-US" sz="880" dirty="0"/>
          </a:p>
        </p:txBody>
      </p:sp>
      <p:sp>
        <p:nvSpPr>
          <p:cNvPr id="101" name="Text 92"/>
          <p:cNvSpPr txBox="1"/>
          <p:nvPr/>
        </p:nvSpPr>
        <p:spPr>
          <a:xfrm>
            <a:off x="8887968" y="4791456"/>
            <a:ext cx="2980944" cy="694944"/>
          </a:xfrm>
          <a:prstGeom prst="rect">
            <a:avLst/>
          </a:prstGeom>
          <a:noFill/>
          <a:ln/>
        </p:spPr>
        <p:txBody>
          <a:bodyPr wrap="square" lIns="0" tIns="0" rIns="0" bIns="0" rtlCol="0" anchor="ctr"/>
          <a:lstStyle/>
          <a:p>
            <a:pPr marL="0" indent="0">
              <a:lnSpc>
                <a:spcPct val="106000"/>
              </a:lnSpc>
              <a:buNone/>
            </a:pPr>
            <a:r>
              <a:rPr lang="en-US" sz="880" b="1" dirty="0">
                <a:solidFill>
                  <a:srgbClr val="111018"/>
                </a:solidFill>
                <a:latin typeface="Calibri" pitchFamily="34" charset="0"/>
                <a:ea typeface="Calibri" pitchFamily="34" charset="-122"/>
                <a:cs typeface="Calibri" pitchFamily="34" charset="-120"/>
              </a:rPr>
              <a:t>Hire two more triage nurses.  </a:t>
            </a:r>
            <a:r>
              <a:rPr lang="en-US" sz="880" dirty="0">
                <a:solidFill>
                  <a:srgbClr val="2E2E36"/>
                </a:solidFill>
                <a:latin typeface="Calibri" pitchFamily="34" charset="0"/>
                <a:ea typeface="Calibri" pitchFamily="34" charset="-122"/>
                <a:cs typeface="Calibri" pitchFamily="34" charset="-120"/>
              </a:rPr>
              <a:t>Buys throughput, not consistency -  two more sets of judgment ranging 0.46-0.91, and none of them re-checks the waiting room.</a:t>
            </a:r>
            <a:endParaRPr lang="en-US" sz="880" dirty="0"/>
          </a:p>
        </p:txBody>
      </p:sp>
      <p:sp>
        <p:nvSpPr>
          <p:cNvPr id="102" name="Text 93"/>
          <p:cNvSpPr txBox="1"/>
          <p:nvPr/>
        </p:nvSpPr>
        <p:spPr>
          <a:xfrm>
            <a:off x="8887968" y="5522976"/>
            <a:ext cx="2980944" cy="694944"/>
          </a:xfrm>
          <a:prstGeom prst="rect">
            <a:avLst/>
          </a:prstGeom>
          <a:noFill/>
          <a:ln/>
        </p:spPr>
        <p:txBody>
          <a:bodyPr wrap="square" lIns="0" tIns="0" rIns="0" bIns="0" rtlCol="0" anchor="ctr"/>
          <a:lstStyle/>
          <a:p>
            <a:pPr marL="0" indent="0">
              <a:lnSpc>
                <a:spcPct val="106000"/>
              </a:lnSpc>
              <a:buNone/>
            </a:pPr>
            <a:r>
              <a:rPr lang="en-US" sz="880" b="1" dirty="0">
                <a:solidFill>
                  <a:srgbClr val="111018"/>
                </a:solidFill>
                <a:latin typeface="Calibri" pitchFamily="34" charset="0"/>
                <a:ea typeface="Calibri" pitchFamily="34" charset="-122"/>
                <a:cs typeface="Calibri" pitchFamily="34" charset="-120"/>
              </a:rPr>
              <a:t>Buy a commercial AI triage product.  </a:t>
            </a:r>
            <a:r>
              <a:rPr lang="en-US" sz="880" dirty="0">
                <a:solidFill>
                  <a:srgbClr val="2E2E36"/>
                </a:solidFill>
                <a:latin typeface="Calibri" pitchFamily="34" charset="0"/>
                <a:ea typeface="Calibri" pitchFamily="34" charset="-122"/>
                <a:cs typeface="Calibri" pitchFamily="34" charset="-120"/>
              </a:rPr>
              <a:t>The canonical deployed example scored AUC 0.63 externally, missed 67% of sepsis, and alerted on 18% of all patients.</a:t>
            </a:r>
            <a:endParaRPr lang="en-US" sz="880" dirty="0"/>
          </a:p>
        </p:txBody>
      </p:sp>
      <p:sp>
        <p:nvSpPr>
          <p:cNvPr id="103" name="Text 94"/>
          <p:cNvSpPr txBox="1"/>
          <p:nvPr/>
        </p:nvSpPr>
        <p:spPr>
          <a:xfrm>
            <a:off x="8887968" y="6327648"/>
            <a:ext cx="2980944" cy="310896"/>
          </a:xfrm>
          <a:prstGeom prst="rect">
            <a:avLst/>
          </a:prstGeom>
          <a:noFill/>
          <a:ln/>
        </p:spPr>
        <p:txBody>
          <a:bodyPr wrap="square" lIns="0" tIns="0" rIns="0" bIns="0" rtlCol="0" anchor="ctr"/>
          <a:lstStyle/>
          <a:p>
            <a:pPr marL="0" indent="0">
              <a:lnSpc>
                <a:spcPct val="102000"/>
              </a:lnSpc>
              <a:buNone/>
            </a:pPr>
            <a:r>
              <a:rPr lang="en-US" sz="900" b="1" dirty="0">
                <a:solidFill>
                  <a:srgbClr val="460073"/>
                </a:solidFill>
                <a:latin typeface="Arial" pitchFamily="34" charset="0"/>
                <a:ea typeface="Arial" pitchFamily="34" charset="-122"/>
                <a:cs typeface="Arial" pitchFamily="34" charset="-120"/>
              </a:rPr>
              <a:t>Every constraint in this deck derives from a published failure of a shipped system.</a:t>
            </a:r>
            <a:endParaRPr lang="en-US" sz="900" dirty="0"/>
          </a:p>
        </p:txBody>
      </p:sp>
      <p:sp>
        <p:nvSpPr>
          <p:cNvPr id="104" name="Text 95"/>
          <p:cNvSpPr txBox="1"/>
          <p:nvPr/>
        </p:nvSpPr>
        <p:spPr>
          <a:xfrm>
            <a:off x="201168" y="6711696"/>
            <a:ext cx="11789359" cy="146304"/>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Text 3"/>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PROBLEM</a:t>
            </a:r>
            <a:endParaRPr lang="en-US" sz="1050" dirty="0"/>
          </a:p>
        </p:txBody>
      </p:sp>
      <p:sp>
        <p:nvSpPr>
          <p:cNvPr id="6" name="Text 4"/>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INSIGHT</a:t>
            </a:r>
            <a:endParaRPr lang="en-US" sz="1050" dirty="0"/>
          </a:p>
        </p:txBody>
      </p:sp>
      <p:sp>
        <p:nvSpPr>
          <p:cNvPr id="7" name="Text 5"/>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SOLUTION</a:t>
            </a:r>
            <a:endParaRPr lang="en-US" sz="1050" dirty="0"/>
          </a:p>
        </p:txBody>
      </p:sp>
      <p:sp>
        <p:nvSpPr>
          <p:cNvPr id="8" name="Shape 6"/>
          <p:cNvSpPr/>
          <p:nvPr/>
        </p:nvSpPr>
        <p:spPr>
          <a:xfrm>
            <a:off x="4748349" y="0"/>
            <a:ext cx="1338943" cy="402336"/>
          </a:xfrm>
          <a:prstGeom prst="rect">
            <a:avLst/>
          </a:prstGeom>
          <a:solidFill>
            <a:srgbClr val="460073"/>
          </a:solidFill>
          <a:ln w="12700">
            <a:solidFill>
              <a:srgbClr val="460073"/>
            </a:solidFill>
            <a:prstDash val="solid"/>
          </a:ln>
        </p:spPr>
      </p:sp>
      <p:sp>
        <p:nvSpPr>
          <p:cNvPr id="9" name="Text 7"/>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PRODUCT</a:t>
            </a:r>
            <a:endParaRPr lang="en-US" sz="1100" dirty="0"/>
          </a:p>
        </p:txBody>
      </p:sp>
      <p:sp>
        <p:nvSpPr>
          <p:cNvPr id="10" name="Text 8"/>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ARCHITECTURE</a:t>
            </a:r>
            <a:endParaRPr lang="en-US" sz="1050" dirty="0"/>
          </a:p>
        </p:txBody>
      </p:sp>
      <p:sp>
        <p:nvSpPr>
          <p:cNvPr id="11" name="Text 9"/>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IMPACT</a:t>
            </a:r>
            <a:endParaRPr lang="en-US" sz="1050" dirty="0"/>
          </a:p>
        </p:txBody>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EXECUTION</a:t>
            </a:r>
            <a:endParaRPr lang="en-US" sz="105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201168" y="530352"/>
            <a:ext cx="6858000" cy="4443984"/>
          </a:xfrm>
          <a:prstGeom prst="rect">
            <a:avLst/>
          </a:prstGeom>
          <a:solidFill>
            <a:srgbClr val="FFFFFF"/>
          </a:solidFill>
          <a:ln w="12700">
            <a:solidFill>
              <a:srgbClr val="D9D6E3"/>
            </a:solidFill>
            <a:prstDash val="solid"/>
          </a:ln>
        </p:spPr>
      </p:sp>
      <p:sp>
        <p:nvSpPr>
          <p:cNvPr id="15" name="Shape 13"/>
          <p:cNvSpPr/>
          <p:nvPr/>
        </p:nvSpPr>
        <p:spPr>
          <a:xfrm>
            <a:off x="201168" y="530352"/>
            <a:ext cx="6858000" cy="274320"/>
          </a:xfrm>
          <a:prstGeom prst="rect">
            <a:avLst/>
          </a:prstGeom>
          <a:solidFill>
            <a:srgbClr val="5C0099"/>
          </a:solidFill>
          <a:ln w="12700">
            <a:solidFill>
              <a:srgbClr val="5C0099"/>
            </a:solidFill>
            <a:prstDash val="solid"/>
          </a:ln>
        </p:spPr>
      </p:sp>
      <p:sp>
        <p:nvSpPr>
          <p:cNvPr id="16" name="Text 14"/>
          <p:cNvSpPr txBox="1"/>
          <p:nvPr/>
        </p:nvSpPr>
        <p:spPr>
          <a:xfrm>
            <a:off x="201168" y="530352"/>
            <a:ext cx="685800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THE WAITING ROOM - RANKED, AND RE-SCORED ON A TIMER</a:t>
            </a:r>
            <a:endParaRPr lang="en-US" sz="1050" dirty="0"/>
          </a:p>
        </p:txBody>
      </p:sp>
      <p:pic>
        <p:nvPicPr>
          <p:cNvPr id="17" name="Image 0" descr="/home/claude/deck/ui_queue.png"/>
          <p:cNvPicPr>
            <a:picLocks noChangeAspect="1"/>
          </p:cNvPicPr>
          <p:nvPr/>
        </p:nvPicPr>
        <p:blipFill>
          <a:blip r:embed="rId3"/>
          <a:stretch>
            <a:fillRect/>
          </a:stretch>
        </p:blipFill>
        <p:spPr>
          <a:xfrm>
            <a:off x="600439" y="896112"/>
            <a:ext cx="6035040" cy="3113532"/>
          </a:xfrm>
          <a:prstGeom prst="rect">
            <a:avLst/>
          </a:prstGeom>
        </p:spPr>
      </p:pic>
      <p:sp>
        <p:nvSpPr>
          <p:cNvPr id="18" name="Shape 15"/>
          <p:cNvSpPr/>
          <p:nvPr/>
        </p:nvSpPr>
        <p:spPr>
          <a:xfrm>
            <a:off x="347472" y="4078224"/>
            <a:ext cx="1586484" cy="804672"/>
          </a:xfrm>
          <a:prstGeom prst="roundRect">
            <a:avLst>
              <a:gd name="adj" fmla="val 4545"/>
            </a:avLst>
          </a:prstGeom>
          <a:solidFill>
            <a:srgbClr val="F7F4FC"/>
          </a:solidFill>
          <a:ln w="12700">
            <a:solidFill>
              <a:srgbClr val="ECEAF3"/>
            </a:solidFill>
            <a:prstDash val="solid"/>
          </a:ln>
        </p:spPr>
      </p:sp>
      <p:sp>
        <p:nvSpPr>
          <p:cNvPr id="19" name="Shape 16"/>
          <p:cNvSpPr/>
          <p:nvPr/>
        </p:nvSpPr>
        <p:spPr>
          <a:xfrm>
            <a:off x="393192" y="4185134"/>
            <a:ext cx="201168" cy="182880"/>
          </a:xfrm>
          <a:prstGeom prst="roundRect">
            <a:avLst>
              <a:gd name="adj" fmla="val 250000"/>
            </a:avLst>
          </a:prstGeom>
          <a:solidFill>
            <a:srgbClr val="F4ECFE"/>
          </a:solidFill>
          <a:ln w="12700">
            <a:solidFill>
              <a:srgbClr val="460073"/>
            </a:solidFill>
            <a:prstDash val="solid"/>
          </a:ln>
        </p:spPr>
      </p:sp>
      <p:sp>
        <p:nvSpPr>
          <p:cNvPr id="20" name="Text 17"/>
          <p:cNvSpPr txBox="1"/>
          <p:nvPr/>
        </p:nvSpPr>
        <p:spPr>
          <a:xfrm>
            <a:off x="409935" y="4185060"/>
            <a:ext cx="201168" cy="210312"/>
          </a:xfrm>
          <a:prstGeom prst="rect">
            <a:avLst/>
          </a:prstGeom>
          <a:noFill/>
          <a:ln/>
        </p:spPr>
        <p:txBody>
          <a:bodyPr wrap="square" lIns="0" tIns="0" rIns="0" bIns="0" rtlCol="0" anchor="ctr"/>
          <a:lstStyle/>
          <a:p>
            <a:pPr marL="0" indent="0" algn="ctr">
              <a:buNone/>
            </a:pPr>
            <a:r>
              <a:rPr lang="en-US" sz="850" b="1" kern="0" spc="40" dirty="0">
                <a:solidFill>
                  <a:srgbClr val="460073"/>
                </a:solidFill>
                <a:latin typeface="Arial" pitchFamily="34" charset="0"/>
                <a:ea typeface="Arial" pitchFamily="34" charset="-122"/>
                <a:cs typeface="Arial" pitchFamily="34" charset="-120"/>
              </a:rPr>
              <a:t>1</a:t>
            </a:r>
            <a:endParaRPr lang="en-US" sz="850" dirty="0"/>
          </a:p>
        </p:txBody>
      </p:sp>
      <p:sp>
        <p:nvSpPr>
          <p:cNvPr id="21" name="Text 18"/>
          <p:cNvSpPr txBox="1"/>
          <p:nvPr/>
        </p:nvSpPr>
        <p:spPr>
          <a:xfrm>
            <a:off x="649224" y="4178808"/>
            <a:ext cx="1184148"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Rank + movement</a:t>
            </a:r>
            <a:endParaRPr lang="en-US" sz="880" dirty="0"/>
          </a:p>
        </p:txBody>
      </p:sp>
      <p:sp>
        <p:nvSpPr>
          <p:cNvPr id="22" name="Text 19"/>
          <p:cNvSpPr txBox="1"/>
          <p:nvPr/>
        </p:nvSpPr>
        <p:spPr>
          <a:xfrm>
            <a:off x="421510" y="4377158"/>
            <a:ext cx="1440180" cy="493776"/>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The ▲ badge shows how far a patient moved since the last re-score, and why.</a:t>
            </a:r>
            <a:endParaRPr lang="en-US" sz="820" dirty="0"/>
          </a:p>
        </p:txBody>
      </p:sp>
      <p:sp>
        <p:nvSpPr>
          <p:cNvPr id="23" name="Shape 20"/>
          <p:cNvSpPr/>
          <p:nvPr/>
        </p:nvSpPr>
        <p:spPr>
          <a:xfrm>
            <a:off x="2016252" y="4075985"/>
            <a:ext cx="1586484" cy="804672"/>
          </a:xfrm>
          <a:prstGeom prst="roundRect">
            <a:avLst>
              <a:gd name="adj" fmla="val 4545"/>
            </a:avLst>
          </a:prstGeom>
          <a:solidFill>
            <a:srgbClr val="F7F4FC"/>
          </a:solidFill>
          <a:ln w="12700">
            <a:solidFill>
              <a:srgbClr val="ECEAF3"/>
            </a:solidFill>
            <a:prstDash val="solid"/>
          </a:ln>
        </p:spPr>
      </p:sp>
      <p:sp>
        <p:nvSpPr>
          <p:cNvPr id="24" name="Shape 21"/>
          <p:cNvSpPr/>
          <p:nvPr/>
        </p:nvSpPr>
        <p:spPr>
          <a:xfrm>
            <a:off x="2071116" y="4178808"/>
            <a:ext cx="201168" cy="182880"/>
          </a:xfrm>
          <a:prstGeom prst="roundRect">
            <a:avLst>
              <a:gd name="adj" fmla="val 250000"/>
            </a:avLst>
          </a:prstGeom>
          <a:solidFill>
            <a:srgbClr val="F4ECFE"/>
          </a:solidFill>
          <a:ln w="12700">
            <a:solidFill>
              <a:srgbClr val="460073"/>
            </a:solidFill>
            <a:prstDash val="solid"/>
          </a:ln>
        </p:spPr>
        <p:txBody>
          <a:bodyPr/>
          <a:lstStyle/>
          <a:p>
            <a:endParaRPr lang="en-IN" dirty="0"/>
          </a:p>
        </p:txBody>
      </p:sp>
      <p:sp>
        <p:nvSpPr>
          <p:cNvPr id="25" name="Text 22"/>
          <p:cNvSpPr txBox="1"/>
          <p:nvPr/>
        </p:nvSpPr>
        <p:spPr>
          <a:xfrm>
            <a:off x="2071116" y="4185134"/>
            <a:ext cx="201168" cy="182880"/>
          </a:xfrm>
          <a:prstGeom prst="rect">
            <a:avLst/>
          </a:prstGeom>
          <a:noFill/>
          <a:ln/>
        </p:spPr>
        <p:txBody>
          <a:bodyPr wrap="square" lIns="0" tIns="0" rIns="0" bIns="0" rtlCol="0" anchor="ctr"/>
          <a:lstStyle/>
          <a:p>
            <a:pPr marL="0" indent="0" algn="ctr">
              <a:buNone/>
            </a:pPr>
            <a:r>
              <a:rPr lang="en-US" sz="850" b="1" kern="0" spc="40" dirty="0">
                <a:solidFill>
                  <a:srgbClr val="460073"/>
                </a:solidFill>
                <a:latin typeface="Arial" pitchFamily="34" charset="0"/>
                <a:ea typeface="Arial" pitchFamily="34" charset="-122"/>
                <a:cs typeface="Arial" pitchFamily="34" charset="-120"/>
              </a:rPr>
              <a:t>2</a:t>
            </a:r>
            <a:endParaRPr lang="en-US" sz="850" dirty="0"/>
          </a:p>
        </p:txBody>
      </p:sp>
      <p:sp>
        <p:nvSpPr>
          <p:cNvPr id="26" name="Text 23"/>
          <p:cNvSpPr txBox="1"/>
          <p:nvPr/>
        </p:nvSpPr>
        <p:spPr>
          <a:xfrm>
            <a:off x="2377440" y="4224528"/>
            <a:ext cx="1184148"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Acuity, never colour alone</a:t>
            </a:r>
            <a:endParaRPr lang="en-US" sz="880" dirty="0"/>
          </a:p>
        </p:txBody>
      </p:sp>
      <p:sp>
        <p:nvSpPr>
          <p:cNvPr id="27" name="Text 24"/>
          <p:cNvSpPr txBox="1"/>
          <p:nvPr/>
        </p:nvSpPr>
        <p:spPr>
          <a:xfrm>
            <a:off x="2126633" y="4377738"/>
            <a:ext cx="1440180" cy="493776"/>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RED / YELLOW / GREEN always ships with the ESI level as text.</a:t>
            </a:r>
            <a:endParaRPr lang="en-US" sz="820" dirty="0"/>
          </a:p>
        </p:txBody>
      </p:sp>
      <p:sp>
        <p:nvSpPr>
          <p:cNvPr id="28" name="Shape 25"/>
          <p:cNvSpPr/>
          <p:nvPr/>
        </p:nvSpPr>
        <p:spPr>
          <a:xfrm>
            <a:off x="3694176" y="4082796"/>
            <a:ext cx="1586484" cy="804672"/>
          </a:xfrm>
          <a:prstGeom prst="roundRect">
            <a:avLst>
              <a:gd name="adj" fmla="val 4545"/>
            </a:avLst>
          </a:prstGeom>
          <a:solidFill>
            <a:srgbClr val="F7F4FC"/>
          </a:solidFill>
          <a:ln w="12700">
            <a:solidFill>
              <a:srgbClr val="ECEAF3"/>
            </a:solidFill>
            <a:prstDash val="solid"/>
          </a:ln>
        </p:spPr>
      </p:sp>
      <p:sp>
        <p:nvSpPr>
          <p:cNvPr id="29" name="Shape 26"/>
          <p:cNvSpPr/>
          <p:nvPr/>
        </p:nvSpPr>
        <p:spPr>
          <a:xfrm>
            <a:off x="3768364" y="4166846"/>
            <a:ext cx="201168" cy="182880"/>
          </a:xfrm>
          <a:prstGeom prst="roundRect">
            <a:avLst>
              <a:gd name="adj" fmla="val 250000"/>
            </a:avLst>
          </a:prstGeom>
          <a:solidFill>
            <a:srgbClr val="F4ECFE"/>
          </a:solidFill>
          <a:ln w="12700">
            <a:solidFill>
              <a:srgbClr val="460073"/>
            </a:solidFill>
            <a:prstDash val="solid"/>
          </a:ln>
        </p:spPr>
      </p:sp>
      <p:sp>
        <p:nvSpPr>
          <p:cNvPr id="30" name="Text 27"/>
          <p:cNvSpPr txBox="1"/>
          <p:nvPr/>
        </p:nvSpPr>
        <p:spPr>
          <a:xfrm>
            <a:off x="3766500" y="4185134"/>
            <a:ext cx="201168" cy="182880"/>
          </a:xfrm>
          <a:prstGeom prst="rect">
            <a:avLst/>
          </a:prstGeom>
          <a:noFill/>
          <a:ln/>
        </p:spPr>
        <p:txBody>
          <a:bodyPr wrap="square" lIns="0" tIns="0" rIns="0" bIns="0" rtlCol="0" anchor="ctr"/>
          <a:lstStyle/>
          <a:p>
            <a:pPr marL="0" indent="0" algn="ctr">
              <a:buNone/>
            </a:pPr>
            <a:r>
              <a:rPr lang="en-US" sz="850" b="1" kern="0" spc="40" dirty="0">
                <a:solidFill>
                  <a:srgbClr val="460073"/>
                </a:solidFill>
                <a:latin typeface="Arial" pitchFamily="34" charset="0"/>
                <a:ea typeface="Arial" pitchFamily="34" charset="-122"/>
                <a:cs typeface="Arial" pitchFamily="34" charset="-120"/>
              </a:rPr>
              <a:t>3</a:t>
            </a:r>
            <a:endParaRPr lang="en-US" sz="850" dirty="0"/>
          </a:p>
        </p:txBody>
      </p:sp>
      <p:sp>
        <p:nvSpPr>
          <p:cNvPr id="31" name="Text 28"/>
          <p:cNvSpPr txBox="1"/>
          <p:nvPr/>
        </p:nvSpPr>
        <p:spPr>
          <a:xfrm>
            <a:off x="4026451" y="4178808"/>
            <a:ext cx="1184148"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Safe-wait breach</a:t>
            </a:r>
            <a:endParaRPr lang="en-US" sz="880" dirty="0"/>
          </a:p>
        </p:txBody>
      </p:sp>
      <p:sp>
        <p:nvSpPr>
          <p:cNvPr id="32" name="Text 29"/>
          <p:cNvSpPr txBox="1"/>
          <p:nvPr/>
        </p:nvSpPr>
        <p:spPr>
          <a:xfrm>
            <a:off x="3804875" y="4361688"/>
            <a:ext cx="1440180" cy="493776"/>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Waited time turns red when it passes the safe window for that level.</a:t>
            </a:r>
            <a:endParaRPr lang="en-US" sz="820" dirty="0"/>
          </a:p>
        </p:txBody>
      </p:sp>
      <p:sp>
        <p:nvSpPr>
          <p:cNvPr id="33" name="Shape 30"/>
          <p:cNvSpPr/>
          <p:nvPr/>
        </p:nvSpPr>
        <p:spPr>
          <a:xfrm>
            <a:off x="5378230" y="4094832"/>
            <a:ext cx="1586484" cy="804672"/>
          </a:xfrm>
          <a:prstGeom prst="roundRect">
            <a:avLst>
              <a:gd name="adj" fmla="val 4545"/>
            </a:avLst>
          </a:prstGeom>
          <a:solidFill>
            <a:srgbClr val="F7F4FC"/>
          </a:solidFill>
          <a:ln w="12700">
            <a:solidFill>
              <a:srgbClr val="ECEAF3"/>
            </a:solidFill>
            <a:prstDash val="solid"/>
          </a:ln>
        </p:spPr>
      </p:sp>
      <p:sp>
        <p:nvSpPr>
          <p:cNvPr id="34" name="Shape 31"/>
          <p:cNvSpPr/>
          <p:nvPr/>
        </p:nvSpPr>
        <p:spPr>
          <a:xfrm>
            <a:off x="5431426" y="4194278"/>
            <a:ext cx="201168" cy="182880"/>
          </a:xfrm>
          <a:prstGeom prst="roundRect">
            <a:avLst>
              <a:gd name="adj" fmla="val 250000"/>
            </a:avLst>
          </a:prstGeom>
          <a:solidFill>
            <a:srgbClr val="F4ECFE"/>
          </a:solidFill>
          <a:ln w="12700">
            <a:solidFill>
              <a:srgbClr val="460073"/>
            </a:solidFill>
            <a:prstDash val="solid"/>
          </a:ln>
        </p:spPr>
      </p:sp>
      <p:sp>
        <p:nvSpPr>
          <p:cNvPr id="35" name="Text 32"/>
          <p:cNvSpPr txBox="1"/>
          <p:nvPr/>
        </p:nvSpPr>
        <p:spPr>
          <a:xfrm>
            <a:off x="5431426" y="4185134"/>
            <a:ext cx="201168" cy="182880"/>
          </a:xfrm>
          <a:prstGeom prst="rect">
            <a:avLst/>
          </a:prstGeom>
          <a:noFill/>
          <a:ln/>
        </p:spPr>
        <p:txBody>
          <a:bodyPr wrap="square" lIns="0" tIns="0" rIns="0" bIns="0" rtlCol="0" anchor="ctr"/>
          <a:lstStyle/>
          <a:p>
            <a:pPr marL="0" indent="0" algn="ctr">
              <a:buNone/>
            </a:pPr>
            <a:r>
              <a:rPr lang="en-US" sz="850" b="1" kern="0" spc="40" dirty="0">
                <a:solidFill>
                  <a:srgbClr val="460073"/>
                </a:solidFill>
                <a:latin typeface="Arial" pitchFamily="34" charset="0"/>
                <a:ea typeface="Arial" pitchFamily="34" charset="-122"/>
                <a:cs typeface="Arial" pitchFamily="34" charset="-120"/>
              </a:rPr>
              <a:t>4</a:t>
            </a:r>
            <a:endParaRPr lang="en-US" sz="850" dirty="0"/>
          </a:p>
        </p:txBody>
      </p:sp>
      <p:sp>
        <p:nvSpPr>
          <p:cNvPr id="36" name="Text 33"/>
          <p:cNvSpPr txBox="1"/>
          <p:nvPr/>
        </p:nvSpPr>
        <p:spPr>
          <a:xfrm>
            <a:off x="5682996" y="4185134"/>
            <a:ext cx="1184148"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Re-score counter</a:t>
            </a:r>
            <a:endParaRPr lang="en-US" sz="880" dirty="0"/>
          </a:p>
        </p:txBody>
      </p:sp>
      <p:sp>
        <p:nvSpPr>
          <p:cNvPr id="37" name="Text 34"/>
          <p:cNvSpPr txBox="1"/>
          <p:nvPr/>
        </p:nvSpPr>
        <p:spPr>
          <a:xfrm>
            <a:off x="5470504" y="4377738"/>
            <a:ext cx="1440180" cy="493776"/>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Every patient carries how many times the timer has re-evaluated them.</a:t>
            </a:r>
            <a:endParaRPr lang="en-US" sz="820" dirty="0"/>
          </a:p>
        </p:txBody>
      </p:sp>
      <p:sp>
        <p:nvSpPr>
          <p:cNvPr id="38" name="Shape 35"/>
          <p:cNvSpPr/>
          <p:nvPr/>
        </p:nvSpPr>
        <p:spPr>
          <a:xfrm>
            <a:off x="7260336" y="530352"/>
            <a:ext cx="4727448" cy="4443984"/>
          </a:xfrm>
          <a:prstGeom prst="rect">
            <a:avLst/>
          </a:prstGeom>
          <a:solidFill>
            <a:srgbClr val="FFFFFF"/>
          </a:solidFill>
          <a:ln w="12700">
            <a:solidFill>
              <a:srgbClr val="D9D6E3"/>
            </a:solidFill>
            <a:prstDash val="solid"/>
          </a:ln>
        </p:spPr>
      </p:sp>
      <p:sp>
        <p:nvSpPr>
          <p:cNvPr id="39" name="Shape 36"/>
          <p:cNvSpPr/>
          <p:nvPr/>
        </p:nvSpPr>
        <p:spPr>
          <a:xfrm>
            <a:off x="7260336" y="530352"/>
            <a:ext cx="4727448" cy="274320"/>
          </a:xfrm>
          <a:prstGeom prst="rect">
            <a:avLst/>
          </a:prstGeom>
          <a:solidFill>
            <a:srgbClr val="460073"/>
          </a:solidFill>
          <a:ln w="12700">
            <a:solidFill>
              <a:srgbClr val="460073"/>
            </a:solidFill>
            <a:prstDash val="solid"/>
          </a:ln>
        </p:spPr>
      </p:sp>
      <p:sp>
        <p:nvSpPr>
          <p:cNvPr id="40" name="Text 37"/>
          <p:cNvSpPr txBox="1"/>
          <p:nvPr/>
        </p:nvSpPr>
        <p:spPr>
          <a:xfrm>
            <a:off x="7260336" y="530352"/>
            <a:ext cx="472744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WHY - THE EXECUTION TRACE BEHIND EVERY SCORE</a:t>
            </a:r>
            <a:endParaRPr lang="en-US" sz="1050" dirty="0"/>
          </a:p>
        </p:txBody>
      </p:sp>
      <p:pic>
        <p:nvPicPr>
          <p:cNvPr id="41" name="Image 1" descr="/home/claude/deck/ui_trace.png"/>
          <p:cNvPicPr>
            <a:picLocks noChangeAspect="1"/>
          </p:cNvPicPr>
          <p:nvPr/>
        </p:nvPicPr>
        <p:blipFill>
          <a:blip r:embed="rId4"/>
          <a:stretch>
            <a:fillRect/>
          </a:stretch>
        </p:blipFill>
        <p:spPr>
          <a:xfrm>
            <a:off x="7886700" y="896112"/>
            <a:ext cx="3474720" cy="3411626"/>
          </a:xfrm>
          <a:prstGeom prst="rect">
            <a:avLst/>
          </a:prstGeom>
        </p:spPr>
      </p:pic>
      <p:sp>
        <p:nvSpPr>
          <p:cNvPr id="42" name="Text 38"/>
          <p:cNvSpPr txBox="1"/>
          <p:nvPr/>
        </p:nvSpPr>
        <p:spPr>
          <a:xfrm>
            <a:off x="7379208" y="4407408"/>
            <a:ext cx="4489704" cy="621792"/>
          </a:xfrm>
          <a:prstGeom prst="rect">
            <a:avLst/>
          </a:prstGeom>
          <a:noFill/>
          <a:ln/>
        </p:spPr>
        <p:txBody>
          <a:bodyPr wrap="square" lIns="0" tIns="0" rIns="0" bIns="0" rtlCol="0" anchor="ctr"/>
          <a:lstStyle/>
          <a:p>
            <a:pPr marL="0" indent="0">
              <a:lnSpc>
                <a:spcPct val="104000"/>
              </a:lnSpc>
              <a:buNone/>
            </a:pPr>
            <a:r>
              <a:rPr lang="en-US" sz="850" dirty="0">
                <a:solidFill>
                  <a:srgbClr val="2E2E36"/>
                </a:solidFill>
                <a:latin typeface="Calibri" pitchFamily="34" charset="0"/>
                <a:ea typeface="Calibri" pitchFamily="34" charset="-122"/>
                <a:cs typeface="Calibri" pitchFamily="34" charset="-120"/>
              </a:rPr>
              <a:t>Every recommendation opens its own reasoning: which deterministic layers fired, the floor min() produced, the confidence figure and its band, and the note that the learned model may move the arrow up but has no downgrade path. No score is ever returned without a confidence figure - enforced as a failing test, not a convention.</a:t>
            </a:r>
            <a:endParaRPr lang="en-US" sz="850" dirty="0"/>
          </a:p>
        </p:txBody>
      </p:sp>
      <p:sp>
        <p:nvSpPr>
          <p:cNvPr id="43" name="Shape 39"/>
          <p:cNvSpPr/>
          <p:nvPr/>
        </p:nvSpPr>
        <p:spPr>
          <a:xfrm>
            <a:off x="201168" y="5084064"/>
            <a:ext cx="11789359" cy="310896"/>
          </a:xfrm>
          <a:prstGeom prst="rect">
            <a:avLst/>
          </a:prstGeom>
          <a:solidFill>
            <a:srgbClr val="F4ECFE"/>
          </a:solidFill>
          <a:ln w="12700">
            <a:solidFill>
              <a:srgbClr val="F4ECFE"/>
            </a:solidFill>
            <a:prstDash val="solid"/>
          </a:ln>
        </p:spPr>
      </p:sp>
      <p:sp>
        <p:nvSpPr>
          <p:cNvPr id="44" name="Text 40"/>
          <p:cNvSpPr txBox="1"/>
          <p:nvPr/>
        </p:nvSpPr>
        <p:spPr>
          <a:xfrm>
            <a:off x="191837" y="5074733"/>
            <a:ext cx="11789359" cy="310896"/>
          </a:xfrm>
          <a:prstGeom prst="rect">
            <a:avLst/>
          </a:prstGeom>
          <a:noFill/>
          <a:ln/>
        </p:spPr>
        <p:txBody>
          <a:bodyPr wrap="square" lIns="0" tIns="0" rIns="0" bIns="0" rtlCol="0" anchor="ctr"/>
          <a:lstStyle/>
          <a:p>
            <a:pPr marL="0" indent="0" algn="ctr">
              <a:buNone/>
            </a:pPr>
            <a:r>
              <a:rPr lang="en-US" sz="1200" b="1" dirty="0">
                <a:solidFill>
                  <a:srgbClr val="460073"/>
                </a:solidFill>
                <a:latin typeface="Arial" pitchFamily="34" charset="0"/>
                <a:ea typeface="Arial" pitchFamily="34" charset="-122"/>
                <a:cs typeface="Arial" pitchFamily="34" charset="-120"/>
              </a:rPr>
              <a:t>Shanti K. arrived stable and moved thirteen places to #1 on a re-score - no nurse had to walk past her.</a:t>
            </a:r>
            <a:endParaRPr lang="en-US" sz="1200" dirty="0"/>
          </a:p>
        </p:txBody>
      </p:sp>
      <p:sp>
        <p:nvSpPr>
          <p:cNvPr id="45" name="Text 41"/>
          <p:cNvSpPr txBox="1"/>
          <p:nvPr/>
        </p:nvSpPr>
        <p:spPr>
          <a:xfrm>
            <a:off x="201168" y="5486400"/>
            <a:ext cx="5486400" cy="164592"/>
          </a:xfrm>
          <a:prstGeom prst="rect">
            <a:avLst/>
          </a:prstGeom>
          <a:noFill/>
          <a:ln/>
        </p:spPr>
        <p:txBody>
          <a:bodyPr wrap="square" lIns="0" tIns="0" rIns="0" bIns="0" rtlCol="0" anchor="ctr"/>
          <a:lstStyle/>
          <a:p>
            <a:pPr marL="0" indent="0">
              <a:buNone/>
            </a:pPr>
            <a:r>
              <a:rPr lang="en-US" sz="850" b="1" kern="0" spc="80" dirty="0">
                <a:solidFill>
                  <a:srgbClr val="5F5F6B"/>
                </a:solidFill>
                <a:latin typeface="Arial" pitchFamily="34" charset="0"/>
                <a:ea typeface="Arial" pitchFamily="34" charset="-122"/>
                <a:cs typeface="Arial" pitchFamily="34" charset="-120"/>
              </a:rPr>
              <a:t>THE CLINICIAN’S JOURNEY, END TO END</a:t>
            </a:r>
            <a:endParaRPr lang="en-US" sz="850" dirty="0"/>
          </a:p>
        </p:txBody>
      </p:sp>
      <p:sp>
        <p:nvSpPr>
          <p:cNvPr id="46" name="Shape 42"/>
          <p:cNvSpPr/>
          <p:nvPr/>
        </p:nvSpPr>
        <p:spPr>
          <a:xfrm>
            <a:off x="201168" y="5687568"/>
            <a:ext cx="1919173" cy="932688"/>
          </a:xfrm>
          <a:prstGeom prst="rect">
            <a:avLst/>
          </a:prstGeom>
          <a:solidFill>
            <a:srgbClr val="F4ECFE"/>
          </a:solidFill>
          <a:ln w="12700">
            <a:solidFill>
              <a:srgbClr val="F4ECFE"/>
            </a:solidFill>
            <a:prstDash val="solid"/>
          </a:ln>
        </p:spPr>
      </p:sp>
      <p:sp>
        <p:nvSpPr>
          <p:cNvPr id="47" name="Text 43"/>
          <p:cNvSpPr txBox="1"/>
          <p:nvPr/>
        </p:nvSpPr>
        <p:spPr>
          <a:xfrm>
            <a:off x="705155" y="5760720"/>
            <a:ext cx="1644853" cy="201168"/>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1 · INTAKE</a:t>
            </a:r>
            <a:endParaRPr lang="en-US" sz="950" dirty="0"/>
          </a:p>
        </p:txBody>
      </p:sp>
      <p:sp>
        <p:nvSpPr>
          <p:cNvPr id="48" name="Text 44"/>
          <p:cNvSpPr txBox="1"/>
          <p:nvPr/>
        </p:nvSpPr>
        <p:spPr>
          <a:xfrm>
            <a:off x="347472" y="5961888"/>
            <a:ext cx="1644853" cy="585216"/>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Vitals, free text in English or Hinglish, history and observed cues at the desk. Three taps, no typing on shift.</a:t>
            </a:r>
            <a:endParaRPr lang="en-US" sz="880" dirty="0"/>
          </a:p>
        </p:txBody>
      </p:sp>
      <p:sp>
        <p:nvSpPr>
          <p:cNvPr id="49" name="Shape 45"/>
          <p:cNvSpPr/>
          <p:nvPr/>
        </p:nvSpPr>
        <p:spPr>
          <a:xfrm>
            <a:off x="2175205" y="5687568"/>
            <a:ext cx="1919173" cy="932688"/>
          </a:xfrm>
          <a:prstGeom prst="chevron">
            <a:avLst/>
          </a:prstGeom>
          <a:solidFill>
            <a:srgbClr val="F4ECFE"/>
          </a:solidFill>
          <a:ln w="12700">
            <a:solidFill>
              <a:srgbClr val="F4ECFE"/>
            </a:solidFill>
            <a:prstDash val="solid"/>
          </a:ln>
        </p:spPr>
      </p:sp>
      <p:sp>
        <p:nvSpPr>
          <p:cNvPr id="50" name="Text 46"/>
          <p:cNvSpPr txBox="1"/>
          <p:nvPr/>
        </p:nvSpPr>
        <p:spPr>
          <a:xfrm>
            <a:off x="2780309" y="5742432"/>
            <a:ext cx="1644853" cy="201168"/>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2 · SCORE</a:t>
            </a:r>
            <a:endParaRPr lang="en-US" sz="950" dirty="0"/>
          </a:p>
        </p:txBody>
      </p:sp>
      <p:sp>
        <p:nvSpPr>
          <p:cNvPr id="51" name="Text 47"/>
          <p:cNvSpPr txBox="1"/>
          <p:nvPr/>
        </p:nvSpPr>
        <p:spPr>
          <a:xfrm>
            <a:off x="2648559" y="5952184"/>
            <a:ext cx="1372667" cy="585216"/>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Four rule layers run deterministically on-device in under 800 ms. No network call in the clinical path.</a:t>
            </a:r>
            <a:endParaRPr lang="en-US" sz="880" dirty="0"/>
          </a:p>
        </p:txBody>
      </p:sp>
      <p:sp>
        <p:nvSpPr>
          <p:cNvPr id="52" name="Shape 48"/>
          <p:cNvSpPr/>
          <p:nvPr/>
        </p:nvSpPr>
        <p:spPr>
          <a:xfrm>
            <a:off x="4149242" y="5687568"/>
            <a:ext cx="1919173" cy="932688"/>
          </a:xfrm>
          <a:prstGeom prst="chevron">
            <a:avLst/>
          </a:prstGeom>
          <a:solidFill>
            <a:srgbClr val="F4ECFE"/>
          </a:solidFill>
          <a:ln w="12700">
            <a:solidFill>
              <a:srgbClr val="F4ECFE"/>
            </a:solidFill>
            <a:prstDash val="solid"/>
          </a:ln>
        </p:spPr>
      </p:sp>
      <p:sp>
        <p:nvSpPr>
          <p:cNvPr id="53" name="Text 49"/>
          <p:cNvSpPr txBox="1"/>
          <p:nvPr/>
        </p:nvSpPr>
        <p:spPr>
          <a:xfrm>
            <a:off x="4705426" y="5726010"/>
            <a:ext cx="1644853" cy="201168"/>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3 · EXPLAIN</a:t>
            </a:r>
            <a:endParaRPr lang="en-US" sz="950" dirty="0"/>
          </a:p>
        </p:txBody>
      </p:sp>
      <p:sp>
        <p:nvSpPr>
          <p:cNvPr id="54" name="Text 50"/>
          <p:cNvSpPr txBox="1"/>
          <p:nvPr/>
        </p:nvSpPr>
        <p:spPr>
          <a:xfrm>
            <a:off x="4658106" y="5952184"/>
            <a:ext cx="1374919" cy="668072"/>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RED / YELLOW / GREEN with an ESI level, a confidence figure &amp; at most three plain reasons or an explicit abstention.</a:t>
            </a:r>
            <a:endParaRPr lang="en-US" sz="880" dirty="0"/>
          </a:p>
        </p:txBody>
      </p:sp>
      <p:sp>
        <p:nvSpPr>
          <p:cNvPr id="55" name="Shape 51"/>
          <p:cNvSpPr/>
          <p:nvPr/>
        </p:nvSpPr>
        <p:spPr>
          <a:xfrm>
            <a:off x="6123280" y="5687568"/>
            <a:ext cx="1919173" cy="932688"/>
          </a:xfrm>
          <a:prstGeom prst="chevron">
            <a:avLst/>
          </a:prstGeom>
          <a:solidFill>
            <a:srgbClr val="F4ECFE"/>
          </a:solidFill>
          <a:ln w="12700">
            <a:solidFill>
              <a:srgbClr val="F4ECFE"/>
            </a:solidFill>
            <a:prstDash val="solid"/>
          </a:ln>
        </p:spPr>
      </p:sp>
      <p:sp>
        <p:nvSpPr>
          <p:cNvPr id="56" name="Text 52"/>
          <p:cNvSpPr txBox="1"/>
          <p:nvPr/>
        </p:nvSpPr>
        <p:spPr>
          <a:xfrm>
            <a:off x="6648887" y="5730115"/>
            <a:ext cx="1644853" cy="201168"/>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4 · DECIDE</a:t>
            </a:r>
            <a:endParaRPr lang="en-US" sz="950" dirty="0"/>
          </a:p>
        </p:txBody>
      </p:sp>
      <p:sp>
        <p:nvSpPr>
          <p:cNvPr id="57" name="Text 53"/>
          <p:cNvSpPr txBox="1"/>
          <p:nvPr/>
        </p:nvSpPr>
        <p:spPr>
          <a:xfrm>
            <a:off x="6577279" y="5961888"/>
            <a:ext cx="1337158" cy="585216"/>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Accept with one tap, or override with one tap and a pre-populated reason code. Both cost the same.</a:t>
            </a:r>
            <a:endParaRPr lang="en-US" sz="880" dirty="0"/>
          </a:p>
        </p:txBody>
      </p:sp>
      <p:sp>
        <p:nvSpPr>
          <p:cNvPr id="58" name="Shape 54"/>
          <p:cNvSpPr/>
          <p:nvPr/>
        </p:nvSpPr>
        <p:spPr>
          <a:xfrm>
            <a:off x="8097317" y="5687568"/>
            <a:ext cx="1919173" cy="932688"/>
          </a:xfrm>
          <a:prstGeom prst="chevron">
            <a:avLst/>
          </a:prstGeom>
          <a:solidFill>
            <a:srgbClr val="F4ECFE"/>
          </a:solidFill>
          <a:ln w="12700">
            <a:solidFill>
              <a:srgbClr val="F4ECFE"/>
            </a:solidFill>
            <a:prstDash val="solid"/>
          </a:ln>
        </p:spPr>
      </p:sp>
      <p:sp>
        <p:nvSpPr>
          <p:cNvPr id="59" name="Text 55"/>
          <p:cNvSpPr txBox="1"/>
          <p:nvPr/>
        </p:nvSpPr>
        <p:spPr>
          <a:xfrm>
            <a:off x="8568060" y="5760720"/>
            <a:ext cx="1644853" cy="201168"/>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5 · WATCH</a:t>
            </a:r>
            <a:endParaRPr lang="en-US" sz="950" dirty="0"/>
          </a:p>
        </p:txBody>
      </p:sp>
      <p:sp>
        <p:nvSpPr>
          <p:cNvPr id="60" name="Text 56"/>
          <p:cNvSpPr txBox="1"/>
          <p:nvPr/>
        </p:nvSpPr>
        <p:spPr>
          <a:xfrm>
            <a:off x="8568060" y="5961888"/>
            <a:ext cx="1320414" cy="585216"/>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The whole waiting room is re-scored on a timer and on every new observation; ranking updates itself.</a:t>
            </a:r>
            <a:endParaRPr lang="en-US" sz="880" dirty="0"/>
          </a:p>
        </p:txBody>
      </p:sp>
      <p:sp>
        <p:nvSpPr>
          <p:cNvPr id="61" name="Shape 57"/>
          <p:cNvSpPr/>
          <p:nvPr/>
        </p:nvSpPr>
        <p:spPr>
          <a:xfrm>
            <a:off x="10071354" y="5687568"/>
            <a:ext cx="1919173" cy="932688"/>
          </a:xfrm>
          <a:prstGeom prst="chevron">
            <a:avLst/>
          </a:prstGeom>
          <a:solidFill>
            <a:srgbClr val="F4ECFE"/>
          </a:solidFill>
          <a:ln w="12700">
            <a:solidFill>
              <a:srgbClr val="F4ECFE"/>
            </a:solidFill>
            <a:prstDash val="solid"/>
          </a:ln>
        </p:spPr>
      </p:sp>
      <p:sp>
        <p:nvSpPr>
          <p:cNvPr id="62" name="Text 58"/>
          <p:cNvSpPr txBox="1"/>
          <p:nvPr/>
        </p:nvSpPr>
        <p:spPr>
          <a:xfrm>
            <a:off x="10664418" y="5751016"/>
            <a:ext cx="1644853" cy="201168"/>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6 · PROVE</a:t>
            </a:r>
            <a:endParaRPr lang="en-US" sz="950" dirty="0"/>
          </a:p>
        </p:txBody>
      </p:sp>
      <p:sp>
        <p:nvSpPr>
          <p:cNvPr id="63" name="Text 59"/>
          <p:cNvSpPr txBox="1"/>
          <p:nvPr/>
        </p:nvSpPr>
        <p:spPr>
          <a:xfrm>
            <a:off x="10487233" y="5961888"/>
            <a:ext cx="1375278" cy="585216"/>
          </a:xfrm>
          <a:prstGeom prst="rect">
            <a:avLst/>
          </a:prstGeom>
          <a:noFill/>
          <a:ln/>
        </p:spPr>
        <p:txBody>
          <a:bodyPr wrap="square" lIns="0" tIns="0" rIns="0" bIns="0" rtlCol="0" anchor="ctr"/>
          <a:lstStyle/>
          <a:p>
            <a:pPr marL="0" indent="0">
              <a:lnSpc>
                <a:spcPct val="105000"/>
              </a:lnSpc>
              <a:buNone/>
            </a:pPr>
            <a:r>
              <a:rPr lang="en-US" sz="880" dirty="0">
                <a:solidFill>
                  <a:srgbClr val="2E2E36"/>
                </a:solidFill>
                <a:latin typeface="Calibri" pitchFamily="34" charset="0"/>
                <a:ea typeface="Calibri" pitchFamily="34" charset="-122"/>
                <a:cs typeface="Calibri" pitchFamily="34" charset="-120"/>
              </a:rPr>
              <a:t>Every decision and override writes an append-only, hash-chained record with model and ruleset version.</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Text 3"/>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PROBLEM</a:t>
            </a:r>
            <a:endParaRPr lang="en-US" sz="1050" dirty="0"/>
          </a:p>
        </p:txBody>
      </p:sp>
      <p:sp>
        <p:nvSpPr>
          <p:cNvPr id="6" name="Text 4"/>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INSIGHT</a:t>
            </a:r>
            <a:endParaRPr lang="en-US" sz="1050" dirty="0"/>
          </a:p>
        </p:txBody>
      </p:sp>
      <p:sp>
        <p:nvSpPr>
          <p:cNvPr id="7" name="Text 5"/>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SOLUTION</a:t>
            </a:r>
            <a:endParaRPr lang="en-US" sz="1050" dirty="0"/>
          </a:p>
        </p:txBody>
      </p:sp>
      <p:sp>
        <p:nvSpPr>
          <p:cNvPr id="8" name="Text 6"/>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PRODUCT</a:t>
            </a:r>
            <a:endParaRPr lang="en-US" sz="1050" dirty="0"/>
          </a:p>
        </p:txBody>
      </p:sp>
      <p:sp>
        <p:nvSpPr>
          <p:cNvPr id="9" name="Shape 7"/>
          <p:cNvSpPr/>
          <p:nvPr/>
        </p:nvSpPr>
        <p:spPr>
          <a:xfrm>
            <a:off x="6087291" y="0"/>
            <a:ext cx="1338943" cy="402336"/>
          </a:xfrm>
          <a:prstGeom prst="rect">
            <a:avLst/>
          </a:prstGeom>
          <a:solidFill>
            <a:srgbClr val="460073"/>
          </a:solidFill>
          <a:ln w="12700">
            <a:solidFill>
              <a:srgbClr val="460073"/>
            </a:solidFill>
            <a:prstDash val="solid"/>
          </a:ln>
        </p:spPr>
      </p:sp>
      <p:sp>
        <p:nvSpPr>
          <p:cNvPr id="10" name="Text 8"/>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ARCHITECTURE</a:t>
            </a:r>
            <a:endParaRPr lang="en-US" sz="1100" dirty="0"/>
          </a:p>
        </p:txBody>
      </p:sp>
      <p:sp>
        <p:nvSpPr>
          <p:cNvPr id="11" name="Text 9"/>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IMPACT</a:t>
            </a:r>
            <a:endParaRPr lang="en-US" sz="1050" dirty="0"/>
          </a:p>
        </p:txBody>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EXECUTION</a:t>
            </a:r>
            <a:endParaRPr lang="en-US" sz="105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192611" y="530352"/>
            <a:ext cx="11789359" cy="3401568"/>
          </a:xfrm>
          <a:prstGeom prst="rect">
            <a:avLst/>
          </a:prstGeom>
          <a:solidFill>
            <a:srgbClr val="FFFFFF"/>
          </a:solidFill>
          <a:ln w="12700">
            <a:solidFill>
              <a:srgbClr val="D9D6E3"/>
            </a:solidFill>
            <a:prstDash val="solid"/>
          </a:ln>
        </p:spPr>
      </p:sp>
      <p:sp>
        <p:nvSpPr>
          <p:cNvPr id="15" name="Shape 13"/>
          <p:cNvSpPr/>
          <p:nvPr/>
        </p:nvSpPr>
        <p:spPr>
          <a:xfrm>
            <a:off x="201168" y="530352"/>
            <a:ext cx="11789359" cy="274320"/>
          </a:xfrm>
          <a:prstGeom prst="rect">
            <a:avLst/>
          </a:prstGeom>
          <a:solidFill>
            <a:srgbClr val="5C0099"/>
          </a:solidFill>
          <a:ln w="12700">
            <a:solidFill>
              <a:srgbClr val="5C0099"/>
            </a:solidFill>
            <a:prstDash val="solid"/>
          </a:ln>
        </p:spPr>
      </p:sp>
      <p:sp>
        <p:nvSpPr>
          <p:cNvPr id="16" name="Text 14"/>
          <p:cNvSpPr txBox="1"/>
          <p:nvPr/>
        </p:nvSpPr>
        <p:spPr>
          <a:xfrm>
            <a:off x="201168" y="530352"/>
            <a:ext cx="11789359"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SYSTEM ARCHITECTURE - INPUT → INTERFACE → INTELLIGENCE → DATA → OUTPUT</a:t>
            </a:r>
            <a:endParaRPr lang="en-US" sz="1050" dirty="0"/>
          </a:p>
        </p:txBody>
      </p:sp>
      <p:sp>
        <p:nvSpPr>
          <p:cNvPr id="17" name="Shape 15"/>
          <p:cNvSpPr/>
          <p:nvPr/>
        </p:nvSpPr>
        <p:spPr>
          <a:xfrm>
            <a:off x="320040" y="896112"/>
            <a:ext cx="2090867" cy="237744"/>
          </a:xfrm>
          <a:prstGeom prst="rect">
            <a:avLst/>
          </a:prstGeom>
          <a:solidFill>
            <a:srgbClr val="7500C0"/>
          </a:solidFill>
          <a:ln w="12700">
            <a:solidFill>
              <a:srgbClr val="7500C0"/>
            </a:solidFill>
            <a:prstDash val="solid"/>
          </a:ln>
        </p:spPr>
      </p:sp>
      <p:sp>
        <p:nvSpPr>
          <p:cNvPr id="18" name="Text 16"/>
          <p:cNvSpPr txBox="1"/>
          <p:nvPr/>
        </p:nvSpPr>
        <p:spPr>
          <a:xfrm>
            <a:off x="320040" y="896112"/>
            <a:ext cx="2090867"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Arial" pitchFamily="34" charset="0"/>
                <a:ea typeface="Arial" pitchFamily="34" charset="-122"/>
                <a:cs typeface="Arial" pitchFamily="34" charset="-120"/>
              </a:rPr>
              <a:t>USER / INPUT</a:t>
            </a:r>
            <a:endParaRPr lang="en-US" sz="900" dirty="0"/>
          </a:p>
        </p:txBody>
      </p:sp>
      <p:sp>
        <p:nvSpPr>
          <p:cNvPr id="19" name="Shape 17"/>
          <p:cNvSpPr/>
          <p:nvPr/>
        </p:nvSpPr>
        <p:spPr>
          <a:xfrm>
            <a:off x="320040" y="1207008"/>
            <a:ext cx="2090867" cy="548640"/>
          </a:xfrm>
          <a:prstGeom prst="roundRect">
            <a:avLst>
              <a:gd name="adj" fmla="val 6667"/>
            </a:avLst>
          </a:prstGeom>
          <a:solidFill>
            <a:srgbClr val="F7F4FC"/>
          </a:solidFill>
          <a:ln w="12700">
            <a:solidFill>
              <a:srgbClr val="ECEAF3"/>
            </a:solidFill>
            <a:prstDash val="solid"/>
          </a:ln>
        </p:spPr>
      </p:sp>
      <p:sp>
        <p:nvSpPr>
          <p:cNvPr id="20" name="Text 18"/>
          <p:cNvSpPr txBox="1"/>
          <p:nvPr/>
        </p:nvSpPr>
        <p:spPr>
          <a:xfrm>
            <a:off x="393192" y="1261872"/>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Measured vitals</a:t>
            </a:r>
            <a:endParaRPr lang="en-US" sz="880" dirty="0"/>
          </a:p>
        </p:txBody>
      </p:sp>
      <p:sp>
        <p:nvSpPr>
          <p:cNvPr id="21" name="Text 19"/>
          <p:cNvSpPr txBox="1"/>
          <p:nvPr/>
        </p:nvSpPr>
        <p:spPr>
          <a:xfrm>
            <a:off x="393192" y="1444752"/>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available even on paper - highest weight</a:t>
            </a:r>
            <a:endParaRPr lang="en-US" sz="820" dirty="0"/>
          </a:p>
        </p:txBody>
      </p:sp>
      <p:sp>
        <p:nvSpPr>
          <p:cNvPr id="22" name="Shape 20"/>
          <p:cNvSpPr/>
          <p:nvPr/>
        </p:nvSpPr>
        <p:spPr>
          <a:xfrm>
            <a:off x="320040" y="1828800"/>
            <a:ext cx="2090867" cy="548640"/>
          </a:xfrm>
          <a:prstGeom prst="roundRect">
            <a:avLst>
              <a:gd name="adj" fmla="val 6667"/>
            </a:avLst>
          </a:prstGeom>
          <a:solidFill>
            <a:srgbClr val="F7F4FC"/>
          </a:solidFill>
          <a:ln w="12700">
            <a:solidFill>
              <a:srgbClr val="ECEAF3"/>
            </a:solidFill>
            <a:prstDash val="solid"/>
          </a:ln>
        </p:spPr>
      </p:sp>
      <p:sp>
        <p:nvSpPr>
          <p:cNvPr id="23" name="Text 21"/>
          <p:cNvSpPr txBox="1"/>
          <p:nvPr/>
        </p:nvSpPr>
        <p:spPr>
          <a:xfrm>
            <a:off x="393192" y="1883664"/>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Observed cues</a:t>
            </a:r>
            <a:endParaRPr lang="en-US" sz="880" dirty="0"/>
          </a:p>
        </p:txBody>
      </p:sp>
      <p:sp>
        <p:nvSpPr>
          <p:cNvPr id="24" name="Text 22"/>
          <p:cNvSpPr txBox="1"/>
          <p:nvPr/>
        </p:nvSpPr>
        <p:spPr>
          <a:xfrm>
            <a:off x="393192" y="2066544"/>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gait, speech, colour, work of breathing</a:t>
            </a:r>
            <a:endParaRPr lang="en-US" sz="820" dirty="0"/>
          </a:p>
        </p:txBody>
      </p:sp>
      <p:sp>
        <p:nvSpPr>
          <p:cNvPr id="25" name="Shape 23"/>
          <p:cNvSpPr/>
          <p:nvPr/>
        </p:nvSpPr>
        <p:spPr>
          <a:xfrm>
            <a:off x="320040" y="2450592"/>
            <a:ext cx="2090867" cy="548640"/>
          </a:xfrm>
          <a:prstGeom prst="roundRect">
            <a:avLst>
              <a:gd name="adj" fmla="val 6667"/>
            </a:avLst>
          </a:prstGeom>
          <a:solidFill>
            <a:srgbClr val="F7F4FC"/>
          </a:solidFill>
          <a:ln w="12700">
            <a:solidFill>
              <a:srgbClr val="ECEAF3"/>
            </a:solidFill>
            <a:prstDash val="solid"/>
          </a:ln>
        </p:spPr>
      </p:sp>
      <p:sp>
        <p:nvSpPr>
          <p:cNvPr id="26" name="Text 24"/>
          <p:cNvSpPr txBox="1"/>
          <p:nvPr/>
        </p:nvSpPr>
        <p:spPr>
          <a:xfrm>
            <a:off x="393192" y="2505456"/>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Self-reported</a:t>
            </a:r>
            <a:endParaRPr lang="en-US" sz="880" dirty="0"/>
          </a:p>
        </p:txBody>
      </p:sp>
      <p:sp>
        <p:nvSpPr>
          <p:cNvPr id="27" name="Text 25"/>
          <p:cNvSpPr txBox="1"/>
          <p:nvPr/>
        </p:nvSpPr>
        <p:spPr>
          <a:xfrm>
            <a:off x="393192" y="2688336"/>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free text, English or Hinglish</a:t>
            </a:r>
            <a:endParaRPr lang="en-US" sz="820" dirty="0"/>
          </a:p>
        </p:txBody>
      </p:sp>
      <p:sp>
        <p:nvSpPr>
          <p:cNvPr id="28" name="Shape 26"/>
          <p:cNvSpPr/>
          <p:nvPr/>
        </p:nvSpPr>
        <p:spPr>
          <a:xfrm>
            <a:off x="320040" y="3072384"/>
            <a:ext cx="2090867" cy="548640"/>
          </a:xfrm>
          <a:prstGeom prst="roundRect">
            <a:avLst>
              <a:gd name="adj" fmla="val 6667"/>
            </a:avLst>
          </a:prstGeom>
          <a:solidFill>
            <a:srgbClr val="F7F4FC"/>
          </a:solidFill>
          <a:ln w="12700">
            <a:solidFill>
              <a:srgbClr val="ECEAF3"/>
            </a:solidFill>
            <a:prstDash val="solid"/>
          </a:ln>
        </p:spPr>
      </p:sp>
      <p:sp>
        <p:nvSpPr>
          <p:cNvPr id="29" name="Text 27"/>
          <p:cNvSpPr txBox="1"/>
          <p:nvPr/>
        </p:nvSpPr>
        <p:spPr>
          <a:xfrm>
            <a:off x="393192" y="3127248"/>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Record history</a:t>
            </a:r>
            <a:endParaRPr lang="en-US" sz="880" dirty="0"/>
          </a:p>
        </p:txBody>
      </p:sp>
      <p:sp>
        <p:nvSpPr>
          <p:cNvPr id="30" name="Text 28"/>
          <p:cNvSpPr txBox="1"/>
          <p:nvPr/>
        </p:nvSpPr>
        <p:spPr>
          <a:xfrm>
            <a:off x="393192" y="3310128"/>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richest, present for half of arrivals</a:t>
            </a:r>
            <a:endParaRPr lang="en-US" sz="820" dirty="0"/>
          </a:p>
        </p:txBody>
      </p:sp>
      <p:sp>
        <p:nvSpPr>
          <p:cNvPr id="31" name="Shape 29"/>
          <p:cNvSpPr/>
          <p:nvPr/>
        </p:nvSpPr>
        <p:spPr>
          <a:xfrm>
            <a:off x="2456627" y="2084832"/>
            <a:ext cx="182880" cy="274320"/>
          </a:xfrm>
          <a:prstGeom prst="chevron">
            <a:avLst/>
          </a:prstGeom>
          <a:solidFill>
            <a:srgbClr val="C77DFF"/>
          </a:solidFill>
          <a:ln w="12700">
            <a:solidFill>
              <a:srgbClr val="C77DFF"/>
            </a:solidFill>
            <a:prstDash val="solid"/>
          </a:ln>
        </p:spPr>
      </p:sp>
      <p:sp>
        <p:nvSpPr>
          <p:cNvPr id="32" name="Shape 30"/>
          <p:cNvSpPr/>
          <p:nvPr/>
        </p:nvSpPr>
        <p:spPr>
          <a:xfrm>
            <a:off x="2685227" y="896112"/>
            <a:ext cx="2090867" cy="237744"/>
          </a:xfrm>
          <a:prstGeom prst="rect">
            <a:avLst/>
          </a:prstGeom>
          <a:solidFill>
            <a:srgbClr val="7500C0"/>
          </a:solidFill>
          <a:ln w="12700">
            <a:solidFill>
              <a:srgbClr val="7500C0"/>
            </a:solidFill>
            <a:prstDash val="solid"/>
          </a:ln>
        </p:spPr>
      </p:sp>
      <p:sp>
        <p:nvSpPr>
          <p:cNvPr id="33" name="Text 31"/>
          <p:cNvSpPr txBox="1"/>
          <p:nvPr/>
        </p:nvSpPr>
        <p:spPr>
          <a:xfrm>
            <a:off x="2685227" y="896112"/>
            <a:ext cx="2090867"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Arial" pitchFamily="34" charset="0"/>
                <a:ea typeface="Arial" pitchFamily="34" charset="-122"/>
                <a:cs typeface="Arial" pitchFamily="34" charset="-120"/>
              </a:rPr>
              <a:t>INTERFACE</a:t>
            </a:r>
            <a:endParaRPr lang="en-US" sz="900" dirty="0"/>
          </a:p>
        </p:txBody>
      </p:sp>
      <p:sp>
        <p:nvSpPr>
          <p:cNvPr id="34" name="Shape 32"/>
          <p:cNvSpPr/>
          <p:nvPr/>
        </p:nvSpPr>
        <p:spPr>
          <a:xfrm>
            <a:off x="2685227" y="1207008"/>
            <a:ext cx="2090867" cy="548640"/>
          </a:xfrm>
          <a:prstGeom prst="roundRect">
            <a:avLst>
              <a:gd name="adj" fmla="val 6667"/>
            </a:avLst>
          </a:prstGeom>
          <a:solidFill>
            <a:srgbClr val="F7F4FC"/>
          </a:solidFill>
          <a:ln w="12700">
            <a:solidFill>
              <a:srgbClr val="ECEAF3"/>
            </a:solidFill>
            <a:prstDash val="solid"/>
          </a:ln>
        </p:spPr>
      </p:sp>
      <p:sp>
        <p:nvSpPr>
          <p:cNvPr id="35" name="Text 33"/>
          <p:cNvSpPr txBox="1"/>
          <p:nvPr/>
        </p:nvSpPr>
        <p:spPr>
          <a:xfrm>
            <a:off x="2758379" y="1261872"/>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Triage console</a:t>
            </a:r>
            <a:endParaRPr lang="en-US" sz="880" dirty="0"/>
          </a:p>
        </p:txBody>
      </p:sp>
      <p:sp>
        <p:nvSpPr>
          <p:cNvPr id="36" name="Text 34"/>
          <p:cNvSpPr txBox="1"/>
          <p:nvPr/>
        </p:nvSpPr>
        <p:spPr>
          <a:xfrm>
            <a:off x="2758379" y="1444752"/>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intake, score and disposition for one patient</a:t>
            </a:r>
            <a:endParaRPr lang="en-US" sz="820" dirty="0"/>
          </a:p>
        </p:txBody>
      </p:sp>
      <p:sp>
        <p:nvSpPr>
          <p:cNvPr id="37" name="Shape 35"/>
          <p:cNvSpPr/>
          <p:nvPr/>
        </p:nvSpPr>
        <p:spPr>
          <a:xfrm>
            <a:off x="2685227" y="1828800"/>
            <a:ext cx="2090867" cy="548640"/>
          </a:xfrm>
          <a:prstGeom prst="roundRect">
            <a:avLst>
              <a:gd name="adj" fmla="val 6667"/>
            </a:avLst>
          </a:prstGeom>
          <a:solidFill>
            <a:srgbClr val="F7F4FC"/>
          </a:solidFill>
          <a:ln w="12700">
            <a:solidFill>
              <a:srgbClr val="ECEAF3"/>
            </a:solidFill>
            <a:prstDash val="solid"/>
          </a:ln>
        </p:spPr>
      </p:sp>
      <p:sp>
        <p:nvSpPr>
          <p:cNvPr id="38" name="Text 36"/>
          <p:cNvSpPr txBox="1"/>
          <p:nvPr/>
        </p:nvSpPr>
        <p:spPr>
          <a:xfrm>
            <a:off x="2758379" y="1883664"/>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Waiting room</a:t>
            </a:r>
            <a:endParaRPr lang="en-US" sz="880" dirty="0"/>
          </a:p>
        </p:txBody>
      </p:sp>
      <p:sp>
        <p:nvSpPr>
          <p:cNvPr id="39" name="Text 37"/>
          <p:cNvSpPr txBox="1"/>
          <p:nvPr/>
        </p:nvSpPr>
        <p:spPr>
          <a:xfrm>
            <a:off x="2758379" y="2066544"/>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live ranked queue with breach countdowns</a:t>
            </a:r>
            <a:endParaRPr lang="en-US" sz="820" dirty="0"/>
          </a:p>
        </p:txBody>
      </p:sp>
      <p:sp>
        <p:nvSpPr>
          <p:cNvPr id="40" name="Shape 38"/>
          <p:cNvSpPr/>
          <p:nvPr/>
        </p:nvSpPr>
        <p:spPr>
          <a:xfrm>
            <a:off x="2685227" y="2450592"/>
            <a:ext cx="2090867" cy="548640"/>
          </a:xfrm>
          <a:prstGeom prst="roundRect">
            <a:avLst>
              <a:gd name="adj" fmla="val 6667"/>
            </a:avLst>
          </a:prstGeom>
          <a:solidFill>
            <a:srgbClr val="F7F4FC"/>
          </a:solidFill>
          <a:ln w="12700">
            <a:solidFill>
              <a:srgbClr val="ECEAF3"/>
            </a:solidFill>
            <a:prstDash val="solid"/>
          </a:ln>
        </p:spPr>
      </p:sp>
      <p:sp>
        <p:nvSpPr>
          <p:cNvPr id="41" name="Text 39"/>
          <p:cNvSpPr txBox="1"/>
          <p:nvPr/>
        </p:nvSpPr>
        <p:spPr>
          <a:xfrm>
            <a:off x="2758379" y="2505456"/>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Three taps</a:t>
            </a:r>
            <a:endParaRPr lang="en-US" sz="880" dirty="0"/>
          </a:p>
        </p:txBody>
      </p:sp>
      <p:sp>
        <p:nvSpPr>
          <p:cNvPr id="42" name="Text 40"/>
          <p:cNvSpPr txBox="1"/>
          <p:nvPr/>
        </p:nvSpPr>
        <p:spPr>
          <a:xfrm>
            <a:off x="2758379" y="2688336"/>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card → accept or override → reason code</a:t>
            </a:r>
            <a:endParaRPr lang="en-US" sz="820" dirty="0"/>
          </a:p>
        </p:txBody>
      </p:sp>
      <p:sp>
        <p:nvSpPr>
          <p:cNvPr id="43" name="Shape 41"/>
          <p:cNvSpPr/>
          <p:nvPr/>
        </p:nvSpPr>
        <p:spPr>
          <a:xfrm>
            <a:off x="2685227" y="3072384"/>
            <a:ext cx="2090867" cy="548640"/>
          </a:xfrm>
          <a:prstGeom prst="roundRect">
            <a:avLst>
              <a:gd name="adj" fmla="val 6667"/>
            </a:avLst>
          </a:prstGeom>
          <a:solidFill>
            <a:srgbClr val="F7F4FC"/>
          </a:solidFill>
          <a:ln w="12700">
            <a:solidFill>
              <a:srgbClr val="ECEAF3"/>
            </a:solidFill>
            <a:prstDash val="solid"/>
          </a:ln>
        </p:spPr>
      </p:sp>
      <p:sp>
        <p:nvSpPr>
          <p:cNvPr id="44" name="Text 42"/>
          <p:cNvSpPr txBox="1"/>
          <p:nvPr/>
        </p:nvSpPr>
        <p:spPr>
          <a:xfrm>
            <a:off x="2758379" y="3127248"/>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P95 &lt; 800 ms</a:t>
            </a:r>
            <a:endParaRPr lang="en-US" sz="880" dirty="0"/>
          </a:p>
        </p:txBody>
      </p:sp>
      <p:sp>
        <p:nvSpPr>
          <p:cNvPr id="45" name="Text 43"/>
          <p:cNvSpPr txBox="1"/>
          <p:nvPr/>
        </p:nvSpPr>
        <p:spPr>
          <a:xfrm>
            <a:off x="2758379" y="3310128"/>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rules 15 · inference 40 · render 120</a:t>
            </a:r>
            <a:endParaRPr lang="en-US" sz="820" dirty="0"/>
          </a:p>
        </p:txBody>
      </p:sp>
      <p:sp>
        <p:nvSpPr>
          <p:cNvPr id="46" name="Shape 44"/>
          <p:cNvSpPr/>
          <p:nvPr/>
        </p:nvSpPr>
        <p:spPr>
          <a:xfrm>
            <a:off x="4821814" y="2084832"/>
            <a:ext cx="182880" cy="274320"/>
          </a:xfrm>
          <a:prstGeom prst="chevron">
            <a:avLst/>
          </a:prstGeom>
          <a:solidFill>
            <a:srgbClr val="C77DFF"/>
          </a:solidFill>
          <a:ln w="12700">
            <a:solidFill>
              <a:srgbClr val="C77DFF"/>
            </a:solidFill>
            <a:prstDash val="solid"/>
          </a:ln>
        </p:spPr>
      </p:sp>
      <p:sp>
        <p:nvSpPr>
          <p:cNvPr id="47" name="Shape 45"/>
          <p:cNvSpPr/>
          <p:nvPr/>
        </p:nvSpPr>
        <p:spPr>
          <a:xfrm>
            <a:off x="5050414" y="896112"/>
            <a:ext cx="2090867" cy="237744"/>
          </a:xfrm>
          <a:prstGeom prst="rect">
            <a:avLst/>
          </a:prstGeom>
          <a:solidFill>
            <a:srgbClr val="5C0099"/>
          </a:solidFill>
          <a:ln w="12700">
            <a:solidFill>
              <a:srgbClr val="5C0099"/>
            </a:solidFill>
            <a:prstDash val="solid"/>
          </a:ln>
        </p:spPr>
      </p:sp>
      <p:sp>
        <p:nvSpPr>
          <p:cNvPr id="48" name="Text 46"/>
          <p:cNvSpPr txBox="1"/>
          <p:nvPr/>
        </p:nvSpPr>
        <p:spPr>
          <a:xfrm>
            <a:off x="5050414" y="896112"/>
            <a:ext cx="2090867"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Arial" pitchFamily="34" charset="0"/>
                <a:ea typeface="Arial" pitchFamily="34" charset="-122"/>
                <a:cs typeface="Arial" pitchFamily="34" charset="-120"/>
              </a:rPr>
              <a:t>INTELLIGENCE</a:t>
            </a:r>
            <a:endParaRPr lang="en-US" sz="900" dirty="0"/>
          </a:p>
        </p:txBody>
      </p:sp>
      <p:sp>
        <p:nvSpPr>
          <p:cNvPr id="49" name="Shape 47"/>
          <p:cNvSpPr/>
          <p:nvPr/>
        </p:nvSpPr>
        <p:spPr>
          <a:xfrm>
            <a:off x="5050414" y="1207008"/>
            <a:ext cx="2090867" cy="548640"/>
          </a:xfrm>
          <a:prstGeom prst="roundRect">
            <a:avLst>
              <a:gd name="adj" fmla="val 6667"/>
            </a:avLst>
          </a:prstGeom>
          <a:solidFill>
            <a:srgbClr val="E6F3EC"/>
          </a:solidFill>
          <a:ln w="12700">
            <a:solidFill>
              <a:srgbClr val="E6F3EC"/>
            </a:solidFill>
            <a:prstDash val="solid"/>
          </a:ln>
        </p:spPr>
      </p:sp>
      <p:sp>
        <p:nvSpPr>
          <p:cNvPr id="50" name="Text 48"/>
          <p:cNvSpPr txBox="1"/>
          <p:nvPr/>
        </p:nvSpPr>
        <p:spPr>
          <a:xfrm>
            <a:off x="5123566" y="1261872"/>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01 Life-saving check</a:t>
            </a:r>
            <a:endParaRPr lang="en-US" sz="880" dirty="0"/>
          </a:p>
        </p:txBody>
      </p:sp>
      <p:sp>
        <p:nvSpPr>
          <p:cNvPr id="51" name="Text 49"/>
          <p:cNvSpPr txBox="1"/>
          <p:nvPr/>
        </p:nvSpPr>
        <p:spPr>
          <a:xfrm>
            <a:off x="5123566" y="1444752"/>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ESI decision point A</a:t>
            </a:r>
            <a:endParaRPr lang="en-US" sz="820" dirty="0"/>
          </a:p>
        </p:txBody>
      </p:sp>
      <p:sp>
        <p:nvSpPr>
          <p:cNvPr id="52" name="Shape 50"/>
          <p:cNvSpPr/>
          <p:nvPr/>
        </p:nvSpPr>
        <p:spPr>
          <a:xfrm>
            <a:off x="5050414" y="1828800"/>
            <a:ext cx="2090867" cy="548640"/>
          </a:xfrm>
          <a:prstGeom prst="roundRect">
            <a:avLst>
              <a:gd name="adj" fmla="val 6667"/>
            </a:avLst>
          </a:prstGeom>
          <a:solidFill>
            <a:srgbClr val="E6F3EC"/>
          </a:solidFill>
          <a:ln w="12700">
            <a:solidFill>
              <a:srgbClr val="E6F3EC"/>
            </a:solidFill>
            <a:prstDash val="solid"/>
          </a:ln>
        </p:spPr>
      </p:sp>
      <p:sp>
        <p:nvSpPr>
          <p:cNvPr id="53" name="Text 51"/>
          <p:cNvSpPr txBox="1"/>
          <p:nvPr/>
        </p:nvSpPr>
        <p:spPr>
          <a:xfrm>
            <a:off x="5123566" y="1883664"/>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02 Red-flag patterns</a:t>
            </a:r>
            <a:endParaRPr lang="en-US" sz="880" dirty="0"/>
          </a:p>
        </p:txBody>
      </p:sp>
      <p:sp>
        <p:nvSpPr>
          <p:cNvPr id="54" name="Text 52"/>
          <p:cNvSpPr txBox="1"/>
          <p:nvPr/>
        </p:nvSpPr>
        <p:spPr>
          <a:xfrm>
            <a:off x="5123566" y="2066544"/>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24 named deterministic patterns</a:t>
            </a:r>
            <a:endParaRPr lang="en-US" sz="820" dirty="0"/>
          </a:p>
        </p:txBody>
      </p:sp>
      <p:sp>
        <p:nvSpPr>
          <p:cNvPr id="55" name="Shape 53"/>
          <p:cNvSpPr/>
          <p:nvPr/>
        </p:nvSpPr>
        <p:spPr>
          <a:xfrm>
            <a:off x="5050414" y="2450592"/>
            <a:ext cx="2090867" cy="548640"/>
          </a:xfrm>
          <a:prstGeom prst="roundRect">
            <a:avLst>
              <a:gd name="adj" fmla="val 6667"/>
            </a:avLst>
          </a:prstGeom>
          <a:solidFill>
            <a:srgbClr val="E6F3EC"/>
          </a:solidFill>
          <a:ln w="12700">
            <a:solidFill>
              <a:srgbClr val="E6F3EC"/>
            </a:solidFill>
            <a:prstDash val="solid"/>
          </a:ln>
        </p:spPr>
      </p:sp>
      <p:sp>
        <p:nvSpPr>
          <p:cNvPr id="56" name="Text 54"/>
          <p:cNvSpPr txBox="1"/>
          <p:nvPr/>
        </p:nvSpPr>
        <p:spPr>
          <a:xfrm>
            <a:off x="5123566" y="2505456"/>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03 Risk modifiers</a:t>
            </a:r>
            <a:endParaRPr lang="en-US" sz="880" dirty="0"/>
          </a:p>
        </p:txBody>
      </p:sp>
      <p:sp>
        <p:nvSpPr>
          <p:cNvPr id="57" name="Text 55"/>
          <p:cNvSpPr txBox="1"/>
          <p:nvPr/>
        </p:nvSpPr>
        <p:spPr>
          <a:xfrm>
            <a:off x="5123566" y="2688336"/>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age, comorbidity, presentation context</a:t>
            </a:r>
            <a:endParaRPr lang="en-US" sz="820" dirty="0"/>
          </a:p>
        </p:txBody>
      </p:sp>
      <p:sp>
        <p:nvSpPr>
          <p:cNvPr id="58" name="Shape 56"/>
          <p:cNvSpPr/>
          <p:nvPr/>
        </p:nvSpPr>
        <p:spPr>
          <a:xfrm>
            <a:off x="5050414" y="3072384"/>
            <a:ext cx="2090867" cy="548640"/>
          </a:xfrm>
          <a:prstGeom prst="roundRect">
            <a:avLst>
              <a:gd name="adj" fmla="val 6667"/>
            </a:avLst>
          </a:prstGeom>
          <a:solidFill>
            <a:srgbClr val="E6F3EC"/>
          </a:solidFill>
          <a:ln w="12700">
            <a:solidFill>
              <a:srgbClr val="E6F3EC"/>
            </a:solidFill>
            <a:prstDash val="solid"/>
          </a:ln>
        </p:spPr>
      </p:sp>
      <p:sp>
        <p:nvSpPr>
          <p:cNvPr id="59" name="Text 57"/>
          <p:cNvSpPr txBox="1"/>
          <p:nvPr/>
        </p:nvSpPr>
        <p:spPr>
          <a:xfrm>
            <a:off x="5123566" y="3127248"/>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04 Vital scoring</a:t>
            </a:r>
            <a:endParaRPr lang="en-US" sz="880" dirty="0"/>
          </a:p>
        </p:txBody>
      </p:sp>
      <p:sp>
        <p:nvSpPr>
          <p:cNvPr id="60" name="Text 58"/>
          <p:cNvSpPr txBox="1"/>
          <p:nvPr/>
        </p:nvSpPr>
        <p:spPr>
          <a:xfrm>
            <a:off x="5123566" y="3310128"/>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NEWS2 across five age bands</a:t>
            </a:r>
            <a:endParaRPr lang="en-US" sz="820" dirty="0"/>
          </a:p>
        </p:txBody>
      </p:sp>
      <p:sp>
        <p:nvSpPr>
          <p:cNvPr id="61" name="Shape 59"/>
          <p:cNvSpPr/>
          <p:nvPr/>
        </p:nvSpPr>
        <p:spPr>
          <a:xfrm>
            <a:off x="7187001" y="2084832"/>
            <a:ext cx="182880" cy="274320"/>
          </a:xfrm>
          <a:prstGeom prst="chevron">
            <a:avLst/>
          </a:prstGeom>
          <a:solidFill>
            <a:srgbClr val="C77DFF"/>
          </a:solidFill>
          <a:ln w="12700">
            <a:solidFill>
              <a:srgbClr val="C77DFF"/>
            </a:solidFill>
            <a:prstDash val="solid"/>
          </a:ln>
        </p:spPr>
      </p:sp>
      <p:sp>
        <p:nvSpPr>
          <p:cNvPr id="62" name="Shape 60"/>
          <p:cNvSpPr/>
          <p:nvPr/>
        </p:nvSpPr>
        <p:spPr>
          <a:xfrm>
            <a:off x="7415601" y="896112"/>
            <a:ext cx="2090867" cy="237744"/>
          </a:xfrm>
          <a:prstGeom prst="rect">
            <a:avLst/>
          </a:prstGeom>
          <a:solidFill>
            <a:srgbClr val="7500C0"/>
          </a:solidFill>
          <a:ln w="12700">
            <a:solidFill>
              <a:srgbClr val="7500C0"/>
            </a:solidFill>
            <a:prstDash val="solid"/>
          </a:ln>
        </p:spPr>
      </p:sp>
      <p:sp>
        <p:nvSpPr>
          <p:cNvPr id="63" name="Text 61"/>
          <p:cNvSpPr txBox="1"/>
          <p:nvPr/>
        </p:nvSpPr>
        <p:spPr>
          <a:xfrm>
            <a:off x="7415601" y="896112"/>
            <a:ext cx="2090867"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Arial" pitchFamily="34" charset="0"/>
                <a:ea typeface="Arial" pitchFamily="34" charset="-122"/>
                <a:cs typeface="Arial" pitchFamily="34" charset="-120"/>
              </a:rPr>
              <a:t>DATA / GOVERNANCE</a:t>
            </a:r>
            <a:endParaRPr lang="en-US" sz="900" dirty="0"/>
          </a:p>
        </p:txBody>
      </p:sp>
      <p:sp>
        <p:nvSpPr>
          <p:cNvPr id="64" name="Shape 62"/>
          <p:cNvSpPr/>
          <p:nvPr/>
        </p:nvSpPr>
        <p:spPr>
          <a:xfrm>
            <a:off x="7415601" y="1207008"/>
            <a:ext cx="2090867" cy="548640"/>
          </a:xfrm>
          <a:prstGeom prst="roundRect">
            <a:avLst>
              <a:gd name="adj" fmla="val 6667"/>
            </a:avLst>
          </a:prstGeom>
          <a:solidFill>
            <a:srgbClr val="F7F4FC"/>
          </a:solidFill>
          <a:ln w="12700">
            <a:solidFill>
              <a:srgbClr val="ECEAF3"/>
            </a:solidFill>
            <a:prstDash val="solid"/>
          </a:ln>
        </p:spPr>
      </p:sp>
      <p:sp>
        <p:nvSpPr>
          <p:cNvPr id="65" name="Text 63"/>
          <p:cNvSpPr txBox="1"/>
          <p:nvPr/>
        </p:nvSpPr>
        <p:spPr>
          <a:xfrm>
            <a:off x="7488753" y="1261872"/>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Tokenised at ingest</a:t>
            </a:r>
            <a:endParaRPr lang="en-US" sz="880" dirty="0"/>
          </a:p>
        </p:txBody>
      </p:sp>
      <p:sp>
        <p:nvSpPr>
          <p:cNvPr id="66" name="Text 64"/>
          <p:cNvSpPr txBox="1"/>
          <p:nvPr/>
        </p:nvSpPr>
        <p:spPr>
          <a:xfrm>
            <a:off x="7488753" y="1444752"/>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HMAC-SHA256(ABHA ‖ salt), salt in hospital HSM</a:t>
            </a:r>
            <a:endParaRPr lang="en-US" sz="820" dirty="0"/>
          </a:p>
        </p:txBody>
      </p:sp>
      <p:sp>
        <p:nvSpPr>
          <p:cNvPr id="67" name="Shape 65"/>
          <p:cNvSpPr/>
          <p:nvPr/>
        </p:nvSpPr>
        <p:spPr>
          <a:xfrm>
            <a:off x="7415601" y="1828800"/>
            <a:ext cx="2090867" cy="548640"/>
          </a:xfrm>
          <a:prstGeom prst="roundRect">
            <a:avLst>
              <a:gd name="adj" fmla="val 6667"/>
            </a:avLst>
          </a:prstGeom>
          <a:solidFill>
            <a:srgbClr val="F7F4FC"/>
          </a:solidFill>
          <a:ln w="12700">
            <a:solidFill>
              <a:srgbClr val="ECEAF3"/>
            </a:solidFill>
            <a:prstDash val="solid"/>
          </a:ln>
        </p:spPr>
      </p:sp>
      <p:sp>
        <p:nvSpPr>
          <p:cNvPr id="68" name="Text 66"/>
          <p:cNvSpPr txBox="1"/>
          <p:nvPr/>
        </p:nvSpPr>
        <p:spPr>
          <a:xfrm>
            <a:off x="7488753" y="1883664"/>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On-premise</a:t>
            </a:r>
            <a:endParaRPr lang="en-US" sz="880" dirty="0"/>
          </a:p>
        </p:txBody>
      </p:sp>
      <p:sp>
        <p:nvSpPr>
          <p:cNvPr id="69" name="Text 67"/>
          <p:cNvSpPr txBox="1"/>
          <p:nvPr/>
        </p:nvSpPr>
        <p:spPr>
          <a:xfrm>
            <a:off x="7488753" y="2066544"/>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default-deny egress, air-gap capable</a:t>
            </a:r>
            <a:endParaRPr lang="en-US" sz="820" dirty="0"/>
          </a:p>
        </p:txBody>
      </p:sp>
      <p:sp>
        <p:nvSpPr>
          <p:cNvPr id="70" name="Shape 68"/>
          <p:cNvSpPr/>
          <p:nvPr/>
        </p:nvSpPr>
        <p:spPr>
          <a:xfrm>
            <a:off x="7415601" y="2450592"/>
            <a:ext cx="2090867" cy="548640"/>
          </a:xfrm>
          <a:prstGeom prst="roundRect">
            <a:avLst>
              <a:gd name="adj" fmla="val 6667"/>
            </a:avLst>
          </a:prstGeom>
          <a:solidFill>
            <a:srgbClr val="F7F4FC"/>
          </a:solidFill>
          <a:ln w="12700">
            <a:solidFill>
              <a:srgbClr val="ECEAF3"/>
            </a:solidFill>
            <a:prstDash val="solid"/>
          </a:ln>
        </p:spPr>
      </p:sp>
      <p:sp>
        <p:nvSpPr>
          <p:cNvPr id="71" name="Text 69"/>
          <p:cNvSpPr txBox="1"/>
          <p:nvPr/>
        </p:nvSpPr>
        <p:spPr>
          <a:xfrm>
            <a:off x="7488753" y="2505456"/>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Append-only log</a:t>
            </a:r>
            <a:endParaRPr lang="en-US" sz="880" dirty="0"/>
          </a:p>
        </p:txBody>
      </p:sp>
      <p:sp>
        <p:nvSpPr>
          <p:cNvPr id="72" name="Text 70"/>
          <p:cNvSpPr txBox="1"/>
          <p:nvPr/>
        </p:nvSpPr>
        <p:spPr>
          <a:xfrm>
            <a:off x="7488753" y="2688336"/>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hash-chained, WORM-backed, versioned</a:t>
            </a:r>
            <a:endParaRPr lang="en-US" sz="820" dirty="0"/>
          </a:p>
        </p:txBody>
      </p:sp>
      <p:sp>
        <p:nvSpPr>
          <p:cNvPr id="73" name="Shape 71"/>
          <p:cNvSpPr/>
          <p:nvPr/>
        </p:nvSpPr>
        <p:spPr>
          <a:xfrm>
            <a:off x="7415601" y="3072384"/>
            <a:ext cx="2090867" cy="548640"/>
          </a:xfrm>
          <a:prstGeom prst="roundRect">
            <a:avLst>
              <a:gd name="adj" fmla="val 6667"/>
            </a:avLst>
          </a:prstGeom>
          <a:solidFill>
            <a:srgbClr val="F7F4FC"/>
          </a:solidFill>
          <a:ln w="12700">
            <a:solidFill>
              <a:srgbClr val="ECEAF3"/>
            </a:solidFill>
            <a:prstDash val="solid"/>
          </a:ln>
        </p:spPr>
      </p:sp>
      <p:sp>
        <p:nvSpPr>
          <p:cNvPr id="74" name="Text 72"/>
          <p:cNvSpPr txBox="1"/>
          <p:nvPr/>
        </p:nvSpPr>
        <p:spPr>
          <a:xfrm>
            <a:off x="7488753" y="3127248"/>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Data Processor</a:t>
            </a:r>
            <a:endParaRPr lang="en-US" sz="880" dirty="0"/>
          </a:p>
        </p:txBody>
      </p:sp>
      <p:sp>
        <p:nvSpPr>
          <p:cNvPr id="75" name="Text 73"/>
          <p:cNvSpPr txBox="1"/>
          <p:nvPr/>
        </p:nvSpPr>
        <p:spPr>
          <a:xfrm>
            <a:off x="7488753" y="3310128"/>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hospital is Fiduciary under DPDP Act 2023</a:t>
            </a:r>
            <a:endParaRPr lang="en-US" sz="820" dirty="0"/>
          </a:p>
        </p:txBody>
      </p:sp>
      <p:sp>
        <p:nvSpPr>
          <p:cNvPr id="76" name="Shape 74"/>
          <p:cNvSpPr/>
          <p:nvPr/>
        </p:nvSpPr>
        <p:spPr>
          <a:xfrm>
            <a:off x="9552188" y="2084832"/>
            <a:ext cx="182880" cy="274320"/>
          </a:xfrm>
          <a:prstGeom prst="chevron">
            <a:avLst/>
          </a:prstGeom>
          <a:solidFill>
            <a:srgbClr val="C77DFF"/>
          </a:solidFill>
          <a:ln w="12700">
            <a:solidFill>
              <a:srgbClr val="C77DFF"/>
            </a:solidFill>
            <a:prstDash val="solid"/>
          </a:ln>
        </p:spPr>
      </p:sp>
      <p:sp>
        <p:nvSpPr>
          <p:cNvPr id="77" name="Shape 75"/>
          <p:cNvSpPr/>
          <p:nvPr/>
        </p:nvSpPr>
        <p:spPr>
          <a:xfrm>
            <a:off x="9780788" y="896112"/>
            <a:ext cx="2090867" cy="237744"/>
          </a:xfrm>
          <a:prstGeom prst="rect">
            <a:avLst/>
          </a:prstGeom>
          <a:solidFill>
            <a:srgbClr val="7500C0"/>
          </a:solidFill>
          <a:ln w="12700">
            <a:solidFill>
              <a:srgbClr val="7500C0"/>
            </a:solidFill>
            <a:prstDash val="solid"/>
          </a:ln>
        </p:spPr>
      </p:sp>
      <p:sp>
        <p:nvSpPr>
          <p:cNvPr id="78" name="Text 76"/>
          <p:cNvSpPr txBox="1"/>
          <p:nvPr/>
        </p:nvSpPr>
        <p:spPr>
          <a:xfrm>
            <a:off x="9780788" y="896112"/>
            <a:ext cx="2090867"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Arial" pitchFamily="34" charset="0"/>
                <a:ea typeface="Arial" pitchFamily="34" charset="-122"/>
                <a:cs typeface="Arial" pitchFamily="34" charset="-120"/>
              </a:rPr>
              <a:t>OUTPUT / ACTION</a:t>
            </a:r>
            <a:endParaRPr lang="en-US" sz="900" dirty="0"/>
          </a:p>
        </p:txBody>
      </p:sp>
      <p:sp>
        <p:nvSpPr>
          <p:cNvPr id="79" name="Shape 77"/>
          <p:cNvSpPr/>
          <p:nvPr/>
        </p:nvSpPr>
        <p:spPr>
          <a:xfrm>
            <a:off x="9780788" y="1207008"/>
            <a:ext cx="2090867" cy="548640"/>
          </a:xfrm>
          <a:prstGeom prst="roundRect">
            <a:avLst>
              <a:gd name="adj" fmla="val 6667"/>
            </a:avLst>
          </a:prstGeom>
          <a:solidFill>
            <a:srgbClr val="F7F4FC"/>
          </a:solidFill>
          <a:ln w="12700">
            <a:solidFill>
              <a:srgbClr val="ECEAF3"/>
            </a:solidFill>
            <a:prstDash val="solid"/>
          </a:ln>
        </p:spPr>
      </p:sp>
      <p:sp>
        <p:nvSpPr>
          <p:cNvPr id="80" name="Text 78"/>
          <p:cNvSpPr txBox="1"/>
          <p:nvPr/>
        </p:nvSpPr>
        <p:spPr>
          <a:xfrm>
            <a:off x="9853940" y="1261872"/>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RED / YELLOW / GREEN</a:t>
            </a:r>
            <a:endParaRPr lang="en-US" sz="880" dirty="0"/>
          </a:p>
        </p:txBody>
      </p:sp>
      <p:sp>
        <p:nvSpPr>
          <p:cNvPr id="81" name="Text 79"/>
          <p:cNvSpPr txBox="1"/>
          <p:nvPr/>
        </p:nvSpPr>
        <p:spPr>
          <a:xfrm>
            <a:off x="9853940" y="1444752"/>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with ESI level, confidence and three reasons</a:t>
            </a:r>
            <a:endParaRPr lang="en-US" sz="820" dirty="0"/>
          </a:p>
        </p:txBody>
      </p:sp>
      <p:sp>
        <p:nvSpPr>
          <p:cNvPr id="82" name="Shape 80"/>
          <p:cNvSpPr/>
          <p:nvPr/>
        </p:nvSpPr>
        <p:spPr>
          <a:xfrm>
            <a:off x="9780788" y="1828800"/>
            <a:ext cx="2090867" cy="548640"/>
          </a:xfrm>
          <a:prstGeom prst="roundRect">
            <a:avLst>
              <a:gd name="adj" fmla="val 6667"/>
            </a:avLst>
          </a:prstGeom>
          <a:solidFill>
            <a:srgbClr val="F7F4FC"/>
          </a:solidFill>
          <a:ln w="12700">
            <a:solidFill>
              <a:srgbClr val="ECEAF3"/>
            </a:solidFill>
            <a:prstDash val="solid"/>
          </a:ln>
        </p:spPr>
      </p:sp>
      <p:sp>
        <p:nvSpPr>
          <p:cNvPr id="83" name="Text 81"/>
          <p:cNvSpPr txBox="1"/>
          <p:nvPr/>
        </p:nvSpPr>
        <p:spPr>
          <a:xfrm>
            <a:off x="9853940" y="1883664"/>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Or an abstention</a:t>
            </a:r>
            <a:endParaRPr lang="en-US" sz="880" dirty="0"/>
          </a:p>
        </p:txBody>
      </p:sp>
      <p:sp>
        <p:nvSpPr>
          <p:cNvPr id="84" name="Text 82"/>
          <p:cNvSpPr txBox="1"/>
          <p:nvPr/>
        </p:nvSpPr>
        <p:spPr>
          <a:xfrm>
            <a:off x="9853940" y="2066544"/>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below 0.50 it routes to a clinician instead</a:t>
            </a:r>
            <a:endParaRPr lang="en-US" sz="820" dirty="0"/>
          </a:p>
        </p:txBody>
      </p:sp>
      <p:sp>
        <p:nvSpPr>
          <p:cNvPr id="85" name="Shape 83"/>
          <p:cNvSpPr/>
          <p:nvPr/>
        </p:nvSpPr>
        <p:spPr>
          <a:xfrm>
            <a:off x="9780788" y="2450592"/>
            <a:ext cx="2090867" cy="548640"/>
          </a:xfrm>
          <a:prstGeom prst="roundRect">
            <a:avLst>
              <a:gd name="adj" fmla="val 6667"/>
            </a:avLst>
          </a:prstGeom>
          <a:solidFill>
            <a:srgbClr val="F7F4FC"/>
          </a:solidFill>
          <a:ln w="12700">
            <a:solidFill>
              <a:srgbClr val="ECEAF3"/>
            </a:solidFill>
            <a:prstDash val="solid"/>
          </a:ln>
        </p:spPr>
      </p:sp>
      <p:sp>
        <p:nvSpPr>
          <p:cNvPr id="86" name="Text 84"/>
          <p:cNvSpPr txBox="1"/>
          <p:nvPr/>
        </p:nvSpPr>
        <p:spPr>
          <a:xfrm>
            <a:off x="9853940" y="2505456"/>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Queue re-rank</a:t>
            </a:r>
            <a:endParaRPr lang="en-US" sz="880" dirty="0"/>
          </a:p>
        </p:txBody>
      </p:sp>
      <p:sp>
        <p:nvSpPr>
          <p:cNvPr id="87" name="Text 85"/>
          <p:cNvSpPr txBox="1"/>
          <p:nvPr/>
        </p:nvSpPr>
        <p:spPr>
          <a:xfrm>
            <a:off x="9853940" y="2688336"/>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continuous, within colour, by risk and trend</a:t>
            </a:r>
            <a:endParaRPr lang="en-US" sz="820" dirty="0"/>
          </a:p>
        </p:txBody>
      </p:sp>
      <p:sp>
        <p:nvSpPr>
          <p:cNvPr id="88" name="Shape 86"/>
          <p:cNvSpPr/>
          <p:nvPr/>
        </p:nvSpPr>
        <p:spPr>
          <a:xfrm>
            <a:off x="9780788" y="3072384"/>
            <a:ext cx="2090867" cy="548640"/>
          </a:xfrm>
          <a:prstGeom prst="roundRect">
            <a:avLst>
              <a:gd name="adj" fmla="val 6667"/>
            </a:avLst>
          </a:prstGeom>
          <a:solidFill>
            <a:srgbClr val="F7F4FC"/>
          </a:solidFill>
          <a:ln w="12700">
            <a:solidFill>
              <a:srgbClr val="ECEAF3"/>
            </a:solidFill>
            <a:prstDash val="solid"/>
          </a:ln>
        </p:spPr>
      </p:sp>
      <p:sp>
        <p:nvSpPr>
          <p:cNvPr id="89" name="Text 87"/>
          <p:cNvSpPr txBox="1"/>
          <p:nvPr/>
        </p:nvSpPr>
        <p:spPr>
          <a:xfrm>
            <a:off x="9853940" y="3127248"/>
            <a:ext cx="1944563" cy="182880"/>
          </a:xfrm>
          <a:prstGeom prst="rect">
            <a:avLst/>
          </a:prstGeom>
          <a:noFill/>
          <a:ln/>
        </p:spPr>
        <p:txBody>
          <a:bodyPr wrap="square" lIns="0" tIns="0" rIns="0" bIns="0" rtlCol="0" anchor="ctr"/>
          <a:lstStyle/>
          <a:p>
            <a:pPr marL="0" indent="0">
              <a:buNone/>
            </a:pPr>
            <a:r>
              <a:rPr lang="en-US" sz="880" b="1" dirty="0">
                <a:solidFill>
                  <a:srgbClr val="111018"/>
                </a:solidFill>
                <a:latin typeface="Arial" pitchFamily="34" charset="0"/>
                <a:ea typeface="Arial" pitchFamily="34" charset="-122"/>
                <a:cs typeface="Arial" pitchFamily="34" charset="-120"/>
              </a:rPr>
              <a:t>Audit + exports</a:t>
            </a:r>
            <a:endParaRPr lang="en-US" sz="880" dirty="0"/>
          </a:p>
        </p:txBody>
      </p:sp>
      <p:sp>
        <p:nvSpPr>
          <p:cNvPr id="90" name="Text 88"/>
          <p:cNvSpPr txBox="1"/>
          <p:nvPr/>
        </p:nvSpPr>
        <p:spPr>
          <a:xfrm>
            <a:off x="9853940" y="3310128"/>
            <a:ext cx="1944563" cy="274320"/>
          </a:xfrm>
          <a:prstGeom prst="rect">
            <a:avLst/>
          </a:prstGeom>
          <a:noFill/>
          <a:ln/>
        </p:spPr>
        <p:txBody>
          <a:bodyPr wrap="square" lIns="0" tIns="0" rIns="0" bIns="0" rtlCol="0" anchor="ctr"/>
          <a:lstStyle/>
          <a:p>
            <a:pPr marL="0" indent="0">
              <a:lnSpc>
                <a:spcPct val="102000"/>
              </a:lnSpc>
              <a:buNone/>
            </a:pPr>
            <a:r>
              <a:rPr lang="en-US" sz="820" dirty="0">
                <a:solidFill>
                  <a:srgbClr val="5F5F6B"/>
                </a:solidFill>
                <a:latin typeface="Calibri" pitchFamily="34" charset="0"/>
                <a:ea typeface="Calibri" pitchFamily="34" charset="-122"/>
                <a:cs typeface="Calibri" pitchFamily="34" charset="-120"/>
              </a:rPr>
              <a:t>compliance packs, FHIR R4, delta feeds</a:t>
            </a:r>
            <a:endParaRPr lang="en-US" sz="820" dirty="0"/>
          </a:p>
        </p:txBody>
      </p:sp>
      <p:sp>
        <p:nvSpPr>
          <p:cNvPr id="91" name="Shape 89"/>
          <p:cNvSpPr/>
          <p:nvPr/>
        </p:nvSpPr>
        <p:spPr>
          <a:xfrm>
            <a:off x="5050414" y="3694176"/>
            <a:ext cx="2090867" cy="219456"/>
          </a:xfrm>
          <a:prstGeom prst="rect">
            <a:avLst/>
          </a:prstGeom>
          <a:solidFill>
            <a:srgbClr val="460073"/>
          </a:solidFill>
          <a:ln w="12700">
            <a:solidFill>
              <a:srgbClr val="460073"/>
            </a:solidFill>
            <a:prstDash val="solid"/>
          </a:ln>
        </p:spPr>
      </p:sp>
      <p:sp>
        <p:nvSpPr>
          <p:cNvPr id="92" name="Text 90"/>
          <p:cNvSpPr txBox="1"/>
          <p:nvPr/>
        </p:nvSpPr>
        <p:spPr>
          <a:xfrm>
            <a:off x="5041856" y="3684099"/>
            <a:ext cx="2090867"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ACUITY FLOOR = min(01…04)</a:t>
            </a:r>
            <a:endParaRPr lang="en-US" sz="850" dirty="0"/>
          </a:p>
        </p:txBody>
      </p:sp>
      <p:sp>
        <p:nvSpPr>
          <p:cNvPr id="93" name="Text 91"/>
          <p:cNvSpPr txBox="1"/>
          <p:nvPr/>
        </p:nvSpPr>
        <p:spPr>
          <a:xfrm>
            <a:off x="320039" y="3694175"/>
            <a:ext cx="4730375" cy="164593"/>
          </a:xfrm>
          <a:prstGeom prst="rect">
            <a:avLst/>
          </a:prstGeom>
          <a:noFill/>
          <a:ln/>
        </p:spPr>
        <p:txBody>
          <a:bodyPr wrap="square" lIns="0" tIns="0" rIns="0" bIns="0" rtlCol="0" anchor="ctr"/>
          <a:lstStyle/>
          <a:p>
            <a:pPr marL="0" indent="0">
              <a:lnSpc>
                <a:spcPct val="102000"/>
              </a:lnSpc>
              <a:buNone/>
            </a:pPr>
            <a:r>
              <a:rPr lang="en-US" sz="850" dirty="0">
                <a:solidFill>
                  <a:srgbClr val="2E2E36"/>
                </a:solidFill>
                <a:latin typeface="Calibri" pitchFamily="34" charset="0"/>
                <a:ea typeface="Calibri" pitchFamily="34" charset="-122"/>
                <a:cs typeface="Calibri" pitchFamily="34" charset="-120"/>
              </a:rPr>
              <a:t>The learned monotonic GBM sits above the floor and is clamped to it - it may raise the level, and has no code path to lower one.</a:t>
            </a:r>
            <a:endParaRPr lang="en-US" sz="850" dirty="0"/>
          </a:p>
        </p:txBody>
      </p:sp>
      <p:sp>
        <p:nvSpPr>
          <p:cNvPr id="94" name="Text 92"/>
          <p:cNvSpPr txBox="1"/>
          <p:nvPr/>
        </p:nvSpPr>
        <p:spPr>
          <a:xfrm>
            <a:off x="7616769" y="3629235"/>
            <a:ext cx="4181734" cy="274320"/>
          </a:xfrm>
          <a:prstGeom prst="rect">
            <a:avLst/>
          </a:prstGeom>
          <a:noFill/>
          <a:ln/>
        </p:spPr>
        <p:txBody>
          <a:bodyPr wrap="square" lIns="0" tIns="0" rIns="0" bIns="0" rtlCol="0" anchor="ctr"/>
          <a:lstStyle/>
          <a:p>
            <a:pPr marL="0" indent="0" algn="r">
              <a:lnSpc>
                <a:spcPct val="102000"/>
              </a:lnSpc>
              <a:buNone/>
            </a:pPr>
            <a:r>
              <a:rPr lang="en-US" sz="850" dirty="0">
                <a:solidFill>
                  <a:srgbClr val="2E2E36"/>
                </a:solidFill>
                <a:latin typeface="Calibri" pitchFamily="34" charset="0"/>
                <a:ea typeface="Calibri" pitchFamily="34" charset="-122"/>
                <a:cs typeface="Calibri" pitchFamily="34" charset="-120"/>
              </a:rPr>
              <a:t>A licensed clinician is the only downward path, with a reason code and re-measured evidence.</a:t>
            </a:r>
            <a:endParaRPr lang="en-US" sz="850" dirty="0"/>
          </a:p>
        </p:txBody>
      </p:sp>
      <p:sp>
        <p:nvSpPr>
          <p:cNvPr id="95" name="Shape 93"/>
          <p:cNvSpPr/>
          <p:nvPr/>
        </p:nvSpPr>
        <p:spPr>
          <a:xfrm>
            <a:off x="201168" y="3968496"/>
            <a:ext cx="3795674" cy="2688336"/>
          </a:xfrm>
          <a:prstGeom prst="rect">
            <a:avLst/>
          </a:prstGeom>
          <a:solidFill>
            <a:srgbClr val="FFFFFF"/>
          </a:solidFill>
          <a:ln w="12700">
            <a:solidFill>
              <a:srgbClr val="D9D6E3"/>
            </a:solidFill>
            <a:prstDash val="solid"/>
          </a:ln>
        </p:spPr>
      </p:sp>
      <p:sp>
        <p:nvSpPr>
          <p:cNvPr id="96" name="Shape 94"/>
          <p:cNvSpPr/>
          <p:nvPr/>
        </p:nvSpPr>
        <p:spPr>
          <a:xfrm>
            <a:off x="201168" y="3968496"/>
            <a:ext cx="3795674" cy="274320"/>
          </a:xfrm>
          <a:prstGeom prst="rect">
            <a:avLst/>
          </a:prstGeom>
          <a:solidFill>
            <a:srgbClr val="7500C0"/>
          </a:solidFill>
          <a:ln w="12700">
            <a:solidFill>
              <a:srgbClr val="7500C0"/>
            </a:solidFill>
            <a:prstDash val="solid"/>
          </a:ln>
        </p:spPr>
      </p:sp>
      <p:sp>
        <p:nvSpPr>
          <p:cNvPr id="97" name="Text 95"/>
          <p:cNvSpPr txBox="1"/>
          <p:nvPr/>
        </p:nvSpPr>
        <p:spPr>
          <a:xfrm>
            <a:off x="201168" y="3968496"/>
            <a:ext cx="3795674"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DEPLOYS AT THREE MATURITY TIERS</a:t>
            </a:r>
            <a:endParaRPr lang="en-US" sz="1050" dirty="0"/>
          </a:p>
        </p:txBody>
      </p:sp>
      <p:sp>
        <p:nvSpPr>
          <p:cNvPr id="98" name="Text 96"/>
          <p:cNvSpPr txBox="1"/>
          <p:nvPr/>
        </p:nvSpPr>
        <p:spPr>
          <a:xfrm>
            <a:off x="320040" y="4334256"/>
            <a:ext cx="2194560" cy="182880"/>
          </a:xfrm>
          <a:prstGeom prst="rect">
            <a:avLst/>
          </a:prstGeom>
          <a:noFill/>
          <a:ln/>
        </p:spPr>
        <p:txBody>
          <a:bodyPr wrap="square" lIns="0" tIns="0" rIns="0" bIns="0" rtlCol="0" anchor="ctr"/>
          <a:lstStyle/>
          <a:p>
            <a:pPr marL="0" indent="0">
              <a:buNone/>
            </a:pPr>
            <a:r>
              <a:rPr lang="en-US" sz="900" b="1" dirty="0">
                <a:solidFill>
                  <a:srgbClr val="0A6E43"/>
                </a:solidFill>
                <a:latin typeface="Arial" pitchFamily="34" charset="0"/>
                <a:ea typeface="Arial" pitchFamily="34" charset="-122"/>
                <a:cs typeface="Arial" pitchFamily="34" charset="-120"/>
              </a:rPr>
              <a:t>TIER 0 · PAPER ED</a:t>
            </a:r>
            <a:endParaRPr lang="en-US" sz="900" dirty="0"/>
          </a:p>
        </p:txBody>
      </p:sp>
      <p:sp>
        <p:nvSpPr>
          <p:cNvPr id="99" name="Text 97"/>
          <p:cNvSpPr txBox="1"/>
          <p:nvPr/>
        </p:nvSpPr>
        <p:spPr>
          <a:xfrm>
            <a:off x="2514600" y="4334256"/>
            <a:ext cx="1363370" cy="182880"/>
          </a:xfrm>
          <a:prstGeom prst="rect">
            <a:avLst/>
          </a:prstGeom>
          <a:noFill/>
          <a:ln/>
        </p:spPr>
        <p:txBody>
          <a:bodyPr wrap="square" lIns="0" tIns="0" rIns="0" bIns="0" rtlCol="0" anchor="ctr"/>
          <a:lstStyle/>
          <a:p>
            <a:pPr marL="0" indent="0" algn="r">
              <a:buNone/>
            </a:pPr>
            <a:r>
              <a:rPr lang="en-US" sz="850" dirty="0">
                <a:solidFill>
                  <a:srgbClr val="5F5F6B"/>
                </a:solidFill>
                <a:latin typeface="Calibri" pitchFamily="34" charset="0"/>
                <a:ea typeface="Calibri" pitchFamily="34" charset="-122"/>
                <a:cs typeface="Calibri" pitchFamily="34" charset="-120"/>
              </a:rPr>
              <a:t>~100 visits/day</a:t>
            </a:r>
            <a:endParaRPr lang="en-US" sz="850" dirty="0"/>
          </a:p>
        </p:txBody>
      </p:sp>
      <p:sp>
        <p:nvSpPr>
          <p:cNvPr id="100" name="Text 98"/>
          <p:cNvSpPr txBox="1"/>
          <p:nvPr/>
        </p:nvSpPr>
        <p:spPr>
          <a:xfrm>
            <a:off x="320040" y="4526280"/>
            <a:ext cx="3557930" cy="438912"/>
          </a:xfrm>
          <a:prstGeom prst="rect">
            <a:avLst/>
          </a:prstGeom>
          <a:noFill/>
          <a:ln/>
        </p:spPr>
        <p:txBody>
          <a:bodyPr wrap="square" lIns="0" tIns="0" rIns="0" bIns="0" rtlCol="0" anchor="ctr"/>
          <a:lstStyle/>
          <a:p>
            <a:pPr marL="0" indent="0">
              <a:lnSpc>
                <a:spcPct val="104000"/>
              </a:lnSpc>
              <a:buNone/>
            </a:pPr>
            <a:r>
              <a:rPr lang="en-US" sz="830" dirty="0">
                <a:solidFill>
                  <a:srgbClr val="2E2E36"/>
                </a:solidFill>
                <a:latin typeface="Calibri" pitchFamily="34" charset="0"/>
                <a:ea typeface="Calibri" pitchFamily="34" charset="-122"/>
                <a:cs typeface="Calibri" pitchFamily="34" charset="-120"/>
              </a:rPr>
              <a:t>No EHR, manual vitals, intermittent power. Standalone offline tablet with CSV export - the deterministic layers and the re-triage timer need no network at all.</a:t>
            </a:r>
            <a:endParaRPr lang="en-US" sz="830" dirty="0"/>
          </a:p>
        </p:txBody>
      </p:sp>
      <p:sp>
        <p:nvSpPr>
          <p:cNvPr id="101" name="Text 99"/>
          <p:cNvSpPr txBox="1"/>
          <p:nvPr/>
        </p:nvSpPr>
        <p:spPr>
          <a:xfrm>
            <a:off x="320040" y="4992624"/>
            <a:ext cx="2194560" cy="182880"/>
          </a:xfrm>
          <a:prstGeom prst="rect">
            <a:avLst/>
          </a:prstGeom>
          <a:noFill/>
          <a:ln/>
        </p:spPr>
        <p:txBody>
          <a:bodyPr wrap="square" lIns="0" tIns="0" rIns="0" bIns="0" rtlCol="0" anchor="ctr"/>
          <a:lstStyle/>
          <a:p>
            <a:pPr marL="0" indent="0">
              <a:buNone/>
            </a:pPr>
            <a:r>
              <a:rPr lang="en-US" sz="900" b="1" dirty="0">
                <a:solidFill>
                  <a:srgbClr val="7500C0"/>
                </a:solidFill>
                <a:latin typeface="Arial" pitchFamily="34" charset="0"/>
                <a:ea typeface="Arial" pitchFamily="34" charset="-122"/>
                <a:cs typeface="Arial" pitchFamily="34" charset="-120"/>
              </a:rPr>
              <a:t>TIER 1 · DISTRICT</a:t>
            </a:r>
            <a:endParaRPr lang="en-US" sz="900" dirty="0"/>
          </a:p>
        </p:txBody>
      </p:sp>
      <p:sp>
        <p:nvSpPr>
          <p:cNvPr id="102" name="Text 100"/>
          <p:cNvSpPr txBox="1"/>
          <p:nvPr/>
        </p:nvSpPr>
        <p:spPr>
          <a:xfrm>
            <a:off x="2514600" y="4992624"/>
            <a:ext cx="1363370" cy="182880"/>
          </a:xfrm>
          <a:prstGeom prst="rect">
            <a:avLst/>
          </a:prstGeom>
          <a:noFill/>
          <a:ln/>
        </p:spPr>
        <p:txBody>
          <a:bodyPr wrap="square" lIns="0" tIns="0" rIns="0" bIns="0" rtlCol="0" anchor="ctr"/>
          <a:lstStyle/>
          <a:p>
            <a:pPr marL="0" indent="0" algn="r">
              <a:buNone/>
            </a:pPr>
            <a:r>
              <a:rPr lang="en-US" sz="850" dirty="0">
                <a:solidFill>
                  <a:srgbClr val="5F5F6B"/>
                </a:solidFill>
                <a:latin typeface="Calibri" pitchFamily="34" charset="0"/>
                <a:ea typeface="Calibri" pitchFamily="34" charset="-122"/>
                <a:cs typeface="Calibri" pitchFamily="34" charset="-120"/>
              </a:rPr>
              <a:t>~250 visits/day</a:t>
            </a:r>
            <a:endParaRPr lang="en-US" sz="850" dirty="0"/>
          </a:p>
        </p:txBody>
      </p:sp>
      <p:sp>
        <p:nvSpPr>
          <p:cNvPr id="103" name="Text 101"/>
          <p:cNvSpPr txBox="1"/>
          <p:nvPr/>
        </p:nvSpPr>
        <p:spPr>
          <a:xfrm>
            <a:off x="320040" y="5184648"/>
            <a:ext cx="3557930" cy="438912"/>
          </a:xfrm>
          <a:prstGeom prst="rect">
            <a:avLst/>
          </a:prstGeom>
          <a:noFill/>
          <a:ln/>
        </p:spPr>
        <p:txBody>
          <a:bodyPr wrap="square" lIns="0" tIns="0" rIns="0" bIns="0" rtlCol="0" anchor="ctr"/>
          <a:lstStyle/>
          <a:p>
            <a:pPr marL="0" indent="0">
              <a:lnSpc>
                <a:spcPct val="104000"/>
              </a:lnSpc>
              <a:buNone/>
            </a:pPr>
            <a:r>
              <a:rPr lang="en-US" sz="830" dirty="0">
                <a:solidFill>
                  <a:srgbClr val="2E2E36"/>
                </a:solidFill>
                <a:latin typeface="Calibri" pitchFamily="34" charset="0"/>
                <a:ea typeface="Calibri" pitchFamily="34" charset="-122"/>
                <a:cs typeface="Calibri" pitchFamily="34" charset="-120"/>
              </a:rPr>
              <a:t>Basic HIS. One-way HL7 v2 ADT feed for registration and demographics; vitals still entered by hand.</a:t>
            </a:r>
            <a:endParaRPr lang="en-US" sz="830" dirty="0"/>
          </a:p>
        </p:txBody>
      </p:sp>
      <p:sp>
        <p:nvSpPr>
          <p:cNvPr id="104" name="Text 102"/>
          <p:cNvSpPr txBox="1"/>
          <p:nvPr/>
        </p:nvSpPr>
        <p:spPr>
          <a:xfrm>
            <a:off x="320040" y="5650992"/>
            <a:ext cx="2194560" cy="182880"/>
          </a:xfrm>
          <a:prstGeom prst="rect">
            <a:avLst/>
          </a:prstGeom>
          <a:noFill/>
          <a:ln/>
        </p:spPr>
        <p:txBody>
          <a:bodyPr wrap="square" lIns="0" tIns="0" rIns="0" bIns="0" rtlCol="0" anchor="ctr"/>
          <a:lstStyle/>
          <a:p>
            <a:pPr marL="0" indent="0">
              <a:buNone/>
            </a:pPr>
            <a:r>
              <a:rPr lang="en-US" sz="900" b="1" dirty="0">
                <a:solidFill>
                  <a:srgbClr val="460073"/>
                </a:solidFill>
                <a:latin typeface="Arial" pitchFamily="34" charset="0"/>
                <a:ea typeface="Arial" pitchFamily="34" charset="-122"/>
                <a:cs typeface="Arial" pitchFamily="34" charset="-120"/>
              </a:rPr>
              <a:t>TIER 2 · TERTIARY</a:t>
            </a:r>
            <a:endParaRPr lang="en-US" sz="900" dirty="0"/>
          </a:p>
        </p:txBody>
      </p:sp>
      <p:sp>
        <p:nvSpPr>
          <p:cNvPr id="105" name="Text 103"/>
          <p:cNvSpPr txBox="1"/>
          <p:nvPr/>
        </p:nvSpPr>
        <p:spPr>
          <a:xfrm>
            <a:off x="2514600" y="5650992"/>
            <a:ext cx="1363370" cy="182880"/>
          </a:xfrm>
          <a:prstGeom prst="rect">
            <a:avLst/>
          </a:prstGeom>
          <a:noFill/>
          <a:ln/>
        </p:spPr>
        <p:txBody>
          <a:bodyPr wrap="square" lIns="0" tIns="0" rIns="0" bIns="0" rtlCol="0" anchor="ctr"/>
          <a:lstStyle/>
          <a:p>
            <a:pPr marL="0" indent="0" algn="r">
              <a:buNone/>
            </a:pPr>
            <a:r>
              <a:rPr lang="en-US" sz="850" dirty="0">
                <a:solidFill>
                  <a:srgbClr val="5F5F6B"/>
                </a:solidFill>
                <a:latin typeface="Calibri" pitchFamily="34" charset="0"/>
                <a:ea typeface="Calibri" pitchFamily="34" charset="-122"/>
                <a:cs typeface="Calibri" pitchFamily="34" charset="-120"/>
              </a:rPr>
              <a:t>500+ visits/day</a:t>
            </a:r>
            <a:endParaRPr lang="en-US" sz="850" dirty="0"/>
          </a:p>
        </p:txBody>
      </p:sp>
      <p:sp>
        <p:nvSpPr>
          <p:cNvPr id="106" name="Text 104"/>
          <p:cNvSpPr txBox="1"/>
          <p:nvPr/>
        </p:nvSpPr>
        <p:spPr>
          <a:xfrm>
            <a:off x="320040" y="5843016"/>
            <a:ext cx="3557930" cy="438912"/>
          </a:xfrm>
          <a:prstGeom prst="rect">
            <a:avLst/>
          </a:prstGeom>
          <a:noFill/>
          <a:ln/>
        </p:spPr>
        <p:txBody>
          <a:bodyPr wrap="square" lIns="0" tIns="0" rIns="0" bIns="0" rtlCol="0" anchor="ctr"/>
          <a:lstStyle/>
          <a:p>
            <a:pPr marL="0" indent="0">
              <a:lnSpc>
                <a:spcPct val="104000"/>
              </a:lnSpc>
              <a:buNone/>
            </a:pPr>
            <a:r>
              <a:rPr lang="en-US" sz="830" dirty="0">
                <a:solidFill>
                  <a:srgbClr val="2E2E36"/>
                </a:solidFill>
                <a:latin typeface="Calibri" pitchFamily="34" charset="0"/>
                <a:ea typeface="Calibri" pitchFamily="34" charset="-122"/>
                <a:cs typeface="Calibri" pitchFamily="34" charset="-120"/>
              </a:rPr>
              <a:t>Full EMR. Bidirectional FHIR R4 - Observation and Condition in, triage note back, Location for bed state.</a:t>
            </a:r>
            <a:endParaRPr lang="en-US" sz="830" dirty="0"/>
          </a:p>
        </p:txBody>
      </p:sp>
      <p:sp>
        <p:nvSpPr>
          <p:cNvPr id="107" name="Shape 105"/>
          <p:cNvSpPr/>
          <p:nvPr/>
        </p:nvSpPr>
        <p:spPr>
          <a:xfrm>
            <a:off x="320040" y="6309360"/>
            <a:ext cx="3557930" cy="256032"/>
          </a:xfrm>
          <a:prstGeom prst="roundRect">
            <a:avLst>
              <a:gd name="adj" fmla="val 14286"/>
            </a:avLst>
          </a:prstGeom>
          <a:solidFill>
            <a:srgbClr val="E6F3EC"/>
          </a:solidFill>
          <a:ln w="12700">
            <a:solidFill>
              <a:srgbClr val="E6F3EC"/>
            </a:solidFill>
            <a:prstDash val="solid"/>
          </a:ln>
        </p:spPr>
      </p:sp>
      <p:sp>
        <p:nvSpPr>
          <p:cNvPr id="108" name="Text 106"/>
          <p:cNvSpPr txBox="1"/>
          <p:nvPr/>
        </p:nvSpPr>
        <p:spPr>
          <a:xfrm>
            <a:off x="320040" y="6309360"/>
            <a:ext cx="3557930" cy="256032"/>
          </a:xfrm>
          <a:prstGeom prst="rect">
            <a:avLst/>
          </a:prstGeom>
          <a:noFill/>
          <a:ln/>
        </p:spPr>
        <p:txBody>
          <a:bodyPr wrap="square" lIns="0" tIns="0" rIns="0" bIns="0" rtlCol="0" anchor="ctr"/>
          <a:lstStyle/>
          <a:p>
            <a:pPr marL="0" indent="0" algn="ctr">
              <a:buNone/>
            </a:pPr>
            <a:r>
              <a:rPr lang="en-US" sz="900" b="1" dirty="0">
                <a:solidFill>
                  <a:srgbClr val="0A6E43"/>
                </a:solidFill>
                <a:latin typeface="Arial" pitchFamily="34" charset="0"/>
                <a:ea typeface="Arial" pitchFamily="34" charset="-122"/>
                <a:cs typeface="Arial" pitchFamily="34" charset="-120"/>
              </a:rPr>
              <a:t>No hospital needs Tier 2 to get the Tier 0 safety benefit.</a:t>
            </a:r>
            <a:endParaRPr lang="en-US" sz="900" dirty="0"/>
          </a:p>
        </p:txBody>
      </p:sp>
      <p:sp>
        <p:nvSpPr>
          <p:cNvPr id="109" name="Shape 107"/>
          <p:cNvSpPr/>
          <p:nvPr/>
        </p:nvSpPr>
        <p:spPr>
          <a:xfrm>
            <a:off x="4198010" y="3968496"/>
            <a:ext cx="3795674" cy="2688336"/>
          </a:xfrm>
          <a:prstGeom prst="rect">
            <a:avLst/>
          </a:prstGeom>
          <a:solidFill>
            <a:srgbClr val="FFFFFF"/>
          </a:solidFill>
          <a:ln w="12700">
            <a:solidFill>
              <a:srgbClr val="D9D6E3"/>
            </a:solidFill>
            <a:prstDash val="solid"/>
          </a:ln>
        </p:spPr>
      </p:sp>
      <p:sp>
        <p:nvSpPr>
          <p:cNvPr id="110" name="Shape 108"/>
          <p:cNvSpPr/>
          <p:nvPr/>
        </p:nvSpPr>
        <p:spPr>
          <a:xfrm>
            <a:off x="4198010" y="3968496"/>
            <a:ext cx="3795674" cy="274320"/>
          </a:xfrm>
          <a:prstGeom prst="rect">
            <a:avLst/>
          </a:prstGeom>
          <a:solidFill>
            <a:srgbClr val="7500C0"/>
          </a:solidFill>
          <a:ln w="12700">
            <a:solidFill>
              <a:srgbClr val="7500C0"/>
            </a:solidFill>
            <a:prstDash val="solid"/>
          </a:ln>
        </p:spPr>
      </p:sp>
      <p:sp>
        <p:nvSpPr>
          <p:cNvPr id="111" name="Text 109"/>
          <p:cNvSpPr txBox="1"/>
          <p:nvPr/>
        </p:nvSpPr>
        <p:spPr>
          <a:xfrm>
            <a:off x="4198010" y="3968496"/>
            <a:ext cx="3795674"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CONFIGURATION, NOT A CODE FORK</a:t>
            </a:r>
            <a:endParaRPr lang="en-US" sz="1050" dirty="0"/>
          </a:p>
        </p:txBody>
      </p:sp>
      <p:sp>
        <p:nvSpPr>
          <p:cNvPr id="112" name="Text 110"/>
          <p:cNvSpPr txBox="1"/>
          <p:nvPr/>
        </p:nvSpPr>
        <p:spPr>
          <a:xfrm>
            <a:off x="4316882" y="4334256"/>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threshold_profile</a:t>
            </a:r>
            <a:endParaRPr lang="en-US" sz="850" dirty="0"/>
          </a:p>
        </p:txBody>
      </p:sp>
      <p:sp>
        <p:nvSpPr>
          <p:cNvPr id="113" name="Text 111"/>
          <p:cNvSpPr txBox="1"/>
          <p:nvPr/>
        </p:nvSpPr>
        <p:spPr>
          <a:xfrm>
            <a:off x="4316882" y="4507992"/>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age-band table</a:t>
            </a:r>
            <a:endParaRPr lang="en-US" sz="820" dirty="0"/>
          </a:p>
        </p:txBody>
      </p:sp>
      <p:sp>
        <p:nvSpPr>
          <p:cNvPr id="114" name="Text 112"/>
          <p:cNvSpPr txBox="1"/>
          <p:nvPr/>
        </p:nvSpPr>
        <p:spPr>
          <a:xfrm>
            <a:off x="6150712" y="4334256"/>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acuity_scale</a:t>
            </a:r>
            <a:endParaRPr lang="en-US" sz="850" dirty="0"/>
          </a:p>
        </p:txBody>
      </p:sp>
      <p:sp>
        <p:nvSpPr>
          <p:cNvPr id="115" name="Text 113"/>
          <p:cNvSpPr txBox="1"/>
          <p:nvPr/>
        </p:nvSpPr>
        <p:spPr>
          <a:xfrm>
            <a:off x="6150712" y="4507992"/>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ESI-5 or local</a:t>
            </a:r>
            <a:endParaRPr lang="en-US" sz="820" dirty="0"/>
          </a:p>
        </p:txBody>
      </p:sp>
      <p:sp>
        <p:nvSpPr>
          <p:cNvPr id="116" name="Text 114"/>
          <p:cNvSpPr txBox="1"/>
          <p:nvPr/>
        </p:nvSpPr>
        <p:spPr>
          <a:xfrm>
            <a:off x="4316882" y="4736592"/>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wait_time_thresholds</a:t>
            </a:r>
            <a:endParaRPr lang="en-US" sz="850" dirty="0"/>
          </a:p>
        </p:txBody>
      </p:sp>
      <p:sp>
        <p:nvSpPr>
          <p:cNvPr id="117" name="Text 115"/>
          <p:cNvSpPr txBox="1"/>
          <p:nvPr/>
        </p:nvSpPr>
        <p:spPr>
          <a:xfrm>
            <a:off x="4316882" y="4910328"/>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safe windows</a:t>
            </a:r>
            <a:endParaRPr lang="en-US" sz="820" dirty="0"/>
          </a:p>
        </p:txBody>
      </p:sp>
      <p:sp>
        <p:nvSpPr>
          <p:cNvPr id="118" name="Text 116"/>
          <p:cNvSpPr txBox="1"/>
          <p:nvPr/>
        </p:nvSpPr>
        <p:spPr>
          <a:xfrm>
            <a:off x="6150712" y="4736592"/>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surge_trigger</a:t>
            </a:r>
            <a:endParaRPr lang="en-US" sz="850" dirty="0"/>
          </a:p>
        </p:txBody>
      </p:sp>
      <p:sp>
        <p:nvSpPr>
          <p:cNvPr id="119" name="Text 117"/>
          <p:cNvSpPr txBox="1"/>
          <p:nvPr/>
        </p:nvSpPr>
        <p:spPr>
          <a:xfrm>
            <a:off x="6150712" y="4910328"/>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arrivals per hour</a:t>
            </a:r>
            <a:endParaRPr lang="en-US" sz="820" dirty="0"/>
          </a:p>
        </p:txBody>
      </p:sp>
      <p:sp>
        <p:nvSpPr>
          <p:cNvPr id="120" name="Text 118"/>
          <p:cNvSpPr txBox="1"/>
          <p:nvPr/>
        </p:nvSpPr>
        <p:spPr>
          <a:xfrm>
            <a:off x="4316882" y="5138928"/>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language_pack</a:t>
            </a:r>
            <a:endParaRPr lang="en-US" sz="850" dirty="0"/>
          </a:p>
        </p:txBody>
      </p:sp>
      <p:sp>
        <p:nvSpPr>
          <p:cNvPr id="121" name="Text 119"/>
          <p:cNvSpPr txBox="1"/>
          <p:nvPr/>
        </p:nvSpPr>
        <p:spPr>
          <a:xfrm>
            <a:off x="4316882" y="5312664"/>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Hinglish, regional</a:t>
            </a:r>
            <a:endParaRPr lang="en-US" sz="820" dirty="0"/>
          </a:p>
        </p:txBody>
      </p:sp>
      <p:sp>
        <p:nvSpPr>
          <p:cNvPr id="122" name="Text 120"/>
          <p:cNvSpPr txBox="1"/>
          <p:nvPr/>
        </p:nvSpPr>
        <p:spPr>
          <a:xfrm>
            <a:off x="6150712" y="5138928"/>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specialty_routing_map</a:t>
            </a:r>
            <a:endParaRPr lang="en-US" sz="850" dirty="0"/>
          </a:p>
        </p:txBody>
      </p:sp>
      <p:sp>
        <p:nvSpPr>
          <p:cNvPr id="123" name="Text 121"/>
          <p:cNvSpPr txBox="1"/>
          <p:nvPr/>
        </p:nvSpPr>
        <p:spPr>
          <a:xfrm>
            <a:off x="6150712" y="5312664"/>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pathways</a:t>
            </a:r>
            <a:endParaRPr lang="en-US" sz="820" dirty="0"/>
          </a:p>
        </p:txBody>
      </p:sp>
      <p:sp>
        <p:nvSpPr>
          <p:cNvPr id="124" name="Text 122"/>
          <p:cNvSpPr txBox="1"/>
          <p:nvPr/>
        </p:nvSpPr>
        <p:spPr>
          <a:xfrm>
            <a:off x="4316882" y="5541264"/>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integration_tier</a:t>
            </a:r>
            <a:endParaRPr lang="en-US" sz="850" dirty="0"/>
          </a:p>
        </p:txBody>
      </p:sp>
      <p:sp>
        <p:nvSpPr>
          <p:cNvPr id="125" name="Text 123"/>
          <p:cNvSpPr txBox="1"/>
          <p:nvPr/>
        </p:nvSpPr>
        <p:spPr>
          <a:xfrm>
            <a:off x="4316882" y="5715000"/>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0, 1 or 2</a:t>
            </a:r>
            <a:endParaRPr lang="en-US" sz="820" dirty="0"/>
          </a:p>
        </p:txBody>
      </p:sp>
      <p:sp>
        <p:nvSpPr>
          <p:cNvPr id="126" name="Text 124"/>
          <p:cNvSpPr txBox="1"/>
          <p:nvPr/>
        </p:nvSpPr>
        <p:spPr>
          <a:xfrm>
            <a:off x="6150712" y="5541264"/>
            <a:ext cx="1724101" cy="182880"/>
          </a:xfrm>
          <a:prstGeom prst="rect">
            <a:avLst/>
          </a:prstGeom>
          <a:noFill/>
          <a:ln/>
        </p:spPr>
        <p:txBody>
          <a:bodyPr wrap="square" lIns="0" tIns="0" rIns="0" bIns="0" rtlCol="0" anchor="ctr"/>
          <a:lstStyle/>
          <a:p>
            <a:pPr marL="0" indent="0">
              <a:buNone/>
            </a:pPr>
            <a:r>
              <a:rPr lang="en-US" sz="850" dirty="0">
                <a:solidFill>
                  <a:srgbClr val="460073"/>
                </a:solidFill>
                <a:latin typeface="Courier New" pitchFamily="34" charset="0"/>
                <a:ea typeface="Courier New" pitchFamily="34" charset="-122"/>
                <a:cs typeface="Courier New" pitchFamily="34" charset="-120"/>
              </a:rPr>
              <a:t>escalation_contacts</a:t>
            </a:r>
            <a:endParaRPr lang="en-US" sz="850" dirty="0"/>
          </a:p>
        </p:txBody>
      </p:sp>
      <p:sp>
        <p:nvSpPr>
          <p:cNvPr id="127" name="Text 125"/>
          <p:cNvSpPr txBox="1"/>
          <p:nvPr/>
        </p:nvSpPr>
        <p:spPr>
          <a:xfrm>
            <a:off x="6150712" y="5715000"/>
            <a:ext cx="1724101" cy="164592"/>
          </a:xfrm>
          <a:prstGeom prst="rect">
            <a:avLst/>
          </a:prstGeom>
          <a:noFill/>
          <a:ln/>
        </p:spPr>
        <p:txBody>
          <a:bodyPr wrap="square" lIns="0" tIns="0" rIns="0" bIns="0" rtlCol="0" anchor="ctr"/>
          <a:lstStyle/>
          <a:p>
            <a:pPr marL="0" indent="0">
              <a:buNone/>
            </a:pPr>
            <a:r>
              <a:rPr lang="en-US" sz="820" dirty="0">
                <a:solidFill>
                  <a:srgbClr val="5F5F6B"/>
                </a:solidFill>
                <a:latin typeface="Calibri" pitchFamily="34" charset="0"/>
                <a:ea typeface="Calibri" pitchFamily="34" charset="-122"/>
                <a:cs typeface="Calibri" pitchFamily="34" charset="-120"/>
              </a:rPr>
              <a:t>alert recipients</a:t>
            </a:r>
            <a:endParaRPr lang="en-US" sz="820" dirty="0"/>
          </a:p>
        </p:txBody>
      </p:sp>
      <p:sp>
        <p:nvSpPr>
          <p:cNvPr id="128" name="Text 126"/>
          <p:cNvSpPr txBox="1"/>
          <p:nvPr/>
        </p:nvSpPr>
        <p:spPr>
          <a:xfrm>
            <a:off x="4316882" y="5998464"/>
            <a:ext cx="3557930" cy="274320"/>
          </a:xfrm>
          <a:prstGeom prst="rect">
            <a:avLst/>
          </a:prstGeom>
          <a:noFill/>
          <a:ln/>
        </p:spPr>
        <p:txBody>
          <a:bodyPr wrap="square" lIns="0" tIns="0" rIns="0" bIns="0" rtlCol="0" anchor="ctr"/>
          <a:lstStyle/>
          <a:p>
            <a:pPr marL="0" indent="0">
              <a:lnSpc>
                <a:spcPct val="104000"/>
              </a:lnSpc>
              <a:buNone/>
            </a:pPr>
            <a:r>
              <a:rPr lang="en-US" sz="850" dirty="0">
                <a:solidFill>
                  <a:srgbClr val="2E2E36"/>
                </a:solidFill>
                <a:latin typeface="Calibri" pitchFamily="34" charset="0"/>
                <a:ea typeface="Calibri" pitchFamily="34" charset="-122"/>
                <a:cs typeface="Calibri" pitchFamily="34" charset="-120"/>
              </a:rPr>
              <a:t>Local protocol owns every hard threshold. No globally copied table ships, and no site needs a code fork.</a:t>
            </a:r>
            <a:endParaRPr lang="en-US" sz="850" dirty="0"/>
          </a:p>
        </p:txBody>
      </p:sp>
      <p:sp>
        <p:nvSpPr>
          <p:cNvPr id="129" name="Shape 127"/>
          <p:cNvSpPr/>
          <p:nvPr/>
        </p:nvSpPr>
        <p:spPr>
          <a:xfrm>
            <a:off x="4316882" y="6309360"/>
            <a:ext cx="3557930" cy="256032"/>
          </a:xfrm>
          <a:prstGeom prst="roundRect">
            <a:avLst>
              <a:gd name="adj" fmla="val 14286"/>
            </a:avLst>
          </a:prstGeom>
          <a:solidFill>
            <a:srgbClr val="F4ECFE"/>
          </a:solidFill>
          <a:ln w="12700">
            <a:solidFill>
              <a:srgbClr val="F4ECFE"/>
            </a:solidFill>
            <a:prstDash val="solid"/>
          </a:ln>
        </p:spPr>
      </p:sp>
      <p:sp>
        <p:nvSpPr>
          <p:cNvPr id="130" name="Text 128"/>
          <p:cNvSpPr txBox="1"/>
          <p:nvPr/>
        </p:nvSpPr>
        <p:spPr>
          <a:xfrm>
            <a:off x="4316882" y="6309360"/>
            <a:ext cx="3557930" cy="256032"/>
          </a:xfrm>
          <a:prstGeom prst="rect">
            <a:avLst/>
          </a:prstGeom>
          <a:noFill/>
          <a:ln/>
        </p:spPr>
        <p:txBody>
          <a:bodyPr wrap="square" lIns="0" tIns="0" rIns="0" bIns="0" rtlCol="0" anchor="ctr"/>
          <a:lstStyle/>
          <a:p>
            <a:pPr marL="0" indent="0" algn="ctr">
              <a:buNone/>
            </a:pPr>
            <a:r>
              <a:rPr lang="en-US" sz="900" b="1" dirty="0">
                <a:solidFill>
                  <a:srgbClr val="460073"/>
                </a:solidFill>
                <a:latin typeface="Arial" pitchFamily="34" charset="0"/>
                <a:ea typeface="Arial" pitchFamily="34" charset="-122"/>
                <a:cs typeface="Arial" pitchFamily="34" charset="-120"/>
              </a:rPr>
              <a:t>Runs on one tablet - no GPU, no cloud, no API latency.</a:t>
            </a:r>
            <a:endParaRPr lang="en-US" sz="900" dirty="0"/>
          </a:p>
        </p:txBody>
      </p:sp>
      <p:sp>
        <p:nvSpPr>
          <p:cNvPr id="131" name="Shape 129"/>
          <p:cNvSpPr/>
          <p:nvPr/>
        </p:nvSpPr>
        <p:spPr>
          <a:xfrm>
            <a:off x="8194853" y="3968496"/>
            <a:ext cx="3795674" cy="2688336"/>
          </a:xfrm>
          <a:prstGeom prst="rect">
            <a:avLst/>
          </a:prstGeom>
          <a:solidFill>
            <a:srgbClr val="FFFFFF"/>
          </a:solidFill>
          <a:ln w="12700">
            <a:solidFill>
              <a:srgbClr val="D9D6E3"/>
            </a:solidFill>
            <a:prstDash val="solid"/>
          </a:ln>
        </p:spPr>
      </p:sp>
      <p:sp>
        <p:nvSpPr>
          <p:cNvPr id="132" name="Shape 130"/>
          <p:cNvSpPr/>
          <p:nvPr/>
        </p:nvSpPr>
        <p:spPr>
          <a:xfrm>
            <a:off x="8194853" y="3968496"/>
            <a:ext cx="3795674" cy="274320"/>
          </a:xfrm>
          <a:prstGeom prst="rect">
            <a:avLst/>
          </a:prstGeom>
          <a:solidFill>
            <a:srgbClr val="7500C0"/>
          </a:solidFill>
          <a:ln w="12700">
            <a:solidFill>
              <a:srgbClr val="7500C0"/>
            </a:solidFill>
            <a:prstDash val="solid"/>
          </a:ln>
        </p:spPr>
      </p:sp>
      <p:sp>
        <p:nvSpPr>
          <p:cNvPr id="133" name="Text 131"/>
          <p:cNvSpPr txBox="1"/>
          <p:nvPr/>
        </p:nvSpPr>
        <p:spPr>
          <a:xfrm>
            <a:off x="8194853" y="3968496"/>
            <a:ext cx="3795674"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THE DATA BOUNDARY, AND WHO OWNS IT</a:t>
            </a:r>
            <a:endParaRPr lang="en-US" sz="1050" dirty="0"/>
          </a:p>
        </p:txBody>
      </p:sp>
      <p:pic>
        <p:nvPicPr>
          <p:cNvPr id="134" name="Image 0" descr="/home/claude/deck/ui_audit.png"/>
          <p:cNvPicPr>
            <a:picLocks noChangeAspect="1"/>
          </p:cNvPicPr>
          <p:nvPr/>
        </p:nvPicPr>
        <p:blipFill>
          <a:blip r:embed="rId3"/>
          <a:stretch>
            <a:fillRect/>
          </a:stretch>
        </p:blipFill>
        <p:spPr>
          <a:xfrm>
            <a:off x="8766810" y="4334256"/>
            <a:ext cx="2651760" cy="1468942"/>
          </a:xfrm>
          <a:prstGeom prst="rect">
            <a:avLst/>
          </a:prstGeom>
        </p:spPr>
      </p:pic>
      <p:sp>
        <p:nvSpPr>
          <p:cNvPr id="135" name="Text 132"/>
          <p:cNvSpPr txBox="1"/>
          <p:nvPr/>
        </p:nvSpPr>
        <p:spPr>
          <a:xfrm>
            <a:off x="8313725" y="5894638"/>
            <a:ext cx="3557930" cy="329184"/>
          </a:xfrm>
          <a:prstGeom prst="rect">
            <a:avLst/>
          </a:prstGeom>
          <a:noFill/>
          <a:ln/>
        </p:spPr>
        <p:txBody>
          <a:bodyPr wrap="square" lIns="0" tIns="0" rIns="0" bIns="0" rtlCol="0" anchor="ctr"/>
          <a:lstStyle/>
          <a:p>
            <a:pPr marL="0" indent="0">
              <a:lnSpc>
                <a:spcPct val="106000"/>
              </a:lnSpc>
              <a:buNone/>
            </a:pPr>
            <a:r>
              <a:rPr lang="en-US" sz="830" b="1" dirty="0">
                <a:solidFill>
                  <a:srgbClr val="111018"/>
                </a:solidFill>
                <a:latin typeface="Calibri" pitchFamily="34" charset="0"/>
                <a:ea typeface="Calibri" pitchFamily="34" charset="-122"/>
                <a:cs typeface="Calibri" pitchFamily="34" charset="-120"/>
              </a:rPr>
              <a:t>Identity never enters.  </a:t>
            </a:r>
            <a:r>
              <a:rPr lang="en-US" sz="830" dirty="0">
                <a:solidFill>
                  <a:srgbClr val="2E2E36"/>
                </a:solidFill>
                <a:latin typeface="Calibri" pitchFamily="34" charset="0"/>
                <a:ea typeface="Calibri" pitchFamily="34" charset="-122"/>
                <a:cs typeface="Calibri" pitchFamily="34" charset="-120"/>
              </a:rPr>
              <a:t>ABHA and MRN are tokenised at the gateway; re-identification needs two key custodians.</a:t>
            </a:r>
            <a:endParaRPr lang="en-US" sz="830" dirty="0"/>
          </a:p>
        </p:txBody>
      </p:sp>
      <p:sp>
        <p:nvSpPr>
          <p:cNvPr id="136" name="Text 133"/>
          <p:cNvSpPr txBox="1"/>
          <p:nvPr/>
        </p:nvSpPr>
        <p:spPr>
          <a:xfrm>
            <a:off x="8313725" y="6242110"/>
            <a:ext cx="3557930" cy="329184"/>
          </a:xfrm>
          <a:prstGeom prst="rect">
            <a:avLst/>
          </a:prstGeom>
          <a:noFill/>
          <a:ln/>
        </p:spPr>
        <p:txBody>
          <a:bodyPr wrap="square" lIns="0" tIns="0" rIns="0" bIns="0" rtlCol="0" anchor="ctr"/>
          <a:lstStyle/>
          <a:p>
            <a:pPr marL="0" indent="0">
              <a:lnSpc>
                <a:spcPct val="106000"/>
              </a:lnSpc>
              <a:buNone/>
            </a:pPr>
            <a:r>
              <a:rPr lang="en-US" sz="830" b="1" dirty="0">
                <a:solidFill>
                  <a:srgbClr val="111018"/>
                </a:solidFill>
                <a:latin typeface="Calibri" pitchFamily="34" charset="0"/>
                <a:ea typeface="Calibri" pitchFamily="34" charset="-122"/>
                <a:cs typeface="Calibri" pitchFamily="34" charset="-120"/>
              </a:rPr>
              <a:t>Nothing leaves, and every entry is provable.  </a:t>
            </a:r>
            <a:r>
              <a:rPr lang="en-US" sz="830" dirty="0">
                <a:solidFill>
                  <a:srgbClr val="2E2E36"/>
                </a:solidFill>
                <a:latin typeface="Calibri" pitchFamily="34" charset="0"/>
                <a:ea typeface="Calibri" pitchFamily="34" charset="-122"/>
                <a:cs typeface="Calibri" pitchFamily="34" charset="-120"/>
              </a:rPr>
              <a:t>On-premise, default-deny egress. Each record commits to the one before it, so a silent edit breaks verification everywhere after.</a:t>
            </a:r>
            <a:endParaRPr lang="en-US" sz="8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Text 3"/>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PROBLEM</a:t>
            </a:r>
            <a:endParaRPr lang="en-US" sz="1050" dirty="0"/>
          </a:p>
        </p:txBody>
      </p:sp>
      <p:sp>
        <p:nvSpPr>
          <p:cNvPr id="6" name="Text 4"/>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INSIGHT</a:t>
            </a:r>
            <a:endParaRPr lang="en-US" sz="1050" dirty="0"/>
          </a:p>
        </p:txBody>
      </p:sp>
      <p:sp>
        <p:nvSpPr>
          <p:cNvPr id="7" name="Text 5"/>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SOLUTION</a:t>
            </a:r>
            <a:endParaRPr lang="en-US" sz="1050" dirty="0"/>
          </a:p>
        </p:txBody>
      </p:sp>
      <p:sp>
        <p:nvSpPr>
          <p:cNvPr id="8" name="Text 6"/>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PRODUCT</a:t>
            </a:r>
            <a:endParaRPr lang="en-US" sz="1050" dirty="0"/>
          </a:p>
        </p:txBody>
      </p:sp>
      <p:sp>
        <p:nvSpPr>
          <p:cNvPr id="9" name="Text 7"/>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ARCHITECTURE</a:t>
            </a:r>
            <a:endParaRPr lang="en-US" sz="1050" dirty="0"/>
          </a:p>
        </p:txBody>
      </p:sp>
      <p:sp>
        <p:nvSpPr>
          <p:cNvPr id="10" name="Shape 8"/>
          <p:cNvSpPr/>
          <p:nvPr/>
        </p:nvSpPr>
        <p:spPr>
          <a:xfrm>
            <a:off x="7426234" y="0"/>
            <a:ext cx="1338943" cy="402336"/>
          </a:xfrm>
          <a:prstGeom prst="rect">
            <a:avLst/>
          </a:prstGeom>
          <a:solidFill>
            <a:srgbClr val="460073"/>
          </a:solidFill>
          <a:ln w="12700">
            <a:solidFill>
              <a:srgbClr val="460073"/>
            </a:solidFill>
            <a:prstDash val="solid"/>
          </a:ln>
        </p:spPr>
      </p:sp>
      <p:sp>
        <p:nvSpPr>
          <p:cNvPr id="11" name="Text 9"/>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IMPACT</a:t>
            </a:r>
            <a:endParaRPr lang="en-US" sz="1100" dirty="0"/>
          </a:p>
        </p:txBody>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EXECUTION</a:t>
            </a:r>
            <a:endParaRPr lang="en-US" sz="105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201168" y="530352"/>
            <a:ext cx="3931920" cy="3474720"/>
          </a:xfrm>
          <a:prstGeom prst="rect">
            <a:avLst/>
          </a:prstGeom>
          <a:solidFill>
            <a:srgbClr val="FFFFFF"/>
          </a:solidFill>
          <a:ln w="12700">
            <a:solidFill>
              <a:srgbClr val="D9D6E3"/>
            </a:solidFill>
            <a:prstDash val="solid"/>
          </a:ln>
        </p:spPr>
      </p:sp>
      <p:sp>
        <p:nvSpPr>
          <p:cNvPr id="15" name="Shape 13"/>
          <p:cNvSpPr/>
          <p:nvPr/>
        </p:nvSpPr>
        <p:spPr>
          <a:xfrm>
            <a:off x="201168" y="530352"/>
            <a:ext cx="3931920" cy="274320"/>
          </a:xfrm>
          <a:prstGeom prst="rect">
            <a:avLst/>
          </a:prstGeom>
          <a:solidFill>
            <a:srgbClr val="5C0099"/>
          </a:solidFill>
          <a:ln w="12700">
            <a:solidFill>
              <a:srgbClr val="5C0099"/>
            </a:solidFill>
            <a:prstDash val="solid"/>
          </a:ln>
        </p:spPr>
      </p:sp>
      <p:sp>
        <p:nvSpPr>
          <p:cNvPr id="16" name="Text 14"/>
          <p:cNvSpPr txBox="1"/>
          <p:nvPr/>
        </p:nvSpPr>
        <p:spPr>
          <a:xfrm>
            <a:off x="201168" y="530352"/>
            <a:ext cx="393192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ONE DEPARTMENT, ONE YEAR</a:t>
            </a:r>
            <a:endParaRPr lang="en-US" sz="1050" dirty="0"/>
          </a:p>
        </p:txBody>
      </p:sp>
      <p:sp>
        <p:nvSpPr>
          <p:cNvPr id="17" name="Shape 15"/>
          <p:cNvSpPr/>
          <p:nvPr/>
        </p:nvSpPr>
        <p:spPr>
          <a:xfrm>
            <a:off x="320040" y="896112"/>
            <a:ext cx="3694176" cy="347472"/>
          </a:xfrm>
          <a:prstGeom prst="rect">
            <a:avLst/>
          </a:prstGeom>
          <a:solidFill>
            <a:srgbClr val="C77DFF"/>
          </a:solidFill>
          <a:ln w="12700">
            <a:solidFill>
              <a:srgbClr val="C77DFF"/>
            </a:solidFill>
            <a:prstDash val="solid"/>
          </a:ln>
        </p:spPr>
      </p:sp>
      <p:sp>
        <p:nvSpPr>
          <p:cNvPr id="18" name="Text 16"/>
          <p:cNvSpPr txBox="1"/>
          <p:nvPr/>
        </p:nvSpPr>
        <p:spPr>
          <a:xfrm>
            <a:off x="320040" y="896112"/>
            <a:ext cx="3694176" cy="347472"/>
          </a:xfrm>
          <a:prstGeom prst="rect">
            <a:avLst/>
          </a:prstGeom>
          <a:noFill/>
          <a:ln/>
        </p:spPr>
        <p:txBody>
          <a:bodyPr wrap="square" lIns="0" tIns="0" rIns="0" bIns="0" rtlCol="0" anchor="ctr"/>
          <a:lstStyle/>
          <a:p>
            <a:pPr marL="0" indent="0" algn="ctr">
              <a:buNone/>
            </a:pPr>
            <a:r>
              <a:rPr lang="en-US" sz="1300" b="1" dirty="0">
                <a:solidFill>
                  <a:srgbClr val="460073"/>
                </a:solidFill>
                <a:latin typeface="Arial" pitchFamily="34" charset="0"/>
                <a:ea typeface="Arial" pitchFamily="34" charset="-122"/>
                <a:cs typeface="Arial" pitchFamily="34" charset="-120"/>
              </a:rPr>
              <a:t>109,500</a:t>
            </a:r>
            <a:endParaRPr lang="en-US" sz="1300" dirty="0"/>
          </a:p>
        </p:txBody>
      </p:sp>
      <p:sp>
        <p:nvSpPr>
          <p:cNvPr id="19" name="Text 17"/>
          <p:cNvSpPr txBox="1"/>
          <p:nvPr/>
        </p:nvSpPr>
        <p:spPr>
          <a:xfrm>
            <a:off x="320040" y="1243584"/>
            <a:ext cx="3694176" cy="146304"/>
          </a:xfrm>
          <a:prstGeom prst="rect">
            <a:avLst/>
          </a:prstGeom>
          <a:noFill/>
          <a:ln/>
        </p:spPr>
        <p:txBody>
          <a:bodyPr wrap="square" lIns="0" tIns="0" rIns="0" bIns="0" rtlCol="0" anchor="ctr"/>
          <a:lstStyle/>
          <a:p>
            <a:pPr marL="0" indent="0" algn="ctr">
              <a:buNone/>
            </a:pPr>
            <a:r>
              <a:rPr lang="en-US" sz="800" dirty="0">
                <a:solidFill>
                  <a:srgbClr val="5F5F6B"/>
                </a:solidFill>
                <a:latin typeface="Calibri" pitchFamily="34" charset="0"/>
                <a:ea typeface="Calibri" pitchFamily="34" charset="-122"/>
                <a:cs typeface="Calibri" pitchFamily="34" charset="-120"/>
              </a:rPr>
              <a:t>annual visits at 300/day</a:t>
            </a:r>
            <a:endParaRPr lang="en-US" sz="800" dirty="0"/>
          </a:p>
        </p:txBody>
      </p:sp>
      <p:sp>
        <p:nvSpPr>
          <p:cNvPr id="20" name="Shape 18"/>
          <p:cNvSpPr/>
          <p:nvPr/>
        </p:nvSpPr>
        <p:spPr>
          <a:xfrm>
            <a:off x="578632" y="1408176"/>
            <a:ext cx="3176991" cy="347472"/>
          </a:xfrm>
          <a:prstGeom prst="rect">
            <a:avLst/>
          </a:prstGeom>
          <a:solidFill>
            <a:srgbClr val="C77DFF"/>
          </a:solidFill>
          <a:ln w="12700">
            <a:solidFill>
              <a:srgbClr val="C77DFF"/>
            </a:solidFill>
            <a:prstDash val="solid"/>
          </a:ln>
        </p:spPr>
      </p:sp>
      <p:sp>
        <p:nvSpPr>
          <p:cNvPr id="21" name="Text 19"/>
          <p:cNvSpPr txBox="1"/>
          <p:nvPr/>
        </p:nvSpPr>
        <p:spPr>
          <a:xfrm>
            <a:off x="578632" y="1408176"/>
            <a:ext cx="3176991" cy="347472"/>
          </a:xfrm>
          <a:prstGeom prst="rect">
            <a:avLst/>
          </a:prstGeom>
          <a:noFill/>
          <a:ln/>
        </p:spPr>
        <p:txBody>
          <a:bodyPr wrap="square" lIns="0" tIns="0" rIns="0" bIns="0" rtlCol="0" anchor="ctr"/>
          <a:lstStyle/>
          <a:p>
            <a:pPr marL="0" indent="0" algn="ctr">
              <a:buNone/>
            </a:pPr>
            <a:r>
              <a:rPr lang="en-US" sz="1300" b="1" dirty="0">
                <a:solidFill>
                  <a:srgbClr val="460073"/>
                </a:solidFill>
                <a:latin typeface="Arial" pitchFamily="34" charset="0"/>
                <a:ea typeface="Arial" pitchFamily="34" charset="-122"/>
                <a:cs typeface="Arial" pitchFamily="34" charset="-120"/>
              </a:rPr>
              <a:t>10,950</a:t>
            </a:r>
            <a:endParaRPr lang="en-US" sz="1300" dirty="0"/>
          </a:p>
        </p:txBody>
      </p:sp>
      <p:sp>
        <p:nvSpPr>
          <p:cNvPr id="22" name="Text 20"/>
          <p:cNvSpPr txBox="1"/>
          <p:nvPr/>
        </p:nvSpPr>
        <p:spPr>
          <a:xfrm>
            <a:off x="320040" y="1755648"/>
            <a:ext cx="3694176" cy="146304"/>
          </a:xfrm>
          <a:prstGeom prst="rect">
            <a:avLst/>
          </a:prstGeom>
          <a:noFill/>
          <a:ln/>
        </p:spPr>
        <p:txBody>
          <a:bodyPr wrap="square" lIns="0" tIns="0" rIns="0" bIns="0" rtlCol="0" anchor="ctr"/>
          <a:lstStyle/>
          <a:p>
            <a:pPr marL="0" indent="0" algn="ctr">
              <a:buNone/>
            </a:pPr>
            <a:r>
              <a:rPr lang="en-US" sz="800" dirty="0">
                <a:solidFill>
                  <a:srgbClr val="5F5F6B"/>
                </a:solidFill>
                <a:latin typeface="Calibri" pitchFamily="34" charset="0"/>
                <a:ea typeface="Calibri" pitchFamily="34" charset="-122"/>
                <a:cs typeface="Calibri" pitchFamily="34" charset="-120"/>
              </a:rPr>
              <a:t>high-acuity · 10% share</a:t>
            </a:r>
            <a:endParaRPr lang="en-US" sz="800" dirty="0"/>
          </a:p>
        </p:txBody>
      </p:sp>
      <p:sp>
        <p:nvSpPr>
          <p:cNvPr id="23" name="Shape 21"/>
          <p:cNvSpPr/>
          <p:nvPr/>
        </p:nvSpPr>
        <p:spPr>
          <a:xfrm>
            <a:off x="837225" y="1920240"/>
            <a:ext cx="2659807" cy="347472"/>
          </a:xfrm>
          <a:prstGeom prst="rect">
            <a:avLst/>
          </a:prstGeom>
          <a:solidFill>
            <a:srgbClr val="C77DFF"/>
          </a:solidFill>
          <a:ln w="12700">
            <a:solidFill>
              <a:srgbClr val="C77DFF"/>
            </a:solidFill>
            <a:prstDash val="solid"/>
          </a:ln>
        </p:spPr>
      </p:sp>
      <p:sp>
        <p:nvSpPr>
          <p:cNvPr id="24" name="Text 22"/>
          <p:cNvSpPr txBox="1"/>
          <p:nvPr/>
        </p:nvSpPr>
        <p:spPr>
          <a:xfrm>
            <a:off x="837225" y="1920240"/>
            <a:ext cx="2659807"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3,723</a:t>
            </a:r>
            <a:endParaRPr lang="en-US" sz="1300" dirty="0"/>
          </a:p>
        </p:txBody>
      </p:sp>
      <p:sp>
        <p:nvSpPr>
          <p:cNvPr id="25" name="Text 23"/>
          <p:cNvSpPr txBox="1"/>
          <p:nvPr/>
        </p:nvSpPr>
        <p:spPr>
          <a:xfrm>
            <a:off x="320040" y="2267712"/>
            <a:ext cx="3694176" cy="146304"/>
          </a:xfrm>
          <a:prstGeom prst="rect">
            <a:avLst/>
          </a:prstGeom>
          <a:noFill/>
          <a:ln/>
        </p:spPr>
        <p:txBody>
          <a:bodyPr wrap="square" lIns="0" tIns="0" rIns="0" bIns="0" rtlCol="0" anchor="ctr"/>
          <a:lstStyle/>
          <a:p>
            <a:pPr marL="0" indent="0" algn="ctr">
              <a:buNone/>
            </a:pPr>
            <a:r>
              <a:rPr lang="en-US" sz="800" dirty="0">
                <a:solidFill>
                  <a:srgbClr val="5F5F6B"/>
                </a:solidFill>
                <a:latin typeface="Calibri" pitchFamily="34" charset="0"/>
                <a:ea typeface="Calibri" pitchFamily="34" charset="-122"/>
                <a:cs typeface="Calibri" pitchFamily="34" charset="-120"/>
              </a:rPr>
              <a:t>missed today · human 34%</a:t>
            </a:r>
            <a:endParaRPr lang="en-US" sz="800" dirty="0"/>
          </a:p>
        </p:txBody>
      </p:sp>
      <p:sp>
        <p:nvSpPr>
          <p:cNvPr id="26" name="Shape 24"/>
          <p:cNvSpPr/>
          <p:nvPr/>
        </p:nvSpPr>
        <p:spPr>
          <a:xfrm>
            <a:off x="1095817" y="2432304"/>
            <a:ext cx="2142622" cy="347472"/>
          </a:xfrm>
          <a:prstGeom prst="rect">
            <a:avLst/>
          </a:prstGeom>
          <a:solidFill>
            <a:srgbClr val="A100FF"/>
          </a:solidFill>
          <a:ln w="12700">
            <a:solidFill>
              <a:srgbClr val="A100FF"/>
            </a:solidFill>
            <a:prstDash val="solid"/>
          </a:ln>
        </p:spPr>
      </p:sp>
      <p:sp>
        <p:nvSpPr>
          <p:cNvPr id="27" name="Text 25"/>
          <p:cNvSpPr txBox="1"/>
          <p:nvPr/>
        </p:nvSpPr>
        <p:spPr>
          <a:xfrm>
            <a:off x="1095817" y="2432304"/>
            <a:ext cx="214262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821</a:t>
            </a:r>
            <a:endParaRPr lang="en-US" sz="1300" dirty="0"/>
          </a:p>
        </p:txBody>
      </p:sp>
      <p:sp>
        <p:nvSpPr>
          <p:cNvPr id="28" name="Text 26"/>
          <p:cNvSpPr txBox="1"/>
          <p:nvPr/>
        </p:nvSpPr>
        <p:spPr>
          <a:xfrm>
            <a:off x="320040" y="2779776"/>
            <a:ext cx="3694176" cy="146304"/>
          </a:xfrm>
          <a:prstGeom prst="rect">
            <a:avLst/>
          </a:prstGeom>
          <a:noFill/>
          <a:ln/>
        </p:spPr>
        <p:txBody>
          <a:bodyPr wrap="square" lIns="0" tIns="0" rIns="0" bIns="0" rtlCol="0" anchor="ctr"/>
          <a:lstStyle/>
          <a:p>
            <a:pPr marL="0" indent="0" algn="ctr">
              <a:buNone/>
            </a:pPr>
            <a:r>
              <a:rPr lang="en-US" sz="800" dirty="0">
                <a:solidFill>
                  <a:srgbClr val="5F5F6B"/>
                </a:solidFill>
                <a:latin typeface="Calibri" pitchFamily="34" charset="0"/>
                <a:ea typeface="Calibri" pitchFamily="34" charset="-122"/>
                <a:cs typeface="Calibri" pitchFamily="34" charset="-120"/>
              </a:rPr>
              <a:t>missed with the engine · 7.5%</a:t>
            </a:r>
            <a:endParaRPr lang="en-US" sz="800" dirty="0"/>
          </a:p>
        </p:txBody>
      </p:sp>
      <p:sp>
        <p:nvSpPr>
          <p:cNvPr id="29" name="Shape 27"/>
          <p:cNvSpPr/>
          <p:nvPr/>
        </p:nvSpPr>
        <p:spPr>
          <a:xfrm>
            <a:off x="320040" y="2999232"/>
            <a:ext cx="3694176" cy="603504"/>
          </a:xfrm>
          <a:prstGeom prst="roundRect">
            <a:avLst>
              <a:gd name="adj" fmla="val 6061"/>
            </a:avLst>
          </a:prstGeom>
          <a:solidFill>
            <a:srgbClr val="F4ECFE"/>
          </a:solidFill>
          <a:ln w="12700">
            <a:solidFill>
              <a:srgbClr val="C77DFF"/>
            </a:solidFill>
            <a:prstDash val="solid"/>
          </a:ln>
        </p:spPr>
      </p:sp>
      <p:sp>
        <p:nvSpPr>
          <p:cNvPr id="30" name="Text 28"/>
          <p:cNvSpPr txBox="1"/>
          <p:nvPr/>
        </p:nvSpPr>
        <p:spPr>
          <a:xfrm>
            <a:off x="429768" y="3054096"/>
            <a:ext cx="1188720" cy="384048"/>
          </a:xfrm>
          <a:prstGeom prst="rect">
            <a:avLst/>
          </a:prstGeom>
          <a:noFill/>
          <a:ln/>
        </p:spPr>
        <p:txBody>
          <a:bodyPr wrap="square" lIns="0" tIns="0" rIns="0" bIns="0" rtlCol="0" anchor="ctr"/>
          <a:lstStyle/>
          <a:p>
            <a:pPr marL="0" indent="0">
              <a:buNone/>
            </a:pPr>
            <a:r>
              <a:rPr lang="en-US" sz="2400" b="1" dirty="0">
                <a:solidFill>
                  <a:srgbClr val="460073"/>
                </a:solidFill>
                <a:latin typeface="Arial" pitchFamily="34" charset="0"/>
                <a:ea typeface="Arial" pitchFamily="34" charset="-122"/>
                <a:cs typeface="Arial" pitchFamily="34" charset="-120"/>
              </a:rPr>
              <a:t>967</a:t>
            </a:r>
            <a:endParaRPr lang="en-US" sz="2400" dirty="0"/>
          </a:p>
        </p:txBody>
      </p:sp>
      <p:sp>
        <p:nvSpPr>
          <p:cNvPr id="31" name="Text 29"/>
          <p:cNvSpPr txBox="1"/>
          <p:nvPr/>
        </p:nvSpPr>
        <p:spPr>
          <a:xfrm>
            <a:off x="1618488" y="3054096"/>
            <a:ext cx="2286000" cy="493776"/>
          </a:xfrm>
          <a:prstGeom prst="rect">
            <a:avLst/>
          </a:prstGeom>
          <a:noFill/>
          <a:ln/>
        </p:spPr>
        <p:txBody>
          <a:bodyPr wrap="square" lIns="0" tIns="0" rIns="0" bIns="0" rtlCol="0" anchor="ctr"/>
          <a:lstStyle/>
          <a:p>
            <a:pPr marL="0" indent="0">
              <a:lnSpc>
                <a:spcPct val="104000"/>
              </a:lnSpc>
              <a:buNone/>
            </a:pPr>
            <a:r>
              <a:rPr lang="en-US" sz="820" dirty="0">
                <a:solidFill>
                  <a:srgbClr val="2E2E36"/>
                </a:solidFill>
                <a:latin typeface="Calibri" pitchFamily="34" charset="0"/>
                <a:ea typeface="Calibri" pitchFamily="34" charset="-122"/>
                <a:cs typeface="Calibri" pitchFamily="34" charset="-120"/>
              </a:rPr>
              <a:t>additional high-acuity patients identified per year - a two-thirds haircut on the simulated 2,902, because simulation will not transfer intact.</a:t>
            </a:r>
            <a:endParaRPr lang="en-US" sz="820" dirty="0"/>
          </a:p>
        </p:txBody>
      </p:sp>
      <p:sp>
        <p:nvSpPr>
          <p:cNvPr id="32" name="Text 30"/>
          <p:cNvSpPr txBox="1"/>
          <p:nvPr/>
        </p:nvSpPr>
        <p:spPr>
          <a:xfrm>
            <a:off x="320040" y="3675888"/>
            <a:ext cx="3694176" cy="274320"/>
          </a:xfrm>
          <a:prstGeom prst="rect">
            <a:avLst/>
          </a:prstGeom>
          <a:noFill/>
          <a:ln/>
        </p:spPr>
        <p:txBody>
          <a:bodyPr wrap="square" lIns="0" tIns="0" rIns="0" bIns="0" rtlCol="0" anchor="ctr"/>
          <a:lstStyle/>
          <a:p>
            <a:pPr marL="0" indent="0">
              <a:lnSpc>
                <a:spcPct val="103000"/>
              </a:lnSpc>
              <a:buNone/>
            </a:pPr>
            <a:r>
              <a:rPr lang="en-US" sz="800" dirty="0">
                <a:solidFill>
                  <a:srgbClr val="5F5F6B"/>
                </a:solidFill>
                <a:latin typeface="Calibri" pitchFamily="34" charset="0"/>
                <a:ea typeface="Calibri" pitchFamily="34" charset="-122"/>
                <a:cs typeface="Calibri" pitchFamily="34" charset="-120"/>
              </a:rPr>
              <a:t>Top-down cross-check: 1.40 bn → 119 mn ED registrations → 60 mn in crowded EDs (est. 50%, ours) → 6.5 mn under-triaged (11%) → 6.5 lakh time-critical at the conservative 10% floor. Halving our crowding assumption still leaves ~3.3 lakh.</a:t>
            </a:r>
            <a:endParaRPr lang="en-US" sz="800" dirty="0"/>
          </a:p>
        </p:txBody>
      </p:sp>
      <p:sp>
        <p:nvSpPr>
          <p:cNvPr id="33" name="Shape 31"/>
          <p:cNvSpPr/>
          <p:nvPr/>
        </p:nvSpPr>
        <p:spPr>
          <a:xfrm>
            <a:off x="201168" y="4078224"/>
            <a:ext cx="3931920" cy="2578608"/>
          </a:xfrm>
          <a:prstGeom prst="rect">
            <a:avLst/>
          </a:prstGeom>
          <a:solidFill>
            <a:srgbClr val="FFFFFF"/>
          </a:solidFill>
          <a:ln w="12700">
            <a:solidFill>
              <a:srgbClr val="D9D6E3"/>
            </a:solidFill>
            <a:prstDash val="solid"/>
          </a:ln>
        </p:spPr>
      </p:sp>
      <p:sp>
        <p:nvSpPr>
          <p:cNvPr id="34" name="Shape 32"/>
          <p:cNvSpPr/>
          <p:nvPr/>
        </p:nvSpPr>
        <p:spPr>
          <a:xfrm>
            <a:off x="201168" y="4078224"/>
            <a:ext cx="3931920" cy="274320"/>
          </a:xfrm>
          <a:prstGeom prst="rect">
            <a:avLst/>
          </a:prstGeom>
          <a:solidFill>
            <a:srgbClr val="7500C0"/>
          </a:solidFill>
          <a:ln w="12700">
            <a:solidFill>
              <a:srgbClr val="7500C0"/>
            </a:solidFill>
            <a:prstDash val="solid"/>
          </a:ln>
        </p:spPr>
      </p:sp>
      <p:sp>
        <p:nvSpPr>
          <p:cNvPr id="35" name="Text 33"/>
          <p:cNvSpPr txBox="1"/>
          <p:nvPr/>
        </p:nvSpPr>
        <p:spPr>
          <a:xfrm>
            <a:off x="201168" y="4078224"/>
            <a:ext cx="393192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FIVE USERS, ONE MEASURE</a:t>
            </a:r>
            <a:endParaRPr lang="en-US" sz="1050" dirty="0"/>
          </a:p>
        </p:txBody>
      </p:sp>
      <p:sp>
        <p:nvSpPr>
          <p:cNvPr id="36" name="Text 34"/>
          <p:cNvSpPr txBox="1"/>
          <p:nvPr/>
        </p:nvSpPr>
        <p:spPr>
          <a:xfrm>
            <a:off x="320040" y="4443984"/>
            <a:ext cx="1188720"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Triage nurse</a:t>
            </a:r>
            <a:endParaRPr lang="en-US" sz="900" dirty="0"/>
          </a:p>
        </p:txBody>
      </p:sp>
      <p:sp>
        <p:nvSpPr>
          <p:cNvPr id="37" name="Text 35"/>
          <p:cNvSpPr txBox="1"/>
          <p:nvPr/>
        </p:nvSpPr>
        <p:spPr>
          <a:xfrm>
            <a:off x="1545336" y="4443984"/>
            <a:ext cx="2468880" cy="201168"/>
          </a:xfrm>
          <a:prstGeom prst="rect">
            <a:avLst/>
          </a:prstGeom>
          <a:noFill/>
          <a:ln/>
        </p:spPr>
        <p:txBody>
          <a:bodyPr wrap="square" lIns="0" tIns="0" rIns="0" bIns="0" rtlCol="0" anchor="ctr"/>
          <a:lstStyle/>
          <a:p>
            <a:pPr marL="0" indent="0">
              <a:buNone/>
            </a:pPr>
            <a:r>
              <a:rPr lang="en-US" sz="800" dirty="0">
                <a:solidFill>
                  <a:srgbClr val="2E2E36"/>
                </a:solidFill>
                <a:latin typeface="Calibri" pitchFamily="34" charset="0"/>
                <a:ea typeface="Calibri" pitchFamily="34" charset="-122"/>
                <a:cs typeface="Calibri" pitchFamily="34" charset="-120"/>
              </a:rPr>
              <a:t>A ranked recommendation, three plain reasons, one tap.</a:t>
            </a:r>
            <a:endParaRPr lang="en-US" sz="800" dirty="0"/>
          </a:p>
        </p:txBody>
      </p:sp>
      <p:sp>
        <p:nvSpPr>
          <p:cNvPr id="38" name="Text 36"/>
          <p:cNvSpPr txBox="1"/>
          <p:nvPr/>
        </p:nvSpPr>
        <p:spPr>
          <a:xfrm>
            <a:off x="1545336" y="4626864"/>
            <a:ext cx="2468880" cy="164592"/>
          </a:xfrm>
          <a:prstGeom prst="rect">
            <a:avLst/>
          </a:prstGeom>
          <a:noFill/>
          <a:ln/>
        </p:spPr>
        <p:txBody>
          <a:bodyPr wrap="square" lIns="0" tIns="0" rIns="0" bIns="0" rtlCol="0" anchor="ctr"/>
          <a:lstStyle/>
          <a:p>
            <a:pPr marL="0" indent="0">
              <a:buNone/>
            </a:pPr>
            <a:r>
              <a:rPr lang="en-US" sz="800" b="1" dirty="0">
                <a:solidFill>
                  <a:srgbClr val="0A6E43"/>
                </a:solidFill>
                <a:latin typeface="Arial" pitchFamily="34" charset="0"/>
                <a:ea typeface="Arial" pitchFamily="34" charset="-122"/>
                <a:cs typeface="Arial" pitchFamily="34" charset="-120"/>
              </a:rPr>
              <a:t>Used, not worked around</a:t>
            </a:r>
            <a:endParaRPr lang="en-US" sz="800" dirty="0"/>
          </a:p>
        </p:txBody>
      </p:sp>
      <p:sp>
        <p:nvSpPr>
          <p:cNvPr id="39" name="Text 37"/>
          <p:cNvSpPr txBox="1"/>
          <p:nvPr/>
        </p:nvSpPr>
        <p:spPr>
          <a:xfrm>
            <a:off x="320040" y="4809744"/>
            <a:ext cx="1188720"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Charge nurse</a:t>
            </a:r>
            <a:endParaRPr lang="en-US" sz="900" dirty="0"/>
          </a:p>
        </p:txBody>
      </p:sp>
      <p:sp>
        <p:nvSpPr>
          <p:cNvPr id="40" name="Text 38"/>
          <p:cNvSpPr txBox="1"/>
          <p:nvPr/>
        </p:nvSpPr>
        <p:spPr>
          <a:xfrm>
            <a:off x="1545336" y="4809744"/>
            <a:ext cx="2468880" cy="201168"/>
          </a:xfrm>
          <a:prstGeom prst="rect">
            <a:avLst/>
          </a:prstGeom>
          <a:noFill/>
          <a:ln/>
        </p:spPr>
        <p:txBody>
          <a:bodyPr wrap="square" lIns="0" tIns="0" rIns="0" bIns="0" rtlCol="0" anchor="ctr"/>
          <a:lstStyle/>
          <a:p>
            <a:pPr marL="0" indent="0">
              <a:buNone/>
            </a:pPr>
            <a:r>
              <a:rPr lang="en-US" sz="800" dirty="0">
                <a:solidFill>
                  <a:srgbClr val="2E2E36"/>
                </a:solidFill>
                <a:latin typeface="Calibri" pitchFamily="34" charset="0"/>
                <a:ea typeface="Calibri" pitchFamily="34" charset="-122"/>
                <a:cs typeface="Calibri" pitchFamily="34" charset="-120"/>
              </a:rPr>
              <a:t>Queue depth, breach countdowns, one batched alert channel.</a:t>
            </a:r>
            <a:endParaRPr lang="en-US" sz="800" dirty="0"/>
          </a:p>
        </p:txBody>
      </p:sp>
      <p:sp>
        <p:nvSpPr>
          <p:cNvPr id="41" name="Text 39"/>
          <p:cNvSpPr txBox="1"/>
          <p:nvPr/>
        </p:nvSpPr>
        <p:spPr>
          <a:xfrm>
            <a:off x="1545336" y="4992624"/>
            <a:ext cx="2468880" cy="164592"/>
          </a:xfrm>
          <a:prstGeom prst="rect">
            <a:avLst/>
          </a:prstGeom>
          <a:noFill/>
          <a:ln/>
        </p:spPr>
        <p:txBody>
          <a:bodyPr wrap="square" lIns="0" tIns="0" rIns="0" bIns="0" rtlCol="0" anchor="ctr"/>
          <a:lstStyle/>
          <a:p>
            <a:pPr marL="0" indent="0">
              <a:buNone/>
            </a:pPr>
            <a:r>
              <a:rPr lang="en-US" sz="800" b="1" dirty="0">
                <a:solidFill>
                  <a:srgbClr val="0A6E43"/>
                </a:solidFill>
                <a:latin typeface="Arial" pitchFamily="34" charset="0"/>
                <a:ea typeface="Arial" pitchFamily="34" charset="-122"/>
                <a:cs typeface="Arial" pitchFamily="34" charset="-120"/>
              </a:rPr>
              <a:t>Zero un-actioned breaches</a:t>
            </a:r>
            <a:endParaRPr lang="en-US" sz="800" dirty="0"/>
          </a:p>
        </p:txBody>
      </p:sp>
      <p:sp>
        <p:nvSpPr>
          <p:cNvPr id="42" name="Text 40"/>
          <p:cNvSpPr txBox="1"/>
          <p:nvPr/>
        </p:nvSpPr>
        <p:spPr>
          <a:xfrm>
            <a:off x="320040" y="5175504"/>
            <a:ext cx="1188720"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ED physician</a:t>
            </a:r>
            <a:endParaRPr lang="en-US" sz="900" dirty="0"/>
          </a:p>
        </p:txBody>
      </p:sp>
      <p:sp>
        <p:nvSpPr>
          <p:cNvPr id="43" name="Text 41"/>
          <p:cNvSpPr txBox="1"/>
          <p:nvPr/>
        </p:nvSpPr>
        <p:spPr>
          <a:xfrm>
            <a:off x="1545336" y="5175504"/>
            <a:ext cx="2468880" cy="201168"/>
          </a:xfrm>
          <a:prstGeom prst="rect">
            <a:avLst/>
          </a:prstGeom>
          <a:noFill/>
          <a:ln/>
        </p:spPr>
        <p:txBody>
          <a:bodyPr wrap="square" lIns="0" tIns="0" rIns="0" bIns="0" rtlCol="0" anchor="ctr"/>
          <a:lstStyle/>
          <a:p>
            <a:pPr marL="0" indent="0">
              <a:buNone/>
            </a:pPr>
            <a:r>
              <a:rPr lang="en-US" sz="800" dirty="0">
                <a:solidFill>
                  <a:srgbClr val="2E2E36"/>
                </a:solidFill>
                <a:latin typeface="Calibri" pitchFamily="34" charset="0"/>
                <a:ea typeface="Calibri" pitchFamily="34" charset="-122"/>
                <a:cs typeface="Calibri" pitchFamily="34" charset="-120"/>
              </a:rPr>
              <a:t>The reasoning trace and the authority to move a patient down.</a:t>
            </a:r>
            <a:endParaRPr lang="en-US" sz="800" dirty="0"/>
          </a:p>
        </p:txBody>
      </p:sp>
      <p:sp>
        <p:nvSpPr>
          <p:cNvPr id="44" name="Text 42"/>
          <p:cNvSpPr txBox="1"/>
          <p:nvPr/>
        </p:nvSpPr>
        <p:spPr>
          <a:xfrm>
            <a:off x="1545336" y="5358384"/>
            <a:ext cx="2468880" cy="164592"/>
          </a:xfrm>
          <a:prstGeom prst="rect">
            <a:avLst/>
          </a:prstGeom>
          <a:noFill/>
          <a:ln/>
        </p:spPr>
        <p:txBody>
          <a:bodyPr wrap="square" lIns="0" tIns="0" rIns="0" bIns="0" rtlCol="0" anchor="ctr"/>
          <a:lstStyle/>
          <a:p>
            <a:pPr marL="0" indent="0">
              <a:buNone/>
            </a:pPr>
            <a:r>
              <a:rPr lang="en-US" sz="800" b="1" dirty="0">
                <a:solidFill>
                  <a:srgbClr val="0A6E43"/>
                </a:solidFill>
                <a:latin typeface="Arial" pitchFamily="34" charset="0"/>
                <a:ea typeface="Arial" pitchFamily="34" charset="-122"/>
                <a:cs typeface="Arial" pitchFamily="34" charset="-120"/>
              </a:rPr>
              <a:t>Override rate in a healthy band</a:t>
            </a:r>
            <a:endParaRPr lang="en-US" sz="800" dirty="0"/>
          </a:p>
        </p:txBody>
      </p:sp>
      <p:sp>
        <p:nvSpPr>
          <p:cNvPr id="45" name="Text 43"/>
          <p:cNvSpPr txBox="1"/>
          <p:nvPr/>
        </p:nvSpPr>
        <p:spPr>
          <a:xfrm>
            <a:off x="320040" y="5541264"/>
            <a:ext cx="1188720"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Quality / NABH</a:t>
            </a:r>
            <a:endParaRPr lang="en-US" sz="900" dirty="0"/>
          </a:p>
        </p:txBody>
      </p:sp>
      <p:sp>
        <p:nvSpPr>
          <p:cNvPr id="46" name="Text 44"/>
          <p:cNvSpPr txBox="1"/>
          <p:nvPr/>
        </p:nvSpPr>
        <p:spPr>
          <a:xfrm>
            <a:off x="1545336" y="5541264"/>
            <a:ext cx="2468880" cy="201168"/>
          </a:xfrm>
          <a:prstGeom prst="rect">
            <a:avLst/>
          </a:prstGeom>
          <a:noFill/>
          <a:ln/>
        </p:spPr>
        <p:txBody>
          <a:bodyPr wrap="square" lIns="0" tIns="0" rIns="0" bIns="0" rtlCol="0" anchor="ctr"/>
          <a:lstStyle/>
          <a:p>
            <a:pPr marL="0" indent="0">
              <a:buNone/>
            </a:pPr>
            <a:r>
              <a:rPr lang="en-US" sz="800" dirty="0">
                <a:solidFill>
                  <a:srgbClr val="2E2E36"/>
                </a:solidFill>
                <a:latin typeface="Calibri" pitchFamily="34" charset="0"/>
                <a:ea typeface="Calibri" pitchFamily="34" charset="-122"/>
                <a:cs typeface="Calibri" pitchFamily="34" charset="-120"/>
              </a:rPr>
              <a:t>Hash-chained audit trail, under-triage reporting by subgroup.</a:t>
            </a:r>
            <a:endParaRPr lang="en-US" sz="800" dirty="0"/>
          </a:p>
        </p:txBody>
      </p:sp>
      <p:sp>
        <p:nvSpPr>
          <p:cNvPr id="47" name="Text 45"/>
          <p:cNvSpPr txBox="1"/>
          <p:nvPr/>
        </p:nvSpPr>
        <p:spPr>
          <a:xfrm>
            <a:off x="1545336" y="5724144"/>
            <a:ext cx="2468880" cy="164592"/>
          </a:xfrm>
          <a:prstGeom prst="rect">
            <a:avLst/>
          </a:prstGeom>
          <a:noFill/>
          <a:ln/>
        </p:spPr>
        <p:txBody>
          <a:bodyPr wrap="square" lIns="0" tIns="0" rIns="0" bIns="0" rtlCol="0" anchor="ctr"/>
          <a:lstStyle/>
          <a:p>
            <a:pPr marL="0" indent="0">
              <a:buNone/>
            </a:pPr>
            <a:r>
              <a:rPr lang="en-US" sz="800" b="1" dirty="0">
                <a:solidFill>
                  <a:srgbClr val="0A6E43"/>
                </a:solidFill>
                <a:latin typeface="Arial" pitchFamily="34" charset="0"/>
                <a:ea typeface="Arial" pitchFamily="34" charset="-122"/>
                <a:cs typeface="Arial" pitchFamily="34" charset="-120"/>
              </a:rPr>
              <a:t>Tamper-evident evidence</a:t>
            </a:r>
            <a:endParaRPr lang="en-US" sz="800" dirty="0"/>
          </a:p>
        </p:txBody>
      </p:sp>
      <p:sp>
        <p:nvSpPr>
          <p:cNvPr id="48" name="Text 46"/>
          <p:cNvSpPr txBox="1"/>
          <p:nvPr/>
        </p:nvSpPr>
        <p:spPr>
          <a:xfrm>
            <a:off x="320040" y="5907024"/>
            <a:ext cx="1188720"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Hospital CIO</a:t>
            </a:r>
            <a:endParaRPr lang="en-US" sz="900" dirty="0"/>
          </a:p>
        </p:txBody>
      </p:sp>
      <p:sp>
        <p:nvSpPr>
          <p:cNvPr id="49" name="Text 47"/>
          <p:cNvSpPr txBox="1"/>
          <p:nvPr/>
        </p:nvSpPr>
        <p:spPr>
          <a:xfrm>
            <a:off x="1545336" y="5907024"/>
            <a:ext cx="2468880" cy="201168"/>
          </a:xfrm>
          <a:prstGeom prst="rect">
            <a:avLst/>
          </a:prstGeom>
          <a:noFill/>
          <a:ln/>
        </p:spPr>
        <p:txBody>
          <a:bodyPr wrap="square" lIns="0" tIns="0" rIns="0" bIns="0" rtlCol="0" anchor="ctr"/>
          <a:lstStyle/>
          <a:p>
            <a:pPr marL="0" indent="0">
              <a:buNone/>
            </a:pPr>
            <a:r>
              <a:rPr lang="en-US" sz="800" dirty="0">
                <a:solidFill>
                  <a:srgbClr val="2E2E36"/>
                </a:solidFill>
                <a:latin typeface="Calibri" pitchFamily="34" charset="0"/>
                <a:ea typeface="Calibri" pitchFamily="34" charset="-122"/>
                <a:cs typeface="Calibri" pitchFamily="34" charset="-120"/>
              </a:rPr>
              <a:t>A tier matching actual maturity; no PHI leaves the network.</a:t>
            </a:r>
            <a:endParaRPr lang="en-US" sz="800" dirty="0"/>
          </a:p>
        </p:txBody>
      </p:sp>
      <p:sp>
        <p:nvSpPr>
          <p:cNvPr id="50" name="Text 48"/>
          <p:cNvSpPr txBox="1"/>
          <p:nvPr/>
        </p:nvSpPr>
        <p:spPr>
          <a:xfrm>
            <a:off x="1545336" y="6089904"/>
            <a:ext cx="2468880" cy="164592"/>
          </a:xfrm>
          <a:prstGeom prst="rect">
            <a:avLst/>
          </a:prstGeom>
          <a:noFill/>
          <a:ln/>
        </p:spPr>
        <p:txBody>
          <a:bodyPr wrap="square" lIns="0" tIns="0" rIns="0" bIns="0" rtlCol="0" anchor="ctr"/>
          <a:lstStyle/>
          <a:p>
            <a:pPr marL="0" indent="0">
              <a:buNone/>
            </a:pPr>
            <a:r>
              <a:rPr lang="en-US" sz="800" b="1" dirty="0">
                <a:solidFill>
                  <a:srgbClr val="0A6E43"/>
                </a:solidFill>
                <a:latin typeface="Arial" pitchFamily="34" charset="0"/>
                <a:ea typeface="Arial" pitchFamily="34" charset="-122"/>
                <a:cs typeface="Arial" pitchFamily="34" charset="-120"/>
              </a:rPr>
              <a:t>Live without an IT project</a:t>
            </a:r>
            <a:endParaRPr lang="en-US" sz="800" dirty="0"/>
          </a:p>
        </p:txBody>
      </p:sp>
      <p:sp>
        <p:nvSpPr>
          <p:cNvPr id="51" name="Text 49"/>
          <p:cNvSpPr txBox="1"/>
          <p:nvPr/>
        </p:nvSpPr>
        <p:spPr>
          <a:xfrm>
            <a:off x="320040" y="6327648"/>
            <a:ext cx="3694176" cy="237744"/>
          </a:xfrm>
          <a:prstGeom prst="rect">
            <a:avLst/>
          </a:prstGeom>
          <a:noFill/>
          <a:ln/>
        </p:spPr>
        <p:txBody>
          <a:bodyPr wrap="square" lIns="0" tIns="0" rIns="0" bIns="0" rtlCol="0" anchor="ctr"/>
          <a:lstStyle/>
          <a:p>
            <a:pPr marL="0" indent="0">
              <a:lnSpc>
                <a:spcPct val="103000"/>
              </a:lnSpc>
              <a:buNone/>
            </a:pPr>
            <a:r>
              <a:rPr lang="en-US" sz="800" dirty="0">
                <a:solidFill>
                  <a:srgbClr val="5F5F6B"/>
                </a:solidFill>
                <a:latin typeface="Calibri" pitchFamily="34" charset="0"/>
                <a:ea typeface="Calibri" pitchFamily="34" charset="-122"/>
                <a:cs typeface="Calibri" pitchFamily="34" charset="-120"/>
              </a:rPr>
              <a:t>Not the patient · not a diagnostic engine · not a staffing substitute - it changes the order of the queue, not its length.</a:t>
            </a:r>
            <a:endParaRPr lang="en-US" sz="800" dirty="0"/>
          </a:p>
        </p:txBody>
      </p:sp>
      <p:sp>
        <p:nvSpPr>
          <p:cNvPr id="52" name="Shape 50"/>
          <p:cNvSpPr/>
          <p:nvPr/>
        </p:nvSpPr>
        <p:spPr>
          <a:xfrm>
            <a:off x="4334256" y="530352"/>
            <a:ext cx="3703320" cy="3474720"/>
          </a:xfrm>
          <a:prstGeom prst="rect">
            <a:avLst/>
          </a:prstGeom>
          <a:solidFill>
            <a:srgbClr val="FFFFFF"/>
          </a:solidFill>
          <a:ln w="12700">
            <a:solidFill>
              <a:srgbClr val="D9D6E3"/>
            </a:solidFill>
            <a:prstDash val="solid"/>
          </a:ln>
        </p:spPr>
      </p:sp>
      <p:sp>
        <p:nvSpPr>
          <p:cNvPr id="53" name="Shape 51"/>
          <p:cNvSpPr/>
          <p:nvPr/>
        </p:nvSpPr>
        <p:spPr>
          <a:xfrm>
            <a:off x="4334256" y="530352"/>
            <a:ext cx="3703320" cy="274320"/>
          </a:xfrm>
          <a:prstGeom prst="rect">
            <a:avLst/>
          </a:prstGeom>
          <a:solidFill>
            <a:srgbClr val="5C0099"/>
          </a:solidFill>
          <a:ln w="12700">
            <a:solidFill>
              <a:srgbClr val="5C0099"/>
            </a:solidFill>
            <a:prstDash val="solid"/>
          </a:ln>
        </p:spPr>
      </p:sp>
      <p:sp>
        <p:nvSpPr>
          <p:cNvPr id="54" name="Text 52"/>
          <p:cNvSpPr txBox="1"/>
          <p:nvPr/>
        </p:nvSpPr>
        <p:spPr>
          <a:xfrm>
            <a:off x="4334256" y="530352"/>
            <a:ext cx="370332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TUNED INSIDE THE TRAUMA STANDARD</a:t>
            </a:r>
            <a:endParaRPr lang="en-US" sz="1050" dirty="0"/>
          </a:p>
        </p:txBody>
      </p:sp>
      <p:sp>
        <p:nvSpPr>
          <p:cNvPr id="55" name="Shape 53"/>
          <p:cNvSpPr/>
          <p:nvPr/>
        </p:nvSpPr>
        <p:spPr>
          <a:xfrm>
            <a:off x="4453128" y="896112"/>
            <a:ext cx="1668780" cy="731520"/>
          </a:xfrm>
          <a:prstGeom prst="roundRect">
            <a:avLst>
              <a:gd name="adj" fmla="val 5000"/>
            </a:avLst>
          </a:prstGeom>
          <a:solidFill>
            <a:srgbClr val="F7F4FC"/>
          </a:solidFill>
          <a:ln w="12700">
            <a:solidFill>
              <a:srgbClr val="ECEAF3"/>
            </a:solidFill>
            <a:prstDash val="solid"/>
          </a:ln>
        </p:spPr>
      </p:sp>
      <p:sp>
        <p:nvSpPr>
          <p:cNvPr id="56" name="Text 54"/>
          <p:cNvSpPr txBox="1"/>
          <p:nvPr/>
        </p:nvSpPr>
        <p:spPr>
          <a:xfrm>
            <a:off x="4562856" y="969264"/>
            <a:ext cx="1449324" cy="310896"/>
          </a:xfrm>
          <a:prstGeom prst="rect">
            <a:avLst/>
          </a:prstGeom>
          <a:noFill/>
          <a:ln/>
        </p:spPr>
        <p:txBody>
          <a:bodyPr wrap="square" lIns="0" tIns="0" rIns="0" bIns="0" rtlCol="0" anchor="ctr"/>
          <a:lstStyle/>
          <a:p>
            <a:pPr marL="0" indent="0">
              <a:buNone/>
            </a:pPr>
            <a:r>
              <a:rPr lang="en-US" sz="1900" b="1" dirty="0">
                <a:solidFill>
                  <a:srgbClr val="0A6E43"/>
                </a:solidFill>
                <a:latin typeface="Arial" pitchFamily="34" charset="0"/>
                <a:ea typeface="Arial" pitchFamily="34" charset="-122"/>
                <a:cs typeface="Arial" pitchFamily="34" charset="-120"/>
              </a:rPr>
              <a:t>4.0%</a:t>
            </a:r>
            <a:endParaRPr lang="en-US" sz="1900" dirty="0"/>
          </a:p>
        </p:txBody>
      </p:sp>
      <p:sp>
        <p:nvSpPr>
          <p:cNvPr id="57" name="Text 55"/>
          <p:cNvSpPr txBox="1"/>
          <p:nvPr/>
        </p:nvSpPr>
        <p:spPr>
          <a:xfrm>
            <a:off x="4562856" y="1280160"/>
            <a:ext cx="1449324"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under-triage</a:t>
            </a:r>
            <a:endParaRPr lang="en-US" sz="950" dirty="0"/>
          </a:p>
        </p:txBody>
      </p:sp>
      <p:sp>
        <p:nvSpPr>
          <p:cNvPr id="58" name="Text 56"/>
          <p:cNvSpPr txBox="1"/>
          <p:nvPr/>
        </p:nvSpPr>
        <p:spPr>
          <a:xfrm>
            <a:off x="4562856" y="1463040"/>
            <a:ext cx="1449324" cy="91440"/>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ACS-COT ceiling is 5%</a:t>
            </a:r>
            <a:endParaRPr lang="en-US" sz="900" dirty="0"/>
          </a:p>
        </p:txBody>
      </p:sp>
      <p:sp>
        <p:nvSpPr>
          <p:cNvPr id="59" name="Shape 57"/>
          <p:cNvSpPr/>
          <p:nvPr/>
        </p:nvSpPr>
        <p:spPr>
          <a:xfrm>
            <a:off x="6249924" y="896112"/>
            <a:ext cx="1668780" cy="731520"/>
          </a:xfrm>
          <a:prstGeom prst="roundRect">
            <a:avLst>
              <a:gd name="adj" fmla="val 5000"/>
            </a:avLst>
          </a:prstGeom>
          <a:solidFill>
            <a:srgbClr val="F7F4FC"/>
          </a:solidFill>
          <a:ln w="12700">
            <a:solidFill>
              <a:srgbClr val="ECEAF3"/>
            </a:solidFill>
            <a:prstDash val="solid"/>
          </a:ln>
        </p:spPr>
      </p:sp>
      <p:sp>
        <p:nvSpPr>
          <p:cNvPr id="60" name="Text 58"/>
          <p:cNvSpPr txBox="1"/>
          <p:nvPr/>
        </p:nvSpPr>
        <p:spPr>
          <a:xfrm>
            <a:off x="6359652" y="969264"/>
            <a:ext cx="1449324" cy="310896"/>
          </a:xfrm>
          <a:prstGeom prst="rect">
            <a:avLst/>
          </a:prstGeom>
          <a:noFill/>
          <a:ln/>
        </p:spPr>
        <p:txBody>
          <a:bodyPr wrap="square" lIns="0" tIns="0" rIns="0" bIns="0" rtlCol="0" anchor="ctr"/>
          <a:lstStyle/>
          <a:p>
            <a:pPr marL="0" indent="0">
              <a:buNone/>
            </a:pPr>
            <a:r>
              <a:rPr lang="en-US" sz="1900" b="1" dirty="0">
                <a:solidFill>
                  <a:srgbClr val="8F5300"/>
                </a:solidFill>
                <a:latin typeface="Arial" pitchFamily="34" charset="0"/>
                <a:ea typeface="Arial" pitchFamily="34" charset="-122"/>
                <a:cs typeface="Arial" pitchFamily="34" charset="-120"/>
              </a:rPr>
              <a:t>32.0%</a:t>
            </a:r>
            <a:endParaRPr lang="en-US" sz="1900" dirty="0"/>
          </a:p>
        </p:txBody>
      </p:sp>
      <p:sp>
        <p:nvSpPr>
          <p:cNvPr id="61" name="Text 59"/>
          <p:cNvSpPr txBox="1"/>
          <p:nvPr/>
        </p:nvSpPr>
        <p:spPr>
          <a:xfrm>
            <a:off x="6359652" y="1280160"/>
            <a:ext cx="1449324"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over-triage</a:t>
            </a:r>
            <a:endParaRPr lang="en-US" sz="950" dirty="0"/>
          </a:p>
        </p:txBody>
      </p:sp>
      <p:sp>
        <p:nvSpPr>
          <p:cNvPr id="62" name="Text 60"/>
          <p:cNvSpPr txBox="1"/>
          <p:nvPr/>
        </p:nvSpPr>
        <p:spPr>
          <a:xfrm>
            <a:off x="6359652" y="1463040"/>
            <a:ext cx="1449324" cy="91440"/>
          </a:xfrm>
          <a:prstGeom prst="rect">
            <a:avLst/>
          </a:prstGeom>
          <a:noFill/>
          <a:ln/>
        </p:spPr>
        <p:txBody>
          <a:bodyPr wrap="square" lIns="0" tIns="0" rIns="0" bIns="0" rtlCol="0" anchor="ctr"/>
          <a:lstStyle/>
          <a:p>
            <a:pPr marL="0" indent="0">
              <a:lnSpc>
                <a:spcPct val="105000"/>
              </a:lnSpc>
              <a:buNone/>
            </a:pPr>
            <a:r>
              <a:rPr lang="en-US" sz="900" dirty="0">
                <a:solidFill>
                  <a:srgbClr val="5F5F6B"/>
                </a:solidFill>
                <a:latin typeface="Calibri" pitchFamily="34" charset="0"/>
                <a:ea typeface="Calibri" pitchFamily="34" charset="-122"/>
                <a:cs typeface="Calibri" pitchFamily="34" charset="-120"/>
              </a:rPr>
              <a:t>ACS-COT band is 25-35%</a:t>
            </a:r>
            <a:endParaRPr lang="en-US" sz="900" dirty="0"/>
          </a:p>
        </p:txBody>
      </p:sp>
      <p:sp>
        <p:nvSpPr>
          <p:cNvPr id="63" name="Text 61"/>
          <p:cNvSpPr txBox="1"/>
          <p:nvPr/>
        </p:nvSpPr>
        <p:spPr>
          <a:xfrm>
            <a:off x="4453128" y="1737360"/>
            <a:ext cx="3465576" cy="164592"/>
          </a:xfrm>
          <a:prstGeom prst="rect">
            <a:avLst/>
          </a:prstGeom>
          <a:noFill/>
          <a:ln/>
        </p:spPr>
        <p:txBody>
          <a:bodyPr wrap="square" lIns="0" tIns="0" rIns="0" bIns="0" rtlCol="0" anchor="ctr"/>
          <a:lstStyle/>
          <a:p>
            <a:pPr marL="0" indent="0">
              <a:buNone/>
            </a:pPr>
            <a:r>
              <a:rPr lang="en-US" sz="800" b="1" kern="0" spc="80" dirty="0">
                <a:solidFill>
                  <a:srgbClr val="5F5F6B"/>
                </a:solidFill>
                <a:latin typeface="Arial" pitchFamily="34" charset="0"/>
                <a:ea typeface="Arial" pitchFamily="34" charset="-122"/>
                <a:cs typeface="Arial" pitchFamily="34" charset="-120"/>
              </a:rPr>
              <a:t>CONFUSION MATRIX · 500 SYNTHETIC ENCOUNTERS</a:t>
            </a:r>
            <a:endParaRPr lang="en-US" sz="800" dirty="0"/>
          </a:p>
        </p:txBody>
      </p:sp>
      <p:graphicFrame>
        <p:nvGraphicFramePr>
          <p:cNvPr id="64" name="Table 0"/>
          <p:cNvGraphicFramePr>
            <a:graphicFrameLocks noGrp="1"/>
          </p:cNvGraphicFramePr>
          <p:nvPr>
            <p:extLst>
              <p:ext uri="{D42A27DB-BD31-4B8C-83A1-F6EECF244321}">
                <p14:modId xmlns:p14="http://schemas.microsoft.com/office/powerpoint/2010/main" val="102184364"/>
              </p:ext>
            </p:extLst>
          </p:nvPr>
        </p:nvGraphicFramePr>
        <p:xfrm>
          <a:off x="4453128" y="1938528"/>
          <a:ext cx="3465576" cy="914400"/>
        </p:xfrm>
        <a:graphic>
          <a:graphicData uri="http://schemas.openxmlformats.org/drawingml/2006/table">
            <a:tbl>
              <a:tblPr/>
              <a:tblGrid>
                <a:gridCol w="96012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19456">
                <a:tc>
                  <a:txBody>
                    <a:bodyPr/>
                    <a:lstStyle/>
                    <a:p>
                      <a:pPr marL="0" indent="0">
                        <a:buNone/>
                      </a:pP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True 1-2</a:t>
                      </a: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True 3</a:t>
                      </a: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True 4-5</a:t>
                      </a: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extLst>
                  <a:ext uri="{0D108BD9-81ED-4DB2-BD59-A6C34878D82A}">
                    <a16:rowId xmlns:a16="http://schemas.microsoft.com/office/drawing/2014/main" val="10000"/>
                  </a:ext>
                </a:extLst>
              </a:tr>
              <a:tr h="219456">
                <a:tc>
                  <a:txBody>
                    <a:bodyPr/>
                    <a:lstStyle/>
                    <a:p>
                      <a:pPr marL="0" indent="0">
                        <a:buNone/>
                      </a:pPr>
                      <a:r>
                        <a:rPr lang="en-US" sz="900" b="1" dirty="0">
                          <a:solidFill>
                            <a:srgbClr val="111018"/>
                          </a:solidFill>
                          <a:latin typeface="Calibri" pitchFamily="34" charset="0"/>
                          <a:ea typeface="Calibri" pitchFamily="34" charset="-122"/>
                          <a:cs typeface="Calibri" pitchFamily="34" charset="-120"/>
                        </a:rPr>
                        <a:t>Pred 1-2</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900" dirty="0">
                          <a:solidFill>
                            <a:srgbClr val="2E2E36"/>
                          </a:solidFill>
                          <a:latin typeface="Calibri" pitchFamily="34" charset="0"/>
                          <a:ea typeface="Calibri" pitchFamily="34" charset="-122"/>
                          <a:cs typeface="Calibri" pitchFamily="34" charset="-120"/>
                        </a:rPr>
                        <a:t>74</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900" dirty="0">
                          <a:solidFill>
                            <a:srgbClr val="2E2E36"/>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900" dirty="0">
                          <a:solidFill>
                            <a:srgbClr val="2E2E36"/>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900" b="1" dirty="0">
                          <a:solidFill>
                            <a:srgbClr val="111018"/>
                          </a:solidFill>
                          <a:latin typeface="Calibri" pitchFamily="34" charset="0"/>
                          <a:ea typeface="Calibri" pitchFamily="34" charset="-122"/>
                          <a:cs typeface="Calibri" pitchFamily="34" charset="-120"/>
                        </a:rPr>
                        <a:t>Pred 3</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900" b="1" dirty="0">
                          <a:solidFill>
                            <a:srgbClr val="8F5300"/>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DF2E0"/>
                    </a:solidFill>
                  </a:tcPr>
                </a:tc>
                <a:tc>
                  <a:txBody>
                    <a:bodyPr/>
                    <a:lstStyle/>
                    <a:p>
                      <a:pPr marL="0" indent="0">
                        <a:buNone/>
                      </a:pPr>
                      <a:r>
                        <a:rPr lang="en-US" sz="900" dirty="0">
                          <a:solidFill>
                            <a:srgbClr val="2E2E36"/>
                          </a:solidFill>
                          <a:latin typeface="Calibri" pitchFamily="34" charset="0"/>
                          <a:ea typeface="Calibri" pitchFamily="34" charset="-122"/>
                          <a:cs typeface="Calibri" pitchFamily="34" charset="-120"/>
                        </a:rPr>
                        <a:t>167</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900" dirty="0">
                          <a:solidFill>
                            <a:srgbClr val="2E2E36"/>
                          </a:solidFill>
                          <a:latin typeface="Calibri" pitchFamily="34" charset="0"/>
                          <a:ea typeface="Calibri" pitchFamily="34" charset="-122"/>
                          <a:cs typeface="Calibri" pitchFamily="34" charset="-120"/>
                        </a:rPr>
                        <a:t>72</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buNone/>
                      </a:pPr>
                      <a:r>
                        <a:rPr lang="en-US" sz="900" b="1" dirty="0">
                          <a:solidFill>
                            <a:srgbClr val="111018"/>
                          </a:solidFill>
                          <a:latin typeface="Calibri" pitchFamily="34" charset="0"/>
                          <a:ea typeface="Calibri" pitchFamily="34" charset="-122"/>
                          <a:cs typeface="Calibri" pitchFamily="34" charset="-120"/>
                        </a:rPr>
                        <a:t>Pred 4-5</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900" b="1" dirty="0">
                          <a:solidFill>
                            <a:srgbClr val="8F53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DF2E0"/>
                    </a:solidFill>
                  </a:tcPr>
                </a:tc>
                <a:tc>
                  <a:txBody>
                    <a:bodyPr/>
                    <a:lstStyle/>
                    <a:p>
                      <a:pPr marL="0" indent="0">
                        <a:buNone/>
                      </a:pPr>
                      <a:r>
                        <a:rPr lang="en-US" sz="900" b="1" dirty="0">
                          <a:solidFill>
                            <a:srgbClr val="8F5300"/>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DF2E0"/>
                    </a:solidFill>
                  </a:tcPr>
                </a:tc>
                <a:tc>
                  <a:txBody>
                    <a:bodyPr/>
                    <a:lstStyle/>
                    <a:p>
                      <a:pPr marL="0" indent="0">
                        <a:buNone/>
                      </a:pPr>
                      <a:r>
                        <a:rPr lang="en-US" sz="900" dirty="0">
                          <a:solidFill>
                            <a:srgbClr val="2E2E36"/>
                          </a:solidFill>
                          <a:latin typeface="Calibri" pitchFamily="34" charset="0"/>
                          <a:ea typeface="Calibri" pitchFamily="34" charset="-122"/>
                          <a:cs typeface="Calibri" pitchFamily="34" charset="-120"/>
                        </a:rPr>
                        <a:t>112</a:t>
                      </a:r>
                      <a:endParaRPr lang="en-US" sz="90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5" name="Text 62"/>
          <p:cNvSpPr txBox="1"/>
          <p:nvPr/>
        </p:nvSpPr>
        <p:spPr>
          <a:xfrm>
            <a:off x="4453128" y="2944368"/>
            <a:ext cx="3465576" cy="694944"/>
          </a:xfrm>
          <a:prstGeom prst="rect">
            <a:avLst/>
          </a:prstGeom>
          <a:noFill/>
          <a:ln/>
        </p:spPr>
        <p:txBody>
          <a:bodyPr wrap="square" lIns="0" tIns="0" rIns="0" bIns="0" rtlCol="0" anchor="ctr"/>
          <a:lstStyle/>
          <a:p>
            <a:pPr marL="0" indent="0">
              <a:lnSpc>
                <a:spcPct val="104000"/>
              </a:lnSpc>
              <a:buNone/>
            </a:pPr>
            <a:r>
              <a:rPr lang="en-US" sz="840" dirty="0">
                <a:solidFill>
                  <a:srgbClr val="2E2E36"/>
                </a:solidFill>
                <a:latin typeface="Calibri" pitchFamily="34" charset="0"/>
                <a:ea typeface="Calibri" pitchFamily="34" charset="-122"/>
                <a:cs typeface="Calibri" pitchFamily="34" charset="-120"/>
              </a:rPr>
              <a:t>Amber cells are under-triage - the only errors that can kill. 20 of 500. Roughly eight over-triages are accepted to prevent one miss: one over-triage costs an avoidable ECG and about twelve minutes of nurse time; one under-triage costs a missed infarction. There is no exchange rate, which is why we never optimise average accuracy.</a:t>
            </a:r>
            <a:endParaRPr lang="en-US" sz="840" dirty="0"/>
          </a:p>
        </p:txBody>
      </p:sp>
      <p:sp>
        <p:nvSpPr>
          <p:cNvPr id="66" name="Shape 63"/>
          <p:cNvSpPr/>
          <p:nvPr/>
        </p:nvSpPr>
        <p:spPr>
          <a:xfrm>
            <a:off x="4453128" y="3675888"/>
            <a:ext cx="2011680" cy="219456"/>
          </a:xfrm>
          <a:prstGeom prst="roundRect">
            <a:avLst>
              <a:gd name="adj" fmla="val 208333"/>
            </a:avLst>
          </a:prstGeom>
          <a:solidFill>
            <a:srgbClr val="FDF2E0"/>
          </a:solidFill>
          <a:ln w="12700">
            <a:solidFill>
              <a:srgbClr val="8F5300"/>
            </a:solidFill>
            <a:prstDash val="solid"/>
          </a:ln>
        </p:spPr>
      </p:sp>
      <p:sp>
        <p:nvSpPr>
          <p:cNvPr id="67" name="Text 64"/>
          <p:cNvSpPr txBox="1"/>
          <p:nvPr/>
        </p:nvSpPr>
        <p:spPr>
          <a:xfrm>
            <a:off x="4453128" y="3675888"/>
            <a:ext cx="2011680" cy="219456"/>
          </a:xfrm>
          <a:prstGeom prst="rect">
            <a:avLst/>
          </a:prstGeom>
          <a:noFill/>
          <a:ln/>
        </p:spPr>
        <p:txBody>
          <a:bodyPr wrap="square" lIns="0" tIns="0" rIns="0" bIns="0" rtlCol="0" anchor="ctr"/>
          <a:lstStyle/>
          <a:p>
            <a:pPr marL="0" indent="0" algn="ctr">
              <a:buNone/>
            </a:pPr>
            <a:r>
              <a:rPr lang="en-US" sz="850" b="1" kern="0" spc="40" dirty="0">
                <a:solidFill>
                  <a:srgbClr val="8F5300"/>
                </a:solidFill>
                <a:latin typeface="Arial" pitchFamily="34" charset="0"/>
                <a:ea typeface="Arial" pitchFamily="34" charset="-122"/>
                <a:cs typeface="Arial" pitchFamily="34" charset="-120"/>
              </a:rPr>
              <a:t>SYNTHETIC · NOT CLINICAL</a:t>
            </a:r>
            <a:endParaRPr lang="en-US" sz="850" dirty="0"/>
          </a:p>
        </p:txBody>
      </p:sp>
      <p:sp>
        <p:nvSpPr>
          <p:cNvPr id="68" name="Shape 65"/>
          <p:cNvSpPr/>
          <p:nvPr/>
        </p:nvSpPr>
        <p:spPr>
          <a:xfrm>
            <a:off x="4334256" y="4078224"/>
            <a:ext cx="3703320" cy="2578608"/>
          </a:xfrm>
          <a:prstGeom prst="rect">
            <a:avLst/>
          </a:prstGeom>
          <a:solidFill>
            <a:srgbClr val="FFFFFF"/>
          </a:solidFill>
          <a:ln w="12700">
            <a:solidFill>
              <a:srgbClr val="D9D6E3"/>
            </a:solidFill>
            <a:prstDash val="solid"/>
          </a:ln>
        </p:spPr>
      </p:sp>
      <p:sp>
        <p:nvSpPr>
          <p:cNvPr id="69" name="Shape 66"/>
          <p:cNvSpPr/>
          <p:nvPr/>
        </p:nvSpPr>
        <p:spPr>
          <a:xfrm>
            <a:off x="4334256" y="4078224"/>
            <a:ext cx="3703320" cy="274320"/>
          </a:xfrm>
          <a:prstGeom prst="rect">
            <a:avLst/>
          </a:prstGeom>
          <a:solidFill>
            <a:srgbClr val="7500C0"/>
          </a:solidFill>
          <a:ln w="12700">
            <a:solidFill>
              <a:srgbClr val="7500C0"/>
            </a:solidFill>
            <a:prstDash val="solid"/>
          </a:ln>
        </p:spPr>
      </p:sp>
      <p:sp>
        <p:nvSpPr>
          <p:cNvPr id="70" name="Text 67"/>
          <p:cNvSpPr txBox="1"/>
          <p:nvPr/>
        </p:nvSpPr>
        <p:spPr>
          <a:xfrm>
            <a:off x="4334256" y="4078224"/>
            <a:ext cx="370332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AND IT HOLDS UNDER 3× LOAD</a:t>
            </a:r>
            <a:endParaRPr lang="en-US" sz="1050" dirty="0"/>
          </a:p>
        </p:txBody>
      </p:sp>
      <p:sp>
        <p:nvSpPr>
          <p:cNvPr id="71" name="Text 68"/>
          <p:cNvSpPr txBox="1"/>
          <p:nvPr/>
        </p:nvSpPr>
        <p:spPr>
          <a:xfrm>
            <a:off x="4453128" y="4443984"/>
            <a:ext cx="3465576" cy="164592"/>
          </a:xfrm>
          <a:prstGeom prst="rect">
            <a:avLst/>
          </a:prstGeom>
          <a:noFill/>
          <a:ln/>
        </p:spPr>
        <p:txBody>
          <a:bodyPr wrap="square" lIns="0" tIns="0" rIns="0" bIns="0" rtlCol="0" anchor="ctr"/>
          <a:lstStyle/>
          <a:p>
            <a:pPr marL="0" indent="0">
              <a:buNone/>
            </a:pPr>
            <a:r>
              <a:rPr lang="en-US" sz="800" b="1" kern="0" spc="60" dirty="0">
                <a:solidFill>
                  <a:srgbClr val="5F5F6B"/>
                </a:solidFill>
                <a:latin typeface="Arial" pitchFamily="34" charset="0"/>
                <a:ea typeface="Arial" pitchFamily="34" charset="-122"/>
                <a:cs typeface="Arial" pitchFamily="34" charset="-120"/>
              </a:rPr>
              <a:t>MEDIAN WAIT, HIGH-ACUITY PATIENTS · IDENTICAL ARRIVAL STREAMS</a:t>
            </a:r>
            <a:endParaRPr lang="en-US" sz="800" dirty="0"/>
          </a:p>
        </p:txBody>
      </p:sp>
      <p:sp>
        <p:nvSpPr>
          <p:cNvPr id="72" name="Text 69"/>
          <p:cNvSpPr txBox="1"/>
          <p:nvPr/>
        </p:nvSpPr>
        <p:spPr>
          <a:xfrm>
            <a:off x="4453128" y="4663440"/>
            <a:ext cx="1371600" cy="274320"/>
          </a:xfrm>
          <a:prstGeom prst="rect">
            <a:avLst/>
          </a:prstGeom>
          <a:noFill/>
          <a:ln/>
        </p:spPr>
        <p:txBody>
          <a:bodyPr wrap="square" lIns="0" tIns="0" rIns="0" bIns="0" rtlCol="0" anchor="ctr"/>
          <a:lstStyle/>
          <a:p>
            <a:pPr marL="0" indent="0">
              <a:buNone/>
            </a:pPr>
            <a:r>
              <a:rPr lang="en-US" sz="900" dirty="0">
                <a:solidFill>
                  <a:srgbClr val="2E2E36"/>
                </a:solidFill>
                <a:latin typeface="Calibri" pitchFamily="34" charset="0"/>
                <a:ea typeface="Calibri" pitchFamily="34" charset="-122"/>
                <a:cs typeface="Calibri" pitchFamily="34" charset="-120"/>
              </a:rPr>
              <a:t>First-come order</a:t>
            </a:r>
            <a:endParaRPr lang="en-US" sz="900" dirty="0"/>
          </a:p>
        </p:txBody>
      </p:sp>
      <p:sp>
        <p:nvSpPr>
          <p:cNvPr id="73" name="Shape 70"/>
          <p:cNvSpPr/>
          <p:nvPr/>
        </p:nvSpPr>
        <p:spPr>
          <a:xfrm>
            <a:off x="5916168" y="4663440"/>
            <a:ext cx="1216152" cy="274320"/>
          </a:xfrm>
          <a:prstGeom prst="rect">
            <a:avLst/>
          </a:prstGeom>
          <a:solidFill>
            <a:srgbClr val="E9E7EF"/>
          </a:solidFill>
          <a:ln w="12700">
            <a:solidFill>
              <a:srgbClr val="E9E7EF"/>
            </a:solidFill>
            <a:prstDash val="solid"/>
          </a:ln>
        </p:spPr>
      </p:sp>
      <p:sp>
        <p:nvSpPr>
          <p:cNvPr id="74" name="Shape 71"/>
          <p:cNvSpPr/>
          <p:nvPr/>
        </p:nvSpPr>
        <p:spPr>
          <a:xfrm>
            <a:off x="5916168" y="4663440"/>
            <a:ext cx="1160556" cy="274320"/>
          </a:xfrm>
          <a:prstGeom prst="rect">
            <a:avLst/>
          </a:prstGeom>
          <a:solidFill>
            <a:srgbClr val="B5B2C2"/>
          </a:solidFill>
          <a:ln w="12700">
            <a:solidFill>
              <a:srgbClr val="B5B2C2"/>
            </a:solidFill>
            <a:prstDash val="solid"/>
          </a:ln>
        </p:spPr>
      </p:sp>
      <p:sp>
        <p:nvSpPr>
          <p:cNvPr id="75" name="Text 72"/>
          <p:cNvSpPr txBox="1"/>
          <p:nvPr/>
        </p:nvSpPr>
        <p:spPr>
          <a:xfrm>
            <a:off x="7205472" y="4663440"/>
            <a:ext cx="640080" cy="274320"/>
          </a:xfrm>
          <a:prstGeom prst="rect">
            <a:avLst/>
          </a:prstGeom>
          <a:noFill/>
          <a:ln/>
        </p:spPr>
        <p:txBody>
          <a:bodyPr wrap="square" lIns="0" tIns="0" rIns="0" bIns="0" rtlCol="0" anchor="ctr"/>
          <a:lstStyle/>
          <a:p>
            <a:pPr marL="0" indent="0" algn="r">
              <a:buNone/>
            </a:pPr>
            <a:r>
              <a:rPr lang="en-US" sz="1000" b="1" dirty="0">
                <a:solidFill>
                  <a:srgbClr val="5F5F6B"/>
                </a:solidFill>
                <a:latin typeface="Arial" pitchFamily="34" charset="0"/>
                <a:ea typeface="Arial" pitchFamily="34" charset="-122"/>
                <a:cs typeface="Arial" pitchFamily="34" charset="-120"/>
              </a:rPr>
              <a:t>200.4</a:t>
            </a:r>
            <a:endParaRPr lang="en-US" sz="1000" dirty="0"/>
          </a:p>
        </p:txBody>
      </p:sp>
      <p:sp>
        <p:nvSpPr>
          <p:cNvPr id="76" name="Text 73"/>
          <p:cNvSpPr txBox="1"/>
          <p:nvPr/>
        </p:nvSpPr>
        <p:spPr>
          <a:xfrm>
            <a:off x="4453128" y="5084064"/>
            <a:ext cx="1371600" cy="274320"/>
          </a:xfrm>
          <a:prstGeom prst="rect">
            <a:avLst/>
          </a:prstGeom>
          <a:noFill/>
          <a:ln/>
        </p:spPr>
        <p:txBody>
          <a:bodyPr wrap="square" lIns="0" tIns="0" rIns="0" bIns="0" rtlCol="0" anchor="ctr"/>
          <a:lstStyle/>
          <a:p>
            <a:pPr marL="0" indent="0">
              <a:buNone/>
            </a:pPr>
            <a:r>
              <a:rPr lang="en-US" sz="900" b="1" dirty="0">
                <a:solidFill>
                  <a:srgbClr val="111018"/>
                </a:solidFill>
                <a:latin typeface="Calibri" pitchFamily="34" charset="0"/>
                <a:ea typeface="Calibri" pitchFamily="34" charset="-122"/>
                <a:cs typeface="Calibri" pitchFamily="34" charset="-120"/>
              </a:rPr>
              <a:t>Continuously ranked</a:t>
            </a:r>
            <a:endParaRPr lang="en-US" sz="900" dirty="0"/>
          </a:p>
        </p:txBody>
      </p:sp>
      <p:sp>
        <p:nvSpPr>
          <p:cNvPr id="77" name="Shape 74"/>
          <p:cNvSpPr/>
          <p:nvPr/>
        </p:nvSpPr>
        <p:spPr>
          <a:xfrm>
            <a:off x="5916168" y="5084064"/>
            <a:ext cx="1216152" cy="274320"/>
          </a:xfrm>
          <a:prstGeom prst="rect">
            <a:avLst/>
          </a:prstGeom>
          <a:solidFill>
            <a:srgbClr val="E9E7EF"/>
          </a:solidFill>
          <a:ln w="12700">
            <a:solidFill>
              <a:srgbClr val="E9E7EF"/>
            </a:solidFill>
            <a:prstDash val="solid"/>
          </a:ln>
        </p:spPr>
      </p:sp>
      <p:sp>
        <p:nvSpPr>
          <p:cNvPr id="78" name="Shape 75"/>
          <p:cNvSpPr/>
          <p:nvPr/>
        </p:nvSpPr>
        <p:spPr>
          <a:xfrm>
            <a:off x="5916168" y="5084064"/>
            <a:ext cx="48646" cy="274320"/>
          </a:xfrm>
          <a:prstGeom prst="rect">
            <a:avLst/>
          </a:prstGeom>
          <a:solidFill>
            <a:srgbClr val="A100FF"/>
          </a:solidFill>
          <a:ln w="12700">
            <a:solidFill>
              <a:srgbClr val="A100FF"/>
            </a:solidFill>
            <a:prstDash val="solid"/>
          </a:ln>
        </p:spPr>
      </p:sp>
      <p:sp>
        <p:nvSpPr>
          <p:cNvPr id="79" name="Text 76"/>
          <p:cNvSpPr txBox="1"/>
          <p:nvPr/>
        </p:nvSpPr>
        <p:spPr>
          <a:xfrm>
            <a:off x="7205472" y="5084064"/>
            <a:ext cx="640080" cy="274320"/>
          </a:xfrm>
          <a:prstGeom prst="rect">
            <a:avLst/>
          </a:prstGeom>
          <a:noFill/>
          <a:ln/>
        </p:spPr>
        <p:txBody>
          <a:bodyPr wrap="square" lIns="0" tIns="0" rIns="0" bIns="0" rtlCol="0" anchor="ctr"/>
          <a:lstStyle/>
          <a:p>
            <a:pPr marL="0" indent="0" algn="r">
              <a:buNone/>
            </a:pPr>
            <a:r>
              <a:rPr lang="en-US" sz="1100" b="1" dirty="0">
                <a:solidFill>
                  <a:srgbClr val="460073"/>
                </a:solidFill>
                <a:latin typeface="Arial" pitchFamily="34" charset="0"/>
                <a:ea typeface="Arial" pitchFamily="34" charset="-122"/>
                <a:cs typeface="Arial" pitchFamily="34" charset="-120"/>
              </a:rPr>
              <a:t>8.4</a:t>
            </a:r>
            <a:endParaRPr lang="en-US" sz="1100" dirty="0"/>
          </a:p>
        </p:txBody>
      </p:sp>
      <p:sp>
        <p:nvSpPr>
          <p:cNvPr id="80" name="Text 77"/>
          <p:cNvSpPr txBox="1"/>
          <p:nvPr/>
        </p:nvSpPr>
        <p:spPr>
          <a:xfrm>
            <a:off x="4453128" y="5486400"/>
            <a:ext cx="3465576" cy="676656"/>
          </a:xfrm>
          <a:prstGeom prst="rect">
            <a:avLst/>
          </a:prstGeom>
          <a:noFill/>
          <a:ln/>
        </p:spPr>
        <p:txBody>
          <a:bodyPr wrap="square" lIns="0" tIns="0" rIns="0" bIns="0" rtlCol="0" anchor="ctr"/>
          <a:lstStyle/>
          <a:p>
            <a:pPr marL="0" indent="0">
              <a:lnSpc>
                <a:spcPct val="104000"/>
              </a:lnSpc>
              <a:buNone/>
            </a:pPr>
            <a:r>
              <a:rPr lang="en-US" sz="830" dirty="0">
                <a:solidFill>
                  <a:srgbClr val="2E2E36"/>
                </a:solidFill>
                <a:latin typeface="Calibri" pitchFamily="34" charset="0"/>
                <a:ea typeface="Calibri" pitchFamily="34" charset="-122"/>
                <a:cs typeface="Calibri" pitchFamily="34" charset="-120"/>
              </a:rPr>
              <a:t>Minutes. Mean wait is unchanged by construction - ranking moves the sickest forward, so someone less sick waits longer. That is the trade, and it is the correct one. Every operational number degrades honestly: peak queue depth multiplies 22×, and 66% of safe-wait windows are breached at 3× volume.</a:t>
            </a:r>
            <a:endParaRPr lang="en-US" sz="830" dirty="0"/>
          </a:p>
        </p:txBody>
      </p:sp>
      <p:sp>
        <p:nvSpPr>
          <p:cNvPr id="81" name="Shape 78"/>
          <p:cNvSpPr/>
          <p:nvPr/>
        </p:nvSpPr>
        <p:spPr>
          <a:xfrm>
            <a:off x="4453128" y="6217920"/>
            <a:ext cx="3465576" cy="347472"/>
          </a:xfrm>
          <a:prstGeom prst="roundRect">
            <a:avLst>
              <a:gd name="adj" fmla="val 10526"/>
            </a:avLst>
          </a:prstGeom>
          <a:solidFill>
            <a:srgbClr val="E6F3EC"/>
          </a:solidFill>
          <a:ln w="12700">
            <a:solidFill>
              <a:srgbClr val="E6F3EC"/>
            </a:solidFill>
            <a:prstDash val="solid"/>
          </a:ln>
        </p:spPr>
      </p:sp>
      <p:sp>
        <p:nvSpPr>
          <p:cNvPr id="82" name="Text 79"/>
          <p:cNvSpPr txBox="1"/>
          <p:nvPr/>
        </p:nvSpPr>
        <p:spPr>
          <a:xfrm>
            <a:off x="4453128" y="6217920"/>
            <a:ext cx="3465576" cy="347472"/>
          </a:xfrm>
          <a:prstGeom prst="rect">
            <a:avLst/>
          </a:prstGeom>
          <a:noFill/>
          <a:ln/>
        </p:spPr>
        <p:txBody>
          <a:bodyPr wrap="square" lIns="0" tIns="0" rIns="0" bIns="0" rtlCol="0" anchor="ctr"/>
          <a:lstStyle/>
          <a:p>
            <a:pPr marL="0" indent="0" algn="ctr">
              <a:buNone/>
            </a:pPr>
            <a:r>
              <a:rPr lang="en-US" sz="950" b="1" dirty="0">
                <a:solidFill>
                  <a:srgbClr val="0A6E43"/>
                </a:solidFill>
                <a:latin typeface="Arial" pitchFamily="34" charset="0"/>
                <a:ea typeface="Arial" pitchFamily="34" charset="-122"/>
                <a:cs typeface="Arial" pitchFamily="34" charset="-120"/>
              </a:rPr>
              <a:t>No threshold, rule or floor moves under surge. Only how often we look.</a:t>
            </a:r>
            <a:endParaRPr lang="en-US" sz="950" dirty="0"/>
          </a:p>
        </p:txBody>
      </p:sp>
      <p:sp>
        <p:nvSpPr>
          <p:cNvPr id="83" name="Shape 80"/>
          <p:cNvSpPr/>
          <p:nvPr/>
        </p:nvSpPr>
        <p:spPr>
          <a:xfrm>
            <a:off x="8238744" y="530352"/>
            <a:ext cx="3749040" cy="3474720"/>
          </a:xfrm>
          <a:prstGeom prst="rect">
            <a:avLst/>
          </a:prstGeom>
          <a:solidFill>
            <a:srgbClr val="FFFFFF"/>
          </a:solidFill>
          <a:ln w="12700">
            <a:solidFill>
              <a:srgbClr val="D9D6E3"/>
            </a:solidFill>
            <a:prstDash val="solid"/>
          </a:ln>
        </p:spPr>
      </p:sp>
      <p:sp>
        <p:nvSpPr>
          <p:cNvPr id="84" name="Shape 81"/>
          <p:cNvSpPr/>
          <p:nvPr/>
        </p:nvSpPr>
        <p:spPr>
          <a:xfrm>
            <a:off x="8238744" y="530352"/>
            <a:ext cx="3749040" cy="274320"/>
          </a:xfrm>
          <a:prstGeom prst="rect">
            <a:avLst/>
          </a:prstGeom>
          <a:solidFill>
            <a:srgbClr val="5C0099"/>
          </a:solidFill>
          <a:ln w="12700">
            <a:solidFill>
              <a:srgbClr val="5C0099"/>
            </a:solidFill>
            <a:prstDash val="solid"/>
          </a:ln>
        </p:spPr>
      </p:sp>
      <p:sp>
        <p:nvSpPr>
          <p:cNvPr id="85" name="Text 82"/>
          <p:cNvSpPr txBox="1"/>
          <p:nvPr/>
        </p:nvSpPr>
        <p:spPr>
          <a:xfrm>
            <a:off x="8238744" y="530352"/>
            <a:ext cx="374904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THE HOSPITAL BUSINESS CASE</a:t>
            </a:r>
            <a:endParaRPr lang="en-US" sz="1050" dirty="0"/>
          </a:p>
        </p:txBody>
      </p:sp>
      <p:sp>
        <p:nvSpPr>
          <p:cNvPr id="86" name="Text 83"/>
          <p:cNvSpPr txBox="1"/>
          <p:nvPr/>
        </p:nvSpPr>
        <p:spPr>
          <a:xfrm>
            <a:off x="8357616" y="896112"/>
            <a:ext cx="1371600" cy="237744"/>
          </a:xfrm>
          <a:prstGeom prst="rect">
            <a:avLst/>
          </a:prstGeom>
          <a:noFill/>
          <a:ln/>
        </p:spPr>
        <p:txBody>
          <a:bodyPr wrap="square" lIns="0" tIns="0" rIns="0" bIns="0" rtlCol="0" anchor="ctr"/>
          <a:lstStyle/>
          <a:p>
            <a:pPr marL="0" indent="0">
              <a:buNone/>
            </a:pPr>
            <a:r>
              <a:rPr lang="en-US" sz="1300" b="1" dirty="0">
                <a:solidFill>
                  <a:srgbClr val="460073"/>
                </a:solidFill>
                <a:latin typeface="Arial" pitchFamily="34" charset="0"/>
                <a:ea typeface="Arial" pitchFamily="34" charset="-122"/>
                <a:cs typeface="Arial" pitchFamily="34" charset="-120"/>
              </a:rPr>
              <a:t>≈ ₹127 lakh</a:t>
            </a:r>
            <a:endParaRPr lang="en-US" sz="1300" dirty="0"/>
          </a:p>
        </p:txBody>
      </p:sp>
      <p:sp>
        <p:nvSpPr>
          <p:cNvPr id="87" name="Text 84"/>
          <p:cNvSpPr txBox="1"/>
          <p:nvPr/>
        </p:nvSpPr>
        <p:spPr>
          <a:xfrm>
            <a:off x="9784080" y="923544"/>
            <a:ext cx="2084832"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modelled ICU delay avoidance a year</a:t>
            </a:r>
            <a:endParaRPr lang="en-US" sz="900" dirty="0"/>
          </a:p>
        </p:txBody>
      </p:sp>
      <p:sp>
        <p:nvSpPr>
          <p:cNvPr id="88" name="Text 85"/>
          <p:cNvSpPr txBox="1"/>
          <p:nvPr/>
        </p:nvSpPr>
        <p:spPr>
          <a:xfrm>
            <a:off x="8357616" y="1152144"/>
            <a:ext cx="3511296" cy="365760"/>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35% of the 967 detections × 1.5 ICU days × ₹25,000. Sensitivity ₹85 L - ₹178 L across ₹18k - ₹35k per ICU day.</a:t>
            </a:r>
            <a:endParaRPr lang="en-US" sz="820" dirty="0"/>
          </a:p>
        </p:txBody>
      </p:sp>
      <p:sp>
        <p:nvSpPr>
          <p:cNvPr id="89" name="Text 86"/>
          <p:cNvSpPr txBox="1"/>
          <p:nvPr/>
        </p:nvSpPr>
        <p:spPr>
          <a:xfrm>
            <a:off x="8357616" y="1554480"/>
            <a:ext cx="1371600" cy="237744"/>
          </a:xfrm>
          <a:prstGeom prst="rect">
            <a:avLst/>
          </a:prstGeom>
          <a:noFill/>
          <a:ln/>
        </p:spPr>
        <p:txBody>
          <a:bodyPr wrap="square" lIns="0" tIns="0" rIns="0" bIns="0" rtlCol="0" anchor="ctr"/>
          <a:lstStyle/>
          <a:p>
            <a:pPr marL="0" indent="0">
              <a:buNone/>
            </a:pPr>
            <a:r>
              <a:rPr lang="en-US" sz="1300" b="1" dirty="0">
                <a:solidFill>
                  <a:srgbClr val="460073"/>
                </a:solidFill>
                <a:latin typeface="Arial" pitchFamily="34" charset="0"/>
                <a:ea typeface="Arial" pitchFamily="34" charset="-122"/>
                <a:cs typeface="Arial" pitchFamily="34" charset="-120"/>
              </a:rPr>
              <a:t>Flat</a:t>
            </a:r>
            <a:endParaRPr lang="en-US" sz="1300" dirty="0"/>
          </a:p>
        </p:txBody>
      </p:sp>
      <p:sp>
        <p:nvSpPr>
          <p:cNvPr id="90" name="Text 87"/>
          <p:cNvSpPr txBox="1"/>
          <p:nvPr/>
        </p:nvSpPr>
        <p:spPr>
          <a:xfrm>
            <a:off x="9784080" y="1581912"/>
            <a:ext cx="2084832"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over-triage cost</a:t>
            </a:r>
            <a:endParaRPr lang="en-US" sz="900" dirty="0"/>
          </a:p>
        </p:txBody>
      </p:sp>
      <p:sp>
        <p:nvSpPr>
          <p:cNvPr id="91" name="Text 88"/>
          <p:cNvSpPr txBox="1"/>
          <p:nvPr/>
        </p:nvSpPr>
        <p:spPr>
          <a:xfrm>
            <a:off x="8357616" y="1810512"/>
            <a:ext cx="3511296" cy="365760"/>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32.0% against a 33.2% adult-calibrated baseline - the return is not funded by extra unnecessary workup.</a:t>
            </a:r>
            <a:endParaRPr lang="en-US" sz="820" dirty="0"/>
          </a:p>
        </p:txBody>
      </p:sp>
      <p:sp>
        <p:nvSpPr>
          <p:cNvPr id="92" name="Text 89"/>
          <p:cNvSpPr txBox="1"/>
          <p:nvPr/>
        </p:nvSpPr>
        <p:spPr>
          <a:xfrm>
            <a:off x="8357616" y="2212848"/>
            <a:ext cx="1371600" cy="237744"/>
          </a:xfrm>
          <a:prstGeom prst="rect">
            <a:avLst/>
          </a:prstGeom>
          <a:noFill/>
          <a:ln/>
        </p:spPr>
        <p:txBody>
          <a:bodyPr wrap="square" lIns="0" tIns="0" rIns="0" bIns="0" rtlCol="0" anchor="ctr"/>
          <a:lstStyle/>
          <a:p>
            <a:pPr marL="0" indent="0">
              <a:buNone/>
            </a:pPr>
            <a:r>
              <a:rPr lang="en-US" sz="1300" b="1" dirty="0">
                <a:solidFill>
                  <a:srgbClr val="460073"/>
                </a:solidFill>
                <a:latin typeface="Arial" pitchFamily="34" charset="0"/>
                <a:ea typeface="Arial" pitchFamily="34" charset="-122"/>
                <a:cs typeface="Arial" pitchFamily="34" charset="-120"/>
              </a:rPr>
              <a:t>≈ ₹19 lakh</a:t>
            </a:r>
            <a:endParaRPr lang="en-US" sz="1300" dirty="0"/>
          </a:p>
        </p:txBody>
      </p:sp>
      <p:sp>
        <p:nvSpPr>
          <p:cNvPr id="93" name="Text 90"/>
          <p:cNvSpPr txBox="1"/>
          <p:nvPr/>
        </p:nvSpPr>
        <p:spPr>
          <a:xfrm>
            <a:off x="9784080" y="2240280"/>
            <a:ext cx="2084832"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ward capacity released</a:t>
            </a:r>
            <a:endParaRPr lang="en-US" sz="900" dirty="0"/>
          </a:p>
        </p:txBody>
      </p:sp>
      <p:sp>
        <p:nvSpPr>
          <p:cNvPr id="94" name="Text 91"/>
          <p:cNvSpPr txBox="1"/>
          <p:nvPr/>
        </p:nvSpPr>
        <p:spPr>
          <a:xfrm>
            <a:off x="8357616" y="2468880"/>
            <a:ext cx="3511296" cy="365760"/>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0.4 days average LOS reduction ≈ 387 bed-days; a further ₹19 lakh modelled from a 0.5 pp LWBS improvement.</a:t>
            </a:r>
            <a:endParaRPr lang="en-US" sz="820" dirty="0"/>
          </a:p>
        </p:txBody>
      </p:sp>
      <p:sp>
        <p:nvSpPr>
          <p:cNvPr id="95" name="Text 92"/>
          <p:cNvSpPr txBox="1"/>
          <p:nvPr/>
        </p:nvSpPr>
        <p:spPr>
          <a:xfrm>
            <a:off x="8357616" y="2871216"/>
            <a:ext cx="1371600" cy="237744"/>
          </a:xfrm>
          <a:prstGeom prst="rect">
            <a:avLst/>
          </a:prstGeom>
          <a:noFill/>
          <a:ln/>
        </p:spPr>
        <p:txBody>
          <a:bodyPr wrap="square" lIns="0" tIns="0" rIns="0" bIns="0" rtlCol="0" anchor="ctr"/>
          <a:lstStyle/>
          <a:p>
            <a:pPr marL="0" indent="0">
              <a:buNone/>
            </a:pPr>
            <a:r>
              <a:rPr lang="en-US" sz="1300" b="1" dirty="0">
                <a:solidFill>
                  <a:srgbClr val="460073"/>
                </a:solidFill>
                <a:latin typeface="Arial" pitchFamily="34" charset="0"/>
                <a:ea typeface="Arial" pitchFamily="34" charset="-122"/>
                <a:cs typeface="Arial" pitchFamily="34" charset="-120"/>
              </a:rPr>
              <a:t>₹35,000</a:t>
            </a:r>
            <a:endParaRPr lang="en-US" sz="1300" dirty="0"/>
          </a:p>
        </p:txBody>
      </p:sp>
      <p:sp>
        <p:nvSpPr>
          <p:cNvPr id="96" name="Text 93"/>
          <p:cNvSpPr txBox="1"/>
          <p:nvPr/>
        </p:nvSpPr>
        <p:spPr>
          <a:xfrm>
            <a:off x="9784080" y="2898648"/>
            <a:ext cx="2084832" cy="182880"/>
          </a:xfrm>
          <a:prstGeom prst="rect">
            <a:avLst/>
          </a:prstGeom>
          <a:noFill/>
          <a:ln/>
        </p:spPr>
        <p:txBody>
          <a:bodyPr wrap="square" lIns="0" tIns="0" rIns="0" bIns="0" rtlCol="0" anchor="ctr"/>
          <a:lstStyle/>
          <a:p>
            <a:pPr marL="0" indent="0">
              <a:buNone/>
            </a:pPr>
            <a:r>
              <a:rPr lang="en-US" sz="900" b="1" dirty="0">
                <a:solidFill>
                  <a:srgbClr val="111018"/>
                </a:solidFill>
                <a:latin typeface="Arial" pitchFamily="34" charset="0"/>
                <a:ea typeface="Arial" pitchFamily="34" charset="-122"/>
                <a:cs typeface="Arial" pitchFamily="34" charset="-120"/>
              </a:rPr>
              <a:t>Tier 0 deployment</a:t>
            </a:r>
            <a:endParaRPr lang="en-US" sz="900" dirty="0"/>
          </a:p>
        </p:txBody>
      </p:sp>
      <p:sp>
        <p:nvSpPr>
          <p:cNvPr id="97" name="Text 94"/>
          <p:cNvSpPr txBox="1"/>
          <p:nvPr/>
        </p:nvSpPr>
        <p:spPr>
          <a:xfrm>
            <a:off x="8357616" y="3127248"/>
            <a:ext cx="3511296" cy="365760"/>
          </a:xfrm>
          <a:prstGeom prst="rect">
            <a:avLst/>
          </a:prstGeom>
          <a:noFill/>
          <a:ln/>
        </p:spPr>
        <p:txBody>
          <a:bodyPr wrap="square" lIns="0" tIns="0" rIns="0" bIns="0" rtlCol="0" anchor="ctr"/>
          <a:lstStyle/>
          <a:p>
            <a:pPr marL="0" indent="0">
              <a:lnSpc>
                <a:spcPct val="104000"/>
              </a:lnSpc>
              <a:buNone/>
            </a:pPr>
            <a:r>
              <a:rPr lang="en-US" sz="820" dirty="0">
                <a:solidFill>
                  <a:srgbClr val="5F5F6B"/>
                </a:solidFill>
                <a:latin typeface="Calibri" pitchFamily="34" charset="0"/>
                <a:ea typeface="Calibri" pitchFamily="34" charset="-122"/>
                <a:cs typeface="Calibri" pitchFamily="34" charset="-120"/>
              </a:rPr>
              <a:t>One tablet plus configuration. No integration project, and no licence in Phase 0 or Phase 1.</a:t>
            </a:r>
            <a:endParaRPr lang="en-US" sz="820" dirty="0"/>
          </a:p>
        </p:txBody>
      </p:sp>
      <p:sp>
        <p:nvSpPr>
          <p:cNvPr id="98" name="Shape 95"/>
          <p:cNvSpPr/>
          <p:nvPr/>
        </p:nvSpPr>
        <p:spPr>
          <a:xfrm>
            <a:off x="8357616" y="3566160"/>
            <a:ext cx="2103120" cy="219456"/>
          </a:xfrm>
          <a:prstGeom prst="roundRect">
            <a:avLst>
              <a:gd name="adj" fmla="val 208333"/>
            </a:avLst>
          </a:prstGeom>
          <a:solidFill>
            <a:srgbClr val="FDF2E0"/>
          </a:solidFill>
          <a:ln w="12700">
            <a:solidFill>
              <a:srgbClr val="8F5300"/>
            </a:solidFill>
            <a:prstDash val="solid"/>
          </a:ln>
        </p:spPr>
      </p:sp>
      <p:sp>
        <p:nvSpPr>
          <p:cNvPr id="99" name="Text 96"/>
          <p:cNvSpPr txBox="1"/>
          <p:nvPr/>
        </p:nvSpPr>
        <p:spPr>
          <a:xfrm>
            <a:off x="8357616" y="3566160"/>
            <a:ext cx="2103120" cy="219456"/>
          </a:xfrm>
          <a:prstGeom prst="rect">
            <a:avLst/>
          </a:prstGeom>
          <a:noFill/>
          <a:ln/>
        </p:spPr>
        <p:txBody>
          <a:bodyPr wrap="square" lIns="0" tIns="0" rIns="0" bIns="0" rtlCol="0" anchor="ctr"/>
          <a:lstStyle/>
          <a:p>
            <a:pPr marL="0" indent="0" algn="ctr">
              <a:buNone/>
            </a:pPr>
            <a:r>
              <a:rPr lang="en-US" sz="850" b="1" kern="0" spc="40" dirty="0">
                <a:solidFill>
                  <a:srgbClr val="8F5300"/>
                </a:solidFill>
                <a:latin typeface="Arial" pitchFamily="34" charset="0"/>
                <a:ea typeface="Arial" pitchFamily="34" charset="-122"/>
                <a:cs typeface="Arial" pitchFamily="34" charset="-120"/>
              </a:rPr>
              <a:t>MODELLED · NOT MEASURED</a:t>
            </a:r>
            <a:endParaRPr lang="en-US" sz="850" dirty="0"/>
          </a:p>
        </p:txBody>
      </p:sp>
      <p:sp>
        <p:nvSpPr>
          <p:cNvPr id="100" name="Text 97"/>
          <p:cNvSpPr txBox="1"/>
          <p:nvPr/>
        </p:nvSpPr>
        <p:spPr>
          <a:xfrm>
            <a:off x="10552176" y="3584448"/>
            <a:ext cx="1316736" cy="201168"/>
          </a:xfrm>
          <a:prstGeom prst="rect">
            <a:avLst/>
          </a:prstGeom>
          <a:noFill/>
          <a:ln/>
        </p:spPr>
        <p:txBody>
          <a:bodyPr wrap="square" lIns="0" tIns="0" rIns="0" bIns="0" rtlCol="0" anchor="ctr"/>
          <a:lstStyle/>
          <a:p>
            <a:pPr marL="0" indent="0" algn="r">
              <a:buNone/>
            </a:pPr>
            <a:r>
              <a:rPr lang="en-US" sz="850" b="1" dirty="0">
                <a:solidFill>
                  <a:srgbClr val="460073"/>
                </a:solidFill>
                <a:latin typeface="Arial" pitchFamily="34" charset="0"/>
                <a:ea typeface="Arial" pitchFamily="34" charset="-122"/>
                <a:cs typeface="Arial" pitchFamily="34" charset="-120"/>
              </a:rPr>
              <a:t>Modelled payback under 12 months at Tier 2.</a:t>
            </a:r>
            <a:endParaRPr lang="en-US" sz="850" dirty="0"/>
          </a:p>
        </p:txBody>
      </p:sp>
      <p:sp>
        <p:nvSpPr>
          <p:cNvPr id="101" name="Shape 98"/>
          <p:cNvSpPr/>
          <p:nvPr/>
        </p:nvSpPr>
        <p:spPr>
          <a:xfrm>
            <a:off x="8238744" y="4078224"/>
            <a:ext cx="3749040" cy="2578608"/>
          </a:xfrm>
          <a:prstGeom prst="rect">
            <a:avLst/>
          </a:prstGeom>
          <a:solidFill>
            <a:srgbClr val="FFFFFF"/>
          </a:solidFill>
          <a:ln w="12700">
            <a:solidFill>
              <a:srgbClr val="D9D6E3"/>
            </a:solidFill>
            <a:prstDash val="solid"/>
          </a:ln>
        </p:spPr>
      </p:sp>
      <p:sp>
        <p:nvSpPr>
          <p:cNvPr id="102" name="Shape 99"/>
          <p:cNvSpPr/>
          <p:nvPr/>
        </p:nvSpPr>
        <p:spPr>
          <a:xfrm>
            <a:off x="8238744" y="4078224"/>
            <a:ext cx="3749040" cy="274320"/>
          </a:xfrm>
          <a:prstGeom prst="rect">
            <a:avLst/>
          </a:prstGeom>
          <a:solidFill>
            <a:srgbClr val="7500C0"/>
          </a:solidFill>
          <a:ln w="12700">
            <a:solidFill>
              <a:srgbClr val="7500C0"/>
            </a:solidFill>
            <a:prstDash val="solid"/>
          </a:ln>
        </p:spPr>
      </p:sp>
      <p:sp>
        <p:nvSpPr>
          <p:cNvPr id="103" name="Text 100"/>
          <p:cNvSpPr txBox="1"/>
          <p:nvPr/>
        </p:nvSpPr>
        <p:spPr>
          <a:xfrm>
            <a:off x="8238744" y="4078224"/>
            <a:ext cx="374904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AND THE ARGUMENT THAT SURVIVES A BOARD</a:t>
            </a:r>
            <a:endParaRPr lang="en-US" sz="1050" dirty="0"/>
          </a:p>
        </p:txBody>
      </p:sp>
      <p:sp>
        <p:nvSpPr>
          <p:cNvPr id="104" name="Text 101"/>
          <p:cNvSpPr txBox="1"/>
          <p:nvPr/>
        </p:nvSpPr>
        <p:spPr>
          <a:xfrm>
            <a:off x="8357616" y="4443984"/>
            <a:ext cx="3511296" cy="438912"/>
          </a:xfrm>
          <a:prstGeom prst="rect">
            <a:avLst/>
          </a:prstGeom>
          <a:noFill/>
          <a:ln/>
        </p:spPr>
        <p:txBody>
          <a:bodyPr wrap="square" lIns="0" tIns="0" rIns="0" bIns="0" rtlCol="0" anchor="ctr"/>
          <a:lstStyle/>
          <a:p>
            <a:pPr marL="0" indent="0">
              <a:lnSpc>
                <a:spcPct val="106000"/>
              </a:lnSpc>
              <a:buNone/>
            </a:pPr>
            <a:r>
              <a:rPr lang="en-US" sz="840" b="1" dirty="0">
                <a:solidFill>
                  <a:srgbClr val="111018"/>
                </a:solidFill>
                <a:latin typeface="Calibri" pitchFamily="34" charset="0"/>
                <a:ea typeface="Calibri" pitchFamily="34" charset="-122"/>
                <a:cs typeface="Calibri" pitchFamily="34" charset="-120"/>
              </a:rPr>
              <a:t>Liability shield.  </a:t>
            </a:r>
            <a:r>
              <a:rPr lang="en-US" sz="840" dirty="0">
                <a:solidFill>
                  <a:srgbClr val="2E2E36"/>
                </a:solidFill>
                <a:latin typeface="Calibri" pitchFamily="34" charset="0"/>
                <a:ea typeface="Calibri" pitchFamily="34" charset="-122"/>
                <a:cs typeface="Calibri" pitchFamily="34" charset="-120"/>
              </a:rPr>
              <a:t>Claims are lost on documentation, not only on care. Every decision writes what was known, what was recommended, who decided otherwise, and on what stated ground.</a:t>
            </a:r>
            <a:endParaRPr lang="en-US" sz="840" dirty="0"/>
          </a:p>
        </p:txBody>
      </p:sp>
      <p:sp>
        <p:nvSpPr>
          <p:cNvPr id="105" name="Text 102"/>
          <p:cNvSpPr txBox="1"/>
          <p:nvPr/>
        </p:nvSpPr>
        <p:spPr>
          <a:xfrm>
            <a:off x="8357616" y="4901184"/>
            <a:ext cx="3511296" cy="438912"/>
          </a:xfrm>
          <a:prstGeom prst="rect">
            <a:avLst/>
          </a:prstGeom>
          <a:noFill/>
          <a:ln/>
        </p:spPr>
        <p:txBody>
          <a:bodyPr wrap="square" lIns="0" tIns="0" rIns="0" bIns="0" rtlCol="0" anchor="ctr"/>
          <a:lstStyle/>
          <a:p>
            <a:pPr marL="0" indent="0">
              <a:lnSpc>
                <a:spcPct val="106000"/>
              </a:lnSpc>
              <a:buNone/>
            </a:pPr>
            <a:r>
              <a:rPr lang="en-US" sz="840" b="1" dirty="0">
                <a:solidFill>
                  <a:srgbClr val="111018"/>
                </a:solidFill>
                <a:latin typeface="Calibri" pitchFamily="34" charset="0"/>
                <a:ea typeface="Calibri" pitchFamily="34" charset="-122"/>
                <a:cs typeface="Calibri" pitchFamily="34" charset="-120"/>
              </a:rPr>
              <a:t>No new breach surface.  </a:t>
            </a:r>
            <a:r>
              <a:rPr lang="en-US" sz="840" dirty="0">
                <a:solidFill>
                  <a:srgbClr val="2E2E36"/>
                </a:solidFill>
                <a:latin typeface="Calibri" pitchFamily="34" charset="0"/>
                <a:ea typeface="Calibri" pitchFamily="34" charset="-122"/>
                <a:cs typeface="Calibri" pitchFamily="34" charset="-120"/>
              </a:rPr>
              <a:t>Nothing identifiable leaves the network; no third party sits in a life-safety path.</a:t>
            </a:r>
            <a:endParaRPr lang="en-US" sz="840" dirty="0"/>
          </a:p>
        </p:txBody>
      </p:sp>
      <p:sp>
        <p:nvSpPr>
          <p:cNvPr id="106" name="Text 103"/>
          <p:cNvSpPr txBox="1"/>
          <p:nvPr/>
        </p:nvSpPr>
        <p:spPr>
          <a:xfrm>
            <a:off x="8357616" y="5358384"/>
            <a:ext cx="3511296" cy="438912"/>
          </a:xfrm>
          <a:prstGeom prst="rect">
            <a:avLst/>
          </a:prstGeom>
          <a:noFill/>
          <a:ln/>
        </p:spPr>
        <p:txBody>
          <a:bodyPr wrap="square" lIns="0" tIns="0" rIns="0" bIns="0" rtlCol="0" anchor="ctr"/>
          <a:lstStyle/>
          <a:p>
            <a:pPr marL="0" indent="0">
              <a:lnSpc>
                <a:spcPct val="106000"/>
              </a:lnSpc>
              <a:buNone/>
            </a:pPr>
            <a:r>
              <a:rPr lang="en-US" sz="840" b="1" dirty="0">
                <a:solidFill>
                  <a:srgbClr val="111018"/>
                </a:solidFill>
                <a:latin typeface="Calibri" pitchFamily="34" charset="0"/>
                <a:ea typeface="Calibri" pitchFamily="34" charset="-122"/>
                <a:cs typeface="Calibri" pitchFamily="34" charset="-120"/>
              </a:rPr>
              <a:t>Reversible.  </a:t>
            </a:r>
            <a:r>
              <a:rPr lang="en-US" sz="840" dirty="0">
                <a:solidFill>
                  <a:srgbClr val="2E2E36"/>
                </a:solidFill>
                <a:latin typeface="Calibri" pitchFamily="34" charset="0"/>
                <a:ea typeface="Calibri" pitchFamily="34" charset="-122"/>
                <a:cs typeface="Calibri" pitchFamily="34" charset="-120"/>
              </a:rPr>
              <a:t>A charge nurse can switch it off without degrading the existing triage process.</a:t>
            </a:r>
            <a:endParaRPr lang="en-US" sz="840" dirty="0"/>
          </a:p>
        </p:txBody>
      </p:sp>
      <p:sp>
        <p:nvSpPr>
          <p:cNvPr id="107" name="Text 104"/>
          <p:cNvSpPr txBox="1"/>
          <p:nvPr/>
        </p:nvSpPr>
        <p:spPr>
          <a:xfrm>
            <a:off x="8357616" y="5815584"/>
            <a:ext cx="3511296" cy="438912"/>
          </a:xfrm>
          <a:prstGeom prst="rect">
            <a:avLst/>
          </a:prstGeom>
          <a:noFill/>
          <a:ln/>
        </p:spPr>
        <p:txBody>
          <a:bodyPr wrap="square" lIns="0" tIns="0" rIns="0" bIns="0" rtlCol="0" anchor="ctr"/>
          <a:lstStyle/>
          <a:p>
            <a:pPr marL="0" indent="0">
              <a:lnSpc>
                <a:spcPct val="106000"/>
              </a:lnSpc>
              <a:buNone/>
            </a:pPr>
            <a:r>
              <a:rPr lang="en-US" sz="840" b="1" dirty="0">
                <a:solidFill>
                  <a:srgbClr val="111018"/>
                </a:solidFill>
                <a:latin typeface="Calibri" pitchFamily="34" charset="0"/>
                <a:ea typeface="Calibri" pitchFamily="34" charset="-122"/>
                <a:cs typeface="Calibri" pitchFamily="34" charset="-120"/>
              </a:rPr>
              <a:t>NABH-ready.  </a:t>
            </a:r>
            <a:r>
              <a:rPr lang="en-US" sz="840" dirty="0">
                <a:solidFill>
                  <a:srgbClr val="2E2E36"/>
                </a:solidFill>
                <a:latin typeface="Calibri" pitchFamily="34" charset="0"/>
                <a:ea typeface="Calibri" pitchFamily="34" charset="-122"/>
                <a:cs typeface="Calibri" pitchFamily="34" charset="-120"/>
              </a:rPr>
              <a:t>Append-only under-triage reporting by subgroup, with no extraction project.</a:t>
            </a:r>
            <a:endParaRPr lang="en-US" sz="840" dirty="0"/>
          </a:p>
        </p:txBody>
      </p:sp>
      <p:sp>
        <p:nvSpPr>
          <p:cNvPr id="108" name="Shape 105"/>
          <p:cNvSpPr/>
          <p:nvPr/>
        </p:nvSpPr>
        <p:spPr>
          <a:xfrm>
            <a:off x="8357616" y="6364224"/>
            <a:ext cx="3511296" cy="274320"/>
          </a:xfrm>
          <a:prstGeom prst="roundRect">
            <a:avLst>
              <a:gd name="adj" fmla="val 13333"/>
            </a:avLst>
          </a:prstGeom>
          <a:solidFill>
            <a:srgbClr val="F4ECFE"/>
          </a:solidFill>
          <a:ln w="12700">
            <a:solidFill>
              <a:srgbClr val="F4ECFE"/>
            </a:solidFill>
            <a:prstDash val="solid"/>
          </a:ln>
        </p:spPr>
      </p:sp>
      <p:sp>
        <p:nvSpPr>
          <p:cNvPr id="109" name="Text 106"/>
          <p:cNvSpPr txBox="1"/>
          <p:nvPr/>
        </p:nvSpPr>
        <p:spPr>
          <a:xfrm>
            <a:off x="8357616" y="6364224"/>
            <a:ext cx="3511296" cy="274320"/>
          </a:xfrm>
          <a:prstGeom prst="rect">
            <a:avLst/>
          </a:prstGeom>
          <a:noFill/>
          <a:ln/>
        </p:spPr>
        <p:txBody>
          <a:bodyPr wrap="square" lIns="0" tIns="0" rIns="0" bIns="0" rtlCol="0" anchor="ctr"/>
          <a:lstStyle/>
          <a:p>
            <a:pPr marL="0" indent="0" algn="ctr">
              <a:buNone/>
            </a:pPr>
            <a:r>
              <a:rPr lang="en-US" sz="900" b="1" dirty="0">
                <a:solidFill>
                  <a:srgbClr val="460073"/>
                </a:solidFill>
                <a:latin typeface="Arial" pitchFamily="34" charset="0"/>
                <a:ea typeface="Arial" pitchFamily="34" charset="-122"/>
                <a:cs typeface="Arial" pitchFamily="34" charset="-120"/>
              </a:rPr>
              <a:t>The return is bought with detection, not with more false alarms.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02336"/>
          </a:xfrm>
          <a:prstGeom prst="rect">
            <a:avLst/>
          </a:prstGeom>
          <a:solidFill>
            <a:srgbClr val="F2F1F6"/>
          </a:solidFill>
          <a:ln w="12700">
            <a:solidFill>
              <a:srgbClr val="F2F1F6"/>
            </a:solidFill>
            <a:prstDash val="solid"/>
          </a:ln>
        </p:spPr>
      </p:sp>
      <p:sp>
        <p:nvSpPr>
          <p:cNvPr id="3" name="Shape 1"/>
          <p:cNvSpPr/>
          <p:nvPr/>
        </p:nvSpPr>
        <p:spPr>
          <a:xfrm>
            <a:off x="0" y="402336"/>
            <a:ext cx="12191695" cy="18288"/>
          </a:xfrm>
          <a:prstGeom prst="rect">
            <a:avLst/>
          </a:prstGeom>
          <a:solidFill>
            <a:srgbClr val="460073"/>
          </a:solidFill>
          <a:ln w="12700">
            <a:solidFill>
              <a:srgbClr val="460073"/>
            </a:solidFill>
            <a:prstDash val="solid"/>
          </a:ln>
        </p:spPr>
      </p:sp>
      <p:sp>
        <p:nvSpPr>
          <p:cNvPr id="4" name="Text 2"/>
          <p:cNvSpPr txBox="1"/>
          <p:nvPr/>
        </p:nvSpPr>
        <p:spPr>
          <a:xfrm>
            <a:off x="182880" y="18288"/>
            <a:ext cx="457200" cy="365760"/>
          </a:xfrm>
          <a:prstGeom prst="rect">
            <a:avLst/>
          </a:prstGeom>
          <a:noFill/>
          <a:ln/>
        </p:spPr>
        <p:txBody>
          <a:bodyPr wrap="square" lIns="0" tIns="0" rIns="0" bIns="0" rtlCol="0" anchor="ctr"/>
          <a:lstStyle/>
          <a:p>
            <a:pPr marL="0" indent="0" algn="ctr">
              <a:buNone/>
            </a:pPr>
            <a:r>
              <a:rPr lang="en-US" sz="2000" b="1" dirty="0">
                <a:solidFill>
                  <a:srgbClr val="A100FF"/>
                </a:solidFill>
                <a:latin typeface="Arial" pitchFamily="34" charset="0"/>
                <a:ea typeface="Arial" pitchFamily="34" charset="-122"/>
                <a:cs typeface="Arial" pitchFamily="34" charset="-120"/>
              </a:rPr>
              <a:t>&gt;</a:t>
            </a:r>
            <a:endParaRPr lang="en-US" sz="2000" dirty="0"/>
          </a:p>
        </p:txBody>
      </p:sp>
      <p:sp>
        <p:nvSpPr>
          <p:cNvPr id="5" name="Text 3"/>
          <p:cNvSpPr txBox="1"/>
          <p:nvPr/>
        </p:nvSpPr>
        <p:spPr>
          <a:xfrm>
            <a:off x="731520"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PROBLEM</a:t>
            </a:r>
            <a:endParaRPr lang="en-US" sz="1050" dirty="0"/>
          </a:p>
        </p:txBody>
      </p:sp>
      <p:sp>
        <p:nvSpPr>
          <p:cNvPr id="6" name="Text 4"/>
          <p:cNvSpPr txBox="1"/>
          <p:nvPr/>
        </p:nvSpPr>
        <p:spPr>
          <a:xfrm>
            <a:off x="2070463"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INSIGHT</a:t>
            </a:r>
            <a:endParaRPr lang="en-US" sz="1050" dirty="0"/>
          </a:p>
        </p:txBody>
      </p:sp>
      <p:sp>
        <p:nvSpPr>
          <p:cNvPr id="7" name="Text 5"/>
          <p:cNvSpPr txBox="1"/>
          <p:nvPr/>
        </p:nvSpPr>
        <p:spPr>
          <a:xfrm>
            <a:off x="3409406"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SOLUTION</a:t>
            </a:r>
            <a:endParaRPr lang="en-US" sz="1050" dirty="0"/>
          </a:p>
        </p:txBody>
      </p:sp>
      <p:sp>
        <p:nvSpPr>
          <p:cNvPr id="8" name="Text 6"/>
          <p:cNvSpPr txBox="1"/>
          <p:nvPr/>
        </p:nvSpPr>
        <p:spPr>
          <a:xfrm>
            <a:off x="4748349"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PRODUCT</a:t>
            </a:r>
            <a:endParaRPr lang="en-US" sz="1050" dirty="0"/>
          </a:p>
        </p:txBody>
      </p:sp>
      <p:sp>
        <p:nvSpPr>
          <p:cNvPr id="9" name="Text 7"/>
          <p:cNvSpPr txBox="1"/>
          <p:nvPr/>
        </p:nvSpPr>
        <p:spPr>
          <a:xfrm>
            <a:off x="6087291"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ARCHITECTURE</a:t>
            </a:r>
            <a:endParaRPr lang="en-US" sz="1050" dirty="0"/>
          </a:p>
        </p:txBody>
      </p:sp>
      <p:sp>
        <p:nvSpPr>
          <p:cNvPr id="10" name="Text 8"/>
          <p:cNvSpPr txBox="1"/>
          <p:nvPr/>
        </p:nvSpPr>
        <p:spPr>
          <a:xfrm>
            <a:off x="7426234" y="0"/>
            <a:ext cx="1338943" cy="402336"/>
          </a:xfrm>
          <a:prstGeom prst="rect">
            <a:avLst/>
          </a:prstGeom>
          <a:noFill/>
          <a:ln/>
        </p:spPr>
        <p:txBody>
          <a:bodyPr wrap="square" lIns="0" tIns="0" rIns="0" bIns="0" rtlCol="0" anchor="ctr"/>
          <a:lstStyle/>
          <a:p>
            <a:pPr marL="0" indent="0" algn="ctr">
              <a:buNone/>
            </a:pPr>
            <a:r>
              <a:rPr lang="en-US" sz="1050" b="1" kern="0" spc="80" dirty="0">
                <a:solidFill>
                  <a:srgbClr val="5F5F6B"/>
                </a:solidFill>
                <a:latin typeface="Arial" pitchFamily="34" charset="0"/>
                <a:ea typeface="Arial" pitchFamily="34" charset="-122"/>
                <a:cs typeface="Arial" pitchFamily="34" charset="-120"/>
              </a:rPr>
              <a:t>IMPACT</a:t>
            </a:r>
            <a:endParaRPr lang="en-US" sz="1050" dirty="0"/>
          </a:p>
        </p:txBody>
      </p:sp>
      <p:sp>
        <p:nvSpPr>
          <p:cNvPr id="11" name="Shape 9"/>
          <p:cNvSpPr/>
          <p:nvPr/>
        </p:nvSpPr>
        <p:spPr>
          <a:xfrm>
            <a:off x="8765177" y="0"/>
            <a:ext cx="1338943" cy="402336"/>
          </a:xfrm>
          <a:prstGeom prst="rect">
            <a:avLst/>
          </a:prstGeom>
          <a:solidFill>
            <a:srgbClr val="460073"/>
          </a:solidFill>
          <a:ln w="12700">
            <a:solidFill>
              <a:srgbClr val="460073"/>
            </a:solidFill>
            <a:prstDash val="solid"/>
          </a:ln>
        </p:spPr>
      </p:sp>
      <p:sp>
        <p:nvSpPr>
          <p:cNvPr id="12" name="Text 10"/>
          <p:cNvSpPr txBox="1"/>
          <p:nvPr/>
        </p:nvSpPr>
        <p:spPr>
          <a:xfrm>
            <a:off x="8765177" y="0"/>
            <a:ext cx="1338943" cy="402336"/>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Arial" pitchFamily="34" charset="0"/>
                <a:ea typeface="Arial" pitchFamily="34" charset="-122"/>
                <a:cs typeface="Arial" pitchFamily="34" charset="-120"/>
              </a:rPr>
              <a:t>EXECUTION</a:t>
            </a:r>
            <a:endParaRPr lang="en-US" sz="1100" dirty="0"/>
          </a:p>
        </p:txBody>
      </p:sp>
      <p:sp>
        <p:nvSpPr>
          <p:cNvPr id="13" name="Text 11"/>
          <p:cNvSpPr txBox="1"/>
          <p:nvPr/>
        </p:nvSpPr>
        <p:spPr>
          <a:xfrm>
            <a:off x="10195560" y="0"/>
            <a:ext cx="1783080" cy="402336"/>
          </a:xfrm>
          <a:prstGeom prst="rect">
            <a:avLst/>
          </a:prstGeom>
          <a:noFill/>
          <a:ln/>
        </p:spPr>
        <p:txBody>
          <a:bodyPr wrap="square" lIns="0" tIns="0" rIns="0" bIns="0" rtlCol="0" anchor="ctr"/>
          <a:lstStyle/>
          <a:p>
            <a:pPr marL="0" indent="0" algn="r">
              <a:buNone/>
            </a:pPr>
            <a:r>
              <a:rPr lang="en-US" sz="1200" b="1" dirty="0">
                <a:solidFill>
                  <a:srgbClr val="460073"/>
                </a:solidFill>
                <a:latin typeface="Arial" pitchFamily="34" charset="0"/>
                <a:ea typeface="Arial" pitchFamily="34" charset="-122"/>
                <a:cs typeface="Arial" pitchFamily="34" charset="-120"/>
              </a:rPr>
              <a:t>PatientTriage.ai</a:t>
            </a:r>
            <a:endParaRPr lang="en-US" sz="1200" dirty="0"/>
          </a:p>
        </p:txBody>
      </p:sp>
      <p:sp>
        <p:nvSpPr>
          <p:cNvPr id="14" name="Shape 12"/>
          <p:cNvSpPr/>
          <p:nvPr/>
        </p:nvSpPr>
        <p:spPr>
          <a:xfrm>
            <a:off x="201168" y="530352"/>
            <a:ext cx="11789359" cy="2487168"/>
          </a:xfrm>
          <a:prstGeom prst="rect">
            <a:avLst/>
          </a:prstGeom>
          <a:solidFill>
            <a:srgbClr val="FFFFFF"/>
          </a:solidFill>
          <a:ln w="12700">
            <a:solidFill>
              <a:srgbClr val="D9D6E3"/>
            </a:solidFill>
            <a:prstDash val="solid"/>
          </a:ln>
        </p:spPr>
      </p:sp>
      <p:sp>
        <p:nvSpPr>
          <p:cNvPr id="15" name="Shape 13"/>
          <p:cNvSpPr/>
          <p:nvPr/>
        </p:nvSpPr>
        <p:spPr>
          <a:xfrm>
            <a:off x="201168" y="530352"/>
            <a:ext cx="11789359" cy="274320"/>
          </a:xfrm>
          <a:prstGeom prst="rect">
            <a:avLst/>
          </a:prstGeom>
          <a:solidFill>
            <a:srgbClr val="5C0099"/>
          </a:solidFill>
          <a:ln w="12700">
            <a:solidFill>
              <a:srgbClr val="5C0099"/>
            </a:solidFill>
            <a:prstDash val="solid"/>
          </a:ln>
        </p:spPr>
      </p:sp>
      <p:sp>
        <p:nvSpPr>
          <p:cNvPr id="16" name="Text 14"/>
          <p:cNvSpPr txBox="1"/>
          <p:nvPr/>
        </p:nvSpPr>
        <p:spPr>
          <a:xfrm>
            <a:off x="201168" y="530352"/>
            <a:ext cx="11789359"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PHASED ROADMAP - EVERY PHASE HAS A GATE, AND PHASE 0 IS A STOP</a:t>
            </a:r>
            <a:endParaRPr lang="en-US" sz="1050" dirty="0"/>
          </a:p>
        </p:txBody>
      </p:sp>
      <p:sp>
        <p:nvSpPr>
          <p:cNvPr id="17" name="Shape 15"/>
          <p:cNvSpPr/>
          <p:nvPr/>
        </p:nvSpPr>
        <p:spPr>
          <a:xfrm>
            <a:off x="320040" y="1170432"/>
            <a:ext cx="11551615" cy="36576"/>
          </a:xfrm>
          <a:prstGeom prst="rect">
            <a:avLst/>
          </a:prstGeom>
          <a:solidFill>
            <a:srgbClr val="E9E7EF"/>
          </a:solidFill>
          <a:ln w="12700">
            <a:solidFill>
              <a:srgbClr val="E9E7EF"/>
            </a:solidFill>
            <a:prstDash val="solid"/>
          </a:ln>
        </p:spPr>
      </p:sp>
      <p:sp>
        <p:nvSpPr>
          <p:cNvPr id="18" name="Shape 16"/>
          <p:cNvSpPr/>
          <p:nvPr/>
        </p:nvSpPr>
        <p:spPr>
          <a:xfrm>
            <a:off x="320040" y="1170432"/>
            <a:ext cx="2207910" cy="36576"/>
          </a:xfrm>
          <a:prstGeom prst="rect">
            <a:avLst/>
          </a:prstGeom>
          <a:solidFill>
            <a:srgbClr val="A100FF"/>
          </a:solidFill>
          <a:ln w="12700">
            <a:solidFill>
              <a:srgbClr val="A100FF"/>
            </a:solidFill>
            <a:prstDash val="solid"/>
          </a:ln>
        </p:spPr>
      </p:sp>
      <p:sp>
        <p:nvSpPr>
          <p:cNvPr id="19" name="Shape 17"/>
          <p:cNvSpPr/>
          <p:nvPr/>
        </p:nvSpPr>
        <p:spPr>
          <a:xfrm>
            <a:off x="1359987" y="1124712"/>
            <a:ext cx="128016" cy="128016"/>
          </a:xfrm>
          <a:prstGeom prst="roundRect">
            <a:avLst>
              <a:gd name="adj" fmla="val 50000"/>
            </a:avLst>
          </a:prstGeom>
          <a:ln w="12700">
            <a:solidFill>
              <a:srgbClr val="FFFFFF"/>
            </a:solidFill>
            <a:prstDash val="solid"/>
          </a:ln>
        </p:spPr>
      </p:sp>
      <p:sp>
        <p:nvSpPr>
          <p:cNvPr id="20" name="Text 18"/>
          <p:cNvSpPr txBox="1"/>
          <p:nvPr/>
        </p:nvSpPr>
        <p:spPr>
          <a:xfrm>
            <a:off x="320040" y="896112"/>
            <a:ext cx="2207910" cy="182880"/>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PHASE 0</a:t>
            </a:r>
            <a:endParaRPr lang="en-US" sz="950" dirty="0"/>
          </a:p>
        </p:txBody>
      </p:sp>
      <p:sp>
        <p:nvSpPr>
          <p:cNvPr id="21" name="Text 19"/>
          <p:cNvSpPr txBox="1"/>
          <p:nvPr/>
        </p:nvSpPr>
        <p:spPr>
          <a:xfrm>
            <a:off x="320040" y="1298448"/>
            <a:ext cx="2207910" cy="164592"/>
          </a:xfrm>
          <a:prstGeom prst="rect">
            <a:avLst/>
          </a:prstGeom>
          <a:noFill/>
          <a:ln/>
        </p:spPr>
        <p:txBody>
          <a:bodyPr wrap="square" lIns="0" tIns="0" rIns="0" bIns="0" rtlCol="0" anchor="ctr"/>
          <a:lstStyle/>
          <a:p>
            <a:pPr marL="0" indent="0" algn="ctr">
              <a:buNone/>
            </a:pPr>
            <a:r>
              <a:rPr lang="en-US" sz="820" dirty="0">
                <a:solidFill>
                  <a:srgbClr val="5F5F6B"/>
                </a:solidFill>
                <a:latin typeface="Calibri" pitchFamily="34" charset="0"/>
                <a:ea typeface="Calibri" pitchFamily="34" charset="-122"/>
                <a:cs typeface="Calibri" pitchFamily="34" charset="-120"/>
              </a:rPr>
              <a:t>months 0-3</a:t>
            </a:r>
            <a:endParaRPr lang="en-US" sz="820" dirty="0"/>
          </a:p>
        </p:txBody>
      </p:sp>
      <p:sp>
        <p:nvSpPr>
          <p:cNvPr id="22" name="Text 20"/>
          <p:cNvSpPr txBox="1"/>
          <p:nvPr/>
        </p:nvSpPr>
        <p:spPr>
          <a:xfrm>
            <a:off x="320040" y="1481328"/>
            <a:ext cx="2207910" cy="310896"/>
          </a:xfrm>
          <a:prstGeom prst="rect">
            <a:avLst/>
          </a:prstGeom>
          <a:noFill/>
          <a:ln/>
        </p:spPr>
        <p:txBody>
          <a:bodyPr wrap="square" lIns="0" tIns="0" rIns="0" bIns="0" rtlCol="0" anchor="ctr"/>
          <a:lstStyle/>
          <a:p>
            <a:pPr marL="0" indent="0" algn="ctr">
              <a:lnSpc>
                <a:spcPct val="102000"/>
              </a:lnSpc>
              <a:buNone/>
            </a:pPr>
            <a:r>
              <a:rPr lang="en-US" sz="900" b="1" dirty="0">
                <a:solidFill>
                  <a:srgbClr val="111018"/>
                </a:solidFill>
                <a:latin typeface="Arial" pitchFamily="34" charset="0"/>
                <a:ea typeface="Arial" pitchFamily="34" charset="-122"/>
                <a:cs typeface="Arial" pitchFamily="34" charset="-120"/>
              </a:rPr>
              <a:t>Silent retrospective validation</a:t>
            </a:r>
            <a:endParaRPr lang="en-US" sz="900" dirty="0"/>
          </a:p>
        </p:txBody>
      </p:sp>
      <p:sp>
        <p:nvSpPr>
          <p:cNvPr id="23" name="Text 21"/>
          <p:cNvSpPr txBox="1"/>
          <p:nvPr/>
        </p:nvSpPr>
        <p:spPr>
          <a:xfrm>
            <a:off x="320040" y="1828800"/>
            <a:ext cx="2207910" cy="566928"/>
          </a:xfrm>
          <a:prstGeom prst="rect">
            <a:avLst/>
          </a:prstGeom>
          <a:noFill/>
          <a:ln/>
        </p:spPr>
        <p:txBody>
          <a:bodyPr wrap="square" lIns="0" tIns="0" rIns="0" bIns="0" rtlCol="0" anchor="ctr"/>
          <a:lstStyle/>
          <a:p>
            <a:pPr marL="0" indent="0" algn="ctr">
              <a:lnSpc>
                <a:spcPct val="104000"/>
              </a:lnSpc>
              <a:buNone/>
            </a:pPr>
            <a:r>
              <a:rPr lang="en-US" sz="820" dirty="0">
                <a:solidFill>
                  <a:srgbClr val="2E2E36"/>
                </a:solidFill>
                <a:latin typeface="Calibri" pitchFamily="34" charset="0"/>
                <a:ea typeface="Calibri" pitchFamily="34" charset="-122"/>
                <a:cs typeface="Calibri" pitchFamily="34" charset="-120"/>
              </a:rPr>
              <a:t>The engine scores de-identified historical records. No clinician sees an output; no queue is reordered; no patient’s care changes.</a:t>
            </a:r>
            <a:endParaRPr lang="en-US" sz="820" dirty="0"/>
          </a:p>
        </p:txBody>
      </p:sp>
      <p:sp>
        <p:nvSpPr>
          <p:cNvPr id="24" name="Shape 22"/>
          <p:cNvSpPr/>
          <p:nvPr/>
        </p:nvSpPr>
        <p:spPr>
          <a:xfrm>
            <a:off x="320040" y="2432304"/>
            <a:ext cx="2207910" cy="384048"/>
          </a:xfrm>
          <a:prstGeom prst="roundRect">
            <a:avLst>
              <a:gd name="adj" fmla="val 9524"/>
            </a:avLst>
          </a:prstGeom>
          <a:solidFill>
            <a:srgbClr val="E6F3EC"/>
          </a:solidFill>
          <a:ln w="12700">
            <a:solidFill>
              <a:srgbClr val="0A6E43"/>
            </a:solidFill>
            <a:prstDash val="solid"/>
          </a:ln>
        </p:spPr>
      </p:sp>
      <p:sp>
        <p:nvSpPr>
          <p:cNvPr id="25" name="Text 23"/>
          <p:cNvSpPr txBox="1"/>
          <p:nvPr/>
        </p:nvSpPr>
        <p:spPr>
          <a:xfrm>
            <a:off x="374904" y="2468880"/>
            <a:ext cx="2098182" cy="329184"/>
          </a:xfrm>
          <a:prstGeom prst="rect">
            <a:avLst/>
          </a:prstGeom>
          <a:noFill/>
          <a:ln/>
        </p:spPr>
        <p:txBody>
          <a:bodyPr wrap="square" lIns="0" tIns="0" rIns="0" bIns="0" rtlCol="0" anchor="ctr"/>
          <a:lstStyle/>
          <a:p>
            <a:pPr marL="0" indent="0" algn="ctr">
              <a:lnSpc>
                <a:spcPct val="102000"/>
              </a:lnSpc>
              <a:buNone/>
            </a:pPr>
            <a:r>
              <a:rPr lang="en-US" sz="800" b="1" dirty="0">
                <a:solidFill>
                  <a:srgbClr val="0A6E43"/>
                </a:solidFill>
                <a:latin typeface="Arial" pitchFamily="34" charset="0"/>
                <a:ea typeface="Arial" pitchFamily="34" charset="-122"/>
                <a:cs typeface="Arial" pitchFamily="34" charset="-120"/>
              </a:rPr>
              <a:t>GATE · Under-triage below the department’s own baseline</a:t>
            </a:r>
            <a:endParaRPr lang="en-US" sz="800" dirty="0"/>
          </a:p>
        </p:txBody>
      </p:sp>
      <p:sp>
        <p:nvSpPr>
          <p:cNvPr id="26" name="Shape 24"/>
          <p:cNvSpPr/>
          <p:nvPr/>
        </p:nvSpPr>
        <p:spPr>
          <a:xfrm>
            <a:off x="3695913" y="1124712"/>
            <a:ext cx="128016" cy="128016"/>
          </a:xfrm>
          <a:prstGeom prst="roundRect">
            <a:avLst>
              <a:gd name="adj" fmla="val 50000"/>
            </a:avLst>
          </a:prstGeom>
          <a:ln w="12700">
            <a:solidFill>
              <a:srgbClr val="FFFFFF"/>
            </a:solidFill>
            <a:prstDash val="solid"/>
          </a:ln>
        </p:spPr>
      </p:sp>
      <p:sp>
        <p:nvSpPr>
          <p:cNvPr id="27" name="Text 25"/>
          <p:cNvSpPr txBox="1"/>
          <p:nvPr/>
        </p:nvSpPr>
        <p:spPr>
          <a:xfrm>
            <a:off x="2655966" y="896112"/>
            <a:ext cx="2207910" cy="182880"/>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PHASE 1</a:t>
            </a:r>
            <a:endParaRPr lang="en-US" sz="950" dirty="0"/>
          </a:p>
        </p:txBody>
      </p:sp>
      <p:sp>
        <p:nvSpPr>
          <p:cNvPr id="28" name="Text 26"/>
          <p:cNvSpPr txBox="1"/>
          <p:nvPr/>
        </p:nvSpPr>
        <p:spPr>
          <a:xfrm>
            <a:off x="2655966" y="1298448"/>
            <a:ext cx="2207910" cy="164592"/>
          </a:xfrm>
          <a:prstGeom prst="rect">
            <a:avLst/>
          </a:prstGeom>
          <a:noFill/>
          <a:ln/>
        </p:spPr>
        <p:txBody>
          <a:bodyPr wrap="square" lIns="0" tIns="0" rIns="0" bIns="0" rtlCol="0" anchor="ctr"/>
          <a:lstStyle/>
          <a:p>
            <a:pPr marL="0" indent="0" algn="ctr">
              <a:buNone/>
            </a:pPr>
            <a:r>
              <a:rPr lang="en-US" sz="820" dirty="0">
                <a:solidFill>
                  <a:srgbClr val="5F5F6B"/>
                </a:solidFill>
                <a:latin typeface="Calibri" pitchFamily="34" charset="0"/>
                <a:ea typeface="Calibri" pitchFamily="34" charset="-122"/>
                <a:cs typeface="Calibri" pitchFamily="34" charset="-120"/>
              </a:rPr>
              <a:t>months 4-6</a:t>
            </a:r>
            <a:endParaRPr lang="en-US" sz="820" dirty="0"/>
          </a:p>
        </p:txBody>
      </p:sp>
      <p:sp>
        <p:nvSpPr>
          <p:cNvPr id="29" name="Text 27"/>
          <p:cNvSpPr txBox="1"/>
          <p:nvPr/>
        </p:nvSpPr>
        <p:spPr>
          <a:xfrm>
            <a:off x="2655966" y="1481328"/>
            <a:ext cx="2207910" cy="310896"/>
          </a:xfrm>
          <a:prstGeom prst="rect">
            <a:avLst/>
          </a:prstGeom>
          <a:noFill/>
          <a:ln/>
        </p:spPr>
        <p:txBody>
          <a:bodyPr wrap="square" lIns="0" tIns="0" rIns="0" bIns="0" rtlCol="0" anchor="ctr"/>
          <a:lstStyle/>
          <a:p>
            <a:pPr marL="0" indent="0" algn="ctr">
              <a:lnSpc>
                <a:spcPct val="102000"/>
              </a:lnSpc>
              <a:buNone/>
            </a:pPr>
            <a:r>
              <a:rPr lang="en-US" sz="900" b="1" dirty="0">
                <a:solidFill>
                  <a:srgbClr val="111018"/>
                </a:solidFill>
                <a:latin typeface="Arial" pitchFamily="34" charset="0"/>
                <a:ea typeface="Arial" pitchFamily="34" charset="-122"/>
                <a:cs typeface="Arial" pitchFamily="34" charset="-120"/>
              </a:rPr>
              <a:t>Shadow mode, one ED</a:t>
            </a:r>
            <a:endParaRPr lang="en-US" sz="900" dirty="0"/>
          </a:p>
        </p:txBody>
      </p:sp>
      <p:sp>
        <p:nvSpPr>
          <p:cNvPr id="30" name="Text 28"/>
          <p:cNvSpPr txBox="1"/>
          <p:nvPr/>
        </p:nvSpPr>
        <p:spPr>
          <a:xfrm>
            <a:off x="2655966" y="1828800"/>
            <a:ext cx="2207910" cy="566928"/>
          </a:xfrm>
          <a:prstGeom prst="rect">
            <a:avLst/>
          </a:prstGeom>
          <a:noFill/>
          <a:ln/>
        </p:spPr>
        <p:txBody>
          <a:bodyPr wrap="square" lIns="0" tIns="0" rIns="0" bIns="0" rtlCol="0" anchor="ctr"/>
          <a:lstStyle/>
          <a:p>
            <a:pPr marL="0" indent="0" algn="ctr">
              <a:lnSpc>
                <a:spcPct val="104000"/>
              </a:lnSpc>
              <a:buNone/>
            </a:pPr>
            <a:r>
              <a:rPr lang="en-US" sz="820" dirty="0">
                <a:solidFill>
                  <a:srgbClr val="2E2E36"/>
                </a:solidFill>
                <a:latin typeface="Calibri" pitchFamily="34" charset="0"/>
                <a:ea typeface="Calibri" pitchFamily="34" charset="-122"/>
                <a:cs typeface="Calibri" pitchFamily="34" charset="-120"/>
              </a:rPr>
              <a:t>Runs live alongside clinicians with no autonomous impact on any patient’s position in the queue.</a:t>
            </a:r>
            <a:endParaRPr lang="en-US" sz="820" dirty="0"/>
          </a:p>
        </p:txBody>
      </p:sp>
      <p:sp>
        <p:nvSpPr>
          <p:cNvPr id="31" name="Shape 29"/>
          <p:cNvSpPr/>
          <p:nvPr/>
        </p:nvSpPr>
        <p:spPr>
          <a:xfrm>
            <a:off x="2655966" y="2432304"/>
            <a:ext cx="2207910" cy="384048"/>
          </a:xfrm>
          <a:prstGeom prst="roundRect">
            <a:avLst>
              <a:gd name="adj" fmla="val 9524"/>
            </a:avLst>
          </a:prstGeom>
          <a:solidFill>
            <a:srgbClr val="F7F4FC"/>
          </a:solidFill>
          <a:ln w="12700">
            <a:solidFill>
              <a:srgbClr val="ECEAF3"/>
            </a:solidFill>
            <a:prstDash val="solid"/>
          </a:ln>
        </p:spPr>
      </p:sp>
      <p:sp>
        <p:nvSpPr>
          <p:cNvPr id="32" name="Text 30"/>
          <p:cNvSpPr txBox="1"/>
          <p:nvPr/>
        </p:nvSpPr>
        <p:spPr>
          <a:xfrm>
            <a:off x="2710830" y="2468880"/>
            <a:ext cx="2098182" cy="329184"/>
          </a:xfrm>
          <a:prstGeom prst="rect">
            <a:avLst/>
          </a:prstGeom>
          <a:noFill/>
          <a:ln/>
        </p:spPr>
        <p:txBody>
          <a:bodyPr wrap="square" lIns="0" tIns="0" rIns="0" bIns="0" rtlCol="0" anchor="ctr"/>
          <a:lstStyle/>
          <a:p>
            <a:pPr marL="0" indent="0" algn="ctr">
              <a:lnSpc>
                <a:spcPct val="102000"/>
              </a:lnSpc>
              <a:buNone/>
            </a:pPr>
            <a:r>
              <a:rPr lang="en-US" sz="800" b="1" dirty="0">
                <a:solidFill>
                  <a:srgbClr val="460073"/>
                </a:solidFill>
                <a:latin typeface="Arial" pitchFamily="34" charset="0"/>
                <a:ea typeface="Arial" pitchFamily="34" charset="-122"/>
                <a:cs typeface="Arial" pitchFamily="34" charset="-120"/>
              </a:rPr>
              <a:t>GATE · Agreement rate and clinician trust</a:t>
            </a:r>
            <a:endParaRPr lang="en-US" sz="800" dirty="0"/>
          </a:p>
        </p:txBody>
      </p:sp>
      <p:sp>
        <p:nvSpPr>
          <p:cNvPr id="33" name="Shape 31"/>
          <p:cNvSpPr/>
          <p:nvPr/>
        </p:nvSpPr>
        <p:spPr>
          <a:xfrm>
            <a:off x="6031840" y="1124712"/>
            <a:ext cx="128016" cy="128016"/>
          </a:xfrm>
          <a:prstGeom prst="roundRect">
            <a:avLst>
              <a:gd name="adj" fmla="val 50000"/>
            </a:avLst>
          </a:prstGeom>
          <a:ln w="12700">
            <a:solidFill>
              <a:srgbClr val="FFFFFF"/>
            </a:solidFill>
            <a:prstDash val="solid"/>
          </a:ln>
        </p:spPr>
      </p:sp>
      <p:sp>
        <p:nvSpPr>
          <p:cNvPr id="34" name="Text 32"/>
          <p:cNvSpPr txBox="1"/>
          <p:nvPr/>
        </p:nvSpPr>
        <p:spPr>
          <a:xfrm>
            <a:off x="4991892" y="896112"/>
            <a:ext cx="2207910" cy="182880"/>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PHASE 2</a:t>
            </a:r>
            <a:endParaRPr lang="en-US" sz="950" dirty="0"/>
          </a:p>
        </p:txBody>
      </p:sp>
      <p:sp>
        <p:nvSpPr>
          <p:cNvPr id="35" name="Text 33"/>
          <p:cNvSpPr txBox="1"/>
          <p:nvPr/>
        </p:nvSpPr>
        <p:spPr>
          <a:xfrm>
            <a:off x="4991892" y="1298448"/>
            <a:ext cx="2207910" cy="164592"/>
          </a:xfrm>
          <a:prstGeom prst="rect">
            <a:avLst/>
          </a:prstGeom>
          <a:noFill/>
          <a:ln/>
        </p:spPr>
        <p:txBody>
          <a:bodyPr wrap="square" lIns="0" tIns="0" rIns="0" bIns="0" rtlCol="0" anchor="ctr"/>
          <a:lstStyle/>
          <a:p>
            <a:pPr marL="0" indent="0" algn="ctr">
              <a:buNone/>
            </a:pPr>
            <a:r>
              <a:rPr lang="en-US" sz="820" dirty="0">
                <a:solidFill>
                  <a:srgbClr val="5F5F6B"/>
                </a:solidFill>
                <a:latin typeface="Calibri" pitchFamily="34" charset="0"/>
                <a:ea typeface="Calibri" pitchFamily="34" charset="-122"/>
                <a:cs typeface="Calibri" pitchFamily="34" charset="-120"/>
              </a:rPr>
              <a:t>months 7-12</a:t>
            </a:r>
            <a:endParaRPr lang="en-US" sz="820" dirty="0"/>
          </a:p>
        </p:txBody>
      </p:sp>
      <p:sp>
        <p:nvSpPr>
          <p:cNvPr id="36" name="Text 34"/>
          <p:cNvSpPr txBox="1"/>
          <p:nvPr/>
        </p:nvSpPr>
        <p:spPr>
          <a:xfrm>
            <a:off x="4991892" y="1481328"/>
            <a:ext cx="2207910" cy="310896"/>
          </a:xfrm>
          <a:prstGeom prst="rect">
            <a:avLst/>
          </a:prstGeom>
          <a:noFill/>
          <a:ln/>
        </p:spPr>
        <p:txBody>
          <a:bodyPr wrap="square" lIns="0" tIns="0" rIns="0" bIns="0" rtlCol="0" anchor="ctr"/>
          <a:lstStyle/>
          <a:p>
            <a:pPr marL="0" indent="0" algn="ctr">
              <a:lnSpc>
                <a:spcPct val="102000"/>
              </a:lnSpc>
              <a:buNone/>
            </a:pPr>
            <a:r>
              <a:rPr lang="en-US" sz="900" b="1" dirty="0">
                <a:solidFill>
                  <a:srgbClr val="111018"/>
                </a:solidFill>
                <a:latin typeface="Arial" pitchFamily="34" charset="0"/>
                <a:ea typeface="Arial" pitchFamily="34" charset="-122"/>
                <a:cs typeface="Arial" pitchFamily="34" charset="-120"/>
              </a:rPr>
              <a:t>Assisted mode under veto</a:t>
            </a:r>
            <a:endParaRPr lang="en-US" sz="900" dirty="0"/>
          </a:p>
        </p:txBody>
      </p:sp>
      <p:sp>
        <p:nvSpPr>
          <p:cNvPr id="37" name="Text 35"/>
          <p:cNvSpPr txBox="1"/>
          <p:nvPr/>
        </p:nvSpPr>
        <p:spPr>
          <a:xfrm>
            <a:off x="4991892" y="1828800"/>
            <a:ext cx="2207910" cy="566928"/>
          </a:xfrm>
          <a:prstGeom prst="rect">
            <a:avLst/>
          </a:prstGeom>
          <a:noFill/>
          <a:ln/>
        </p:spPr>
        <p:txBody>
          <a:bodyPr wrap="square" lIns="0" tIns="0" rIns="0" bIns="0" rtlCol="0" anchor="ctr"/>
          <a:lstStyle/>
          <a:p>
            <a:pPr marL="0" indent="0" algn="ctr">
              <a:lnSpc>
                <a:spcPct val="104000"/>
              </a:lnSpc>
              <a:buNone/>
            </a:pPr>
            <a:r>
              <a:rPr lang="en-US" sz="820" dirty="0">
                <a:solidFill>
                  <a:srgbClr val="2E2E36"/>
                </a:solidFill>
                <a:latin typeface="Calibri" pitchFamily="34" charset="0"/>
                <a:ea typeface="Calibri" pitchFamily="34" charset="-122"/>
                <a:cs typeface="Calibri" pitchFamily="34" charset="-120"/>
              </a:rPr>
              <a:t>Decision support inside the workflow. The clinician confirms every recommendation before it takes effect.</a:t>
            </a:r>
            <a:endParaRPr lang="en-US" sz="820" dirty="0"/>
          </a:p>
        </p:txBody>
      </p:sp>
      <p:sp>
        <p:nvSpPr>
          <p:cNvPr id="38" name="Shape 36"/>
          <p:cNvSpPr/>
          <p:nvPr/>
        </p:nvSpPr>
        <p:spPr>
          <a:xfrm>
            <a:off x="4991892" y="2432304"/>
            <a:ext cx="2207910" cy="384048"/>
          </a:xfrm>
          <a:prstGeom prst="roundRect">
            <a:avLst>
              <a:gd name="adj" fmla="val 9524"/>
            </a:avLst>
          </a:prstGeom>
          <a:solidFill>
            <a:srgbClr val="F7F4FC"/>
          </a:solidFill>
          <a:ln w="12700">
            <a:solidFill>
              <a:srgbClr val="ECEAF3"/>
            </a:solidFill>
            <a:prstDash val="solid"/>
          </a:ln>
        </p:spPr>
      </p:sp>
      <p:sp>
        <p:nvSpPr>
          <p:cNvPr id="39" name="Text 37"/>
          <p:cNvSpPr txBox="1"/>
          <p:nvPr/>
        </p:nvSpPr>
        <p:spPr>
          <a:xfrm>
            <a:off x="5046756" y="2468880"/>
            <a:ext cx="2098182" cy="329184"/>
          </a:xfrm>
          <a:prstGeom prst="rect">
            <a:avLst/>
          </a:prstGeom>
          <a:noFill/>
          <a:ln/>
        </p:spPr>
        <p:txBody>
          <a:bodyPr wrap="square" lIns="0" tIns="0" rIns="0" bIns="0" rtlCol="0" anchor="ctr"/>
          <a:lstStyle/>
          <a:p>
            <a:pPr marL="0" indent="0" algn="ctr">
              <a:lnSpc>
                <a:spcPct val="102000"/>
              </a:lnSpc>
              <a:buNone/>
            </a:pPr>
            <a:r>
              <a:rPr lang="en-US" sz="800" b="1" dirty="0">
                <a:solidFill>
                  <a:srgbClr val="460073"/>
                </a:solidFill>
                <a:latin typeface="Arial" pitchFamily="34" charset="0"/>
                <a:ea typeface="Arial" pitchFamily="34" charset="-122"/>
                <a:cs typeface="Arial" pitchFamily="34" charset="-120"/>
              </a:rPr>
              <a:t>GATE · No increase in adverse events</a:t>
            </a:r>
            <a:endParaRPr lang="en-US" sz="800" dirty="0"/>
          </a:p>
        </p:txBody>
      </p:sp>
      <p:sp>
        <p:nvSpPr>
          <p:cNvPr id="40" name="Shape 38"/>
          <p:cNvSpPr/>
          <p:nvPr/>
        </p:nvSpPr>
        <p:spPr>
          <a:xfrm>
            <a:off x="8367766" y="1124712"/>
            <a:ext cx="128016" cy="128016"/>
          </a:xfrm>
          <a:prstGeom prst="roundRect">
            <a:avLst>
              <a:gd name="adj" fmla="val 50000"/>
            </a:avLst>
          </a:prstGeom>
          <a:ln w="12700">
            <a:solidFill>
              <a:srgbClr val="FFFFFF"/>
            </a:solidFill>
            <a:prstDash val="solid"/>
          </a:ln>
        </p:spPr>
      </p:sp>
      <p:sp>
        <p:nvSpPr>
          <p:cNvPr id="41" name="Text 39"/>
          <p:cNvSpPr txBox="1"/>
          <p:nvPr/>
        </p:nvSpPr>
        <p:spPr>
          <a:xfrm>
            <a:off x="7327819" y="896112"/>
            <a:ext cx="2207910" cy="182880"/>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PHASE 3</a:t>
            </a:r>
            <a:endParaRPr lang="en-US" sz="950" dirty="0"/>
          </a:p>
        </p:txBody>
      </p:sp>
      <p:sp>
        <p:nvSpPr>
          <p:cNvPr id="42" name="Text 40"/>
          <p:cNvSpPr txBox="1"/>
          <p:nvPr/>
        </p:nvSpPr>
        <p:spPr>
          <a:xfrm>
            <a:off x="7327819" y="1298448"/>
            <a:ext cx="2207910" cy="164592"/>
          </a:xfrm>
          <a:prstGeom prst="rect">
            <a:avLst/>
          </a:prstGeom>
          <a:noFill/>
          <a:ln/>
        </p:spPr>
        <p:txBody>
          <a:bodyPr wrap="square" lIns="0" tIns="0" rIns="0" bIns="0" rtlCol="0" anchor="ctr"/>
          <a:lstStyle/>
          <a:p>
            <a:pPr marL="0" indent="0" algn="ctr">
              <a:buNone/>
            </a:pPr>
            <a:r>
              <a:rPr lang="en-US" sz="820" dirty="0">
                <a:solidFill>
                  <a:srgbClr val="5F5F6B"/>
                </a:solidFill>
                <a:latin typeface="Calibri" pitchFamily="34" charset="0"/>
                <a:ea typeface="Calibri" pitchFamily="34" charset="-122"/>
                <a:cs typeface="Calibri" pitchFamily="34" charset="-120"/>
              </a:rPr>
              <a:t>months 13-18</a:t>
            </a:r>
            <a:endParaRPr lang="en-US" sz="820" dirty="0"/>
          </a:p>
        </p:txBody>
      </p:sp>
      <p:sp>
        <p:nvSpPr>
          <p:cNvPr id="43" name="Text 41"/>
          <p:cNvSpPr txBox="1"/>
          <p:nvPr/>
        </p:nvSpPr>
        <p:spPr>
          <a:xfrm>
            <a:off x="7327819" y="1481328"/>
            <a:ext cx="2207910" cy="310896"/>
          </a:xfrm>
          <a:prstGeom prst="rect">
            <a:avLst/>
          </a:prstGeom>
          <a:noFill/>
          <a:ln/>
        </p:spPr>
        <p:txBody>
          <a:bodyPr wrap="square" lIns="0" tIns="0" rIns="0" bIns="0" rtlCol="0" anchor="ctr"/>
          <a:lstStyle/>
          <a:p>
            <a:pPr marL="0" indent="0" algn="ctr">
              <a:lnSpc>
                <a:spcPct val="102000"/>
              </a:lnSpc>
              <a:buNone/>
            </a:pPr>
            <a:r>
              <a:rPr lang="en-US" sz="900" b="1" dirty="0">
                <a:solidFill>
                  <a:srgbClr val="111018"/>
                </a:solidFill>
                <a:latin typeface="Arial" pitchFamily="34" charset="0"/>
                <a:ea typeface="Arial" pitchFamily="34" charset="-122"/>
                <a:cs typeface="Arial" pitchFamily="34" charset="-120"/>
              </a:rPr>
              <a:t>Multi-site, three tiers</a:t>
            </a:r>
            <a:endParaRPr lang="en-US" sz="900" dirty="0"/>
          </a:p>
        </p:txBody>
      </p:sp>
      <p:sp>
        <p:nvSpPr>
          <p:cNvPr id="44" name="Text 42"/>
          <p:cNvSpPr txBox="1"/>
          <p:nvPr/>
        </p:nvSpPr>
        <p:spPr>
          <a:xfrm>
            <a:off x="7327819" y="1828800"/>
            <a:ext cx="2207910" cy="566928"/>
          </a:xfrm>
          <a:prstGeom prst="rect">
            <a:avLst/>
          </a:prstGeom>
          <a:noFill/>
          <a:ln/>
        </p:spPr>
        <p:txBody>
          <a:bodyPr wrap="square" lIns="0" tIns="0" rIns="0" bIns="0" rtlCol="0" anchor="ctr"/>
          <a:lstStyle/>
          <a:p>
            <a:pPr marL="0" indent="0" algn="ctr">
              <a:lnSpc>
                <a:spcPct val="104000"/>
              </a:lnSpc>
              <a:buNone/>
            </a:pPr>
            <a:r>
              <a:rPr lang="en-US" sz="820" dirty="0">
                <a:solidFill>
                  <a:srgbClr val="2E2E36"/>
                </a:solidFill>
                <a:latin typeface="Calibri" pitchFamily="34" charset="0"/>
                <a:ea typeface="Calibri" pitchFamily="34" charset="-122"/>
                <a:cs typeface="Calibri" pitchFamily="34" charset="-120"/>
              </a:rPr>
              <a:t>Paper, district and tertiary departments on one engine - configuration only, no code forks.</a:t>
            </a:r>
            <a:endParaRPr lang="en-US" sz="820" dirty="0"/>
          </a:p>
        </p:txBody>
      </p:sp>
      <p:sp>
        <p:nvSpPr>
          <p:cNvPr id="45" name="Shape 43"/>
          <p:cNvSpPr/>
          <p:nvPr/>
        </p:nvSpPr>
        <p:spPr>
          <a:xfrm>
            <a:off x="7327819" y="2432304"/>
            <a:ext cx="2207910" cy="384048"/>
          </a:xfrm>
          <a:prstGeom prst="roundRect">
            <a:avLst>
              <a:gd name="adj" fmla="val 9524"/>
            </a:avLst>
          </a:prstGeom>
          <a:solidFill>
            <a:srgbClr val="F7F4FC"/>
          </a:solidFill>
          <a:ln w="12700">
            <a:solidFill>
              <a:srgbClr val="ECEAF3"/>
            </a:solidFill>
            <a:prstDash val="solid"/>
          </a:ln>
        </p:spPr>
      </p:sp>
      <p:sp>
        <p:nvSpPr>
          <p:cNvPr id="46" name="Text 44"/>
          <p:cNvSpPr txBox="1"/>
          <p:nvPr/>
        </p:nvSpPr>
        <p:spPr>
          <a:xfrm>
            <a:off x="7382683" y="2468880"/>
            <a:ext cx="2098182" cy="329184"/>
          </a:xfrm>
          <a:prstGeom prst="rect">
            <a:avLst/>
          </a:prstGeom>
          <a:noFill/>
          <a:ln/>
        </p:spPr>
        <p:txBody>
          <a:bodyPr wrap="square" lIns="0" tIns="0" rIns="0" bIns="0" rtlCol="0" anchor="ctr"/>
          <a:lstStyle/>
          <a:p>
            <a:pPr marL="0" indent="0" algn="ctr">
              <a:lnSpc>
                <a:spcPct val="102000"/>
              </a:lnSpc>
              <a:buNone/>
            </a:pPr>
            <a:r>
              <a:rPr lang="en-US" sz="800" b="1" dirty="0">
                <a:solidFill>
                  <a:srgbClr val="460073"/>
                </a:solidFill>
                <a:latin typeface="Arial" pitchFamily="34" charset="0"/>
                <a:ea typeface="Arial" pitchFamily="34" charset="-122"/>
                <a:cs typeface="Arial" pitchFamily="34" charset="-120"/>
              </a:rPr>
              <a:t>GATE · Profiles work without code forks</a:t>
            </a:r>
            <a:endParaRPr lang="en-US" sz="800" dirty="0"/>
          </a:p>
        </p:txBody>
      </p:sp>
      <p:sp>
        <p:nvSpPr>
          <p:cNvPr id="47" name="Shape 45"/>
          <p:cNvSpPr/>
          <p:nvPr/>
        </p:nvSpPr>
        <p:spPr>
          <a:xfrm>
            <a:off x="10703692" y="1124712"/>
            <a:ext cx="128016" cy="128016"/>
          </a:xfrm>
          <a:prstGeom prst="roundRect">
            <a:avLst>
              <a:gd name="adj" fmla="val 50000"/>
            </a:avLst>
          </a:prstGeom>
          <a:ln w="12700">
            <a:solidFill>
              <a:srgbClr val="FFFFFF"/>
            </a:solidFill>
            <a:prstDash val="solid"/>
          </a:ln>
        </p:spPr>
      </p:sp>
      <p:sp>
        <p:nvSpPr>
          <p:cNvPr id="48" name="Text 46"/>
          <p:cNvSpPr txBox="1"/>
          <p:nvPr/>
        </p:nvSpPr>
        <p:spPr>
          <a:xfrm>
            <a:off x="9663745" y="896112"/>
            <a:ext cx="2207910" cy="182880"/>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PHASE 4</a:t>
            </a:r>
            <a:endParaRPr lang="en-US" sz="950" dirty="0"/>
          </a:p>
        </p:txBody>
      </p:sp>
      <p:sp>
        <p:nvSpPr>
          <p:cNvPr id="49" name="Text 47"/>
          <p:cNvSpPr txBox="1"/>
          <p:nvPr/>
        </p:nvSpPr>
        <p:spPr>
          <a:xfrm>
            <a:off x="9663745" y="1298448"/>
            <a:ext cx="2207910" cy="164592"/>
          </a:xfrm>
          <a:prstGeom prst="rect">
            <a:avLst/>
          </a:prstGeom>
          <a:noFill/>
          <a:ln/>
        </p:spPr>
        <p:txBody>
          <a:bodyPr wrap="square" lIns="0" tIns="0" rIns="0" bIns="0" rtlCol="0" anchor="ctr"/>
          <a:lstStyle/>
          <a:p>
            <a:pPr marL="0" indent="0" algn="ctr">
              <a:buNone/>
            </a:pPr>
            <a:r>
              <a:rPr lang="en-US" sz="820" dirty="0">
                <a:solidFill>
                  <a:srgbClr val="5F5F6B"/>
                </a:solidFill>
                <a:latin typeface="Calibri" pitchFamily="34" charset="0"/>
                <a:ea typeface="Calibri" pitchFamily="34" charset="-122"/>
                <a:cs typeface="Calibri" pitchFamily="34" charset="-120"/>
              </a:rPr>
              <a:t>months 19-24</a:t>
            </a:r>
            <a:endParaRPr lang="en-US" sz="820" dirty="0"/>
          </a:p>
        </p:txBody>
      </p:sp>
      <p:sp>
        <p:nvSpPr>
          <p:cNvPr id="50" name="Text 48"/>
          <p:cNvSpPr txBox="1"/>
          <p:nvPr/>
        </p:nvSpPr>
        <p:spPr>
          <a:xfrm>
            <a:off x="9663745" y="1481328"/>
            <a:ext cx="2207910" cy="310896"/>
          </a:xfrm>
          <a:prstGeom prst="rect">
            <a:avLst/>
          </a:prstGeom>
          <a:noFill/>
          <a:ln/>
        </p:spPr>
        <p:txBody>
          <a:bodyPr wrap="square" lIns="0" tIns="0" rIns="0" bIns="0" rtlCol="0" anchor="ctr"/>
          <a:lstStyle/>
          <a:p>
            <a:pPr marL="0" indent="0" algn="ctr">
              <a:lnSpc>
                <a:spcPct val="102000"/>
              </a:lnSpc>
              <a:buNone/>
            </a:pPr>
            <a:r>
              <a:rPr lang="en-US" sz="900" b="1" dirty="0">
                <a:solidFill>
                  <a:srgbClr val="111018"/>
                </a:solidFill>
                <a:latin typeface="Arial" pitchFamily="34" charset="0"/>
                <a:ea typeface="Arial" pitchFamily="34" charset="-122"/>
                <a:cs typeface="Arial" pitchFamily="34" charset="-120"/>
              </a:rPr>
              <a:t>ABDM integration, scale</a:t>
            </a:r>
            <a:endParaRPr lang="en-US" sz="900" dirty="0"/>
          </a:p>
        </p:txBody>
      </p:sp>
      <p:sp>
        <p:nvSpPr>
          <p:cNvPr id="51" name="Text 49"/>
          <p:cNvSpPr txBox="1"/>
          <p:nvPr/>
        </p:nvSpPr>
        <p:spPr>
          <a:xfrm>
            <a:off x="9663745" y="1828800"/>
            <a:ext cx="2207910" cy="566928"/>
          </a:xfrm>
          <a:prstGeom prst="rect">
            <a:avLst/>
          </a:prstGeom>
          <a:noFill/>
          <a:ln/>
        </p:spPr>
        <p:txBody>
          <a:bodyPr wrap="square" lIns="0" tIns="0" rIns="0" bIns="0" rtlCol="0" anchor="ctr"/>
          <a:lstStyle/>
          <a:p>
            <a:pPr marL="0" indent="0" algn="ctr">
              <a:lnSpc>
                <a:spcPct val="104000"/>
              </a:lnSpc>
              <a:buNone/>
            </a:pPr>
            <a:r>
              <a:rPr lang="en-US" sz="820" dirty="0">
                <a:solidFill>
                  <a:srgbClr val="2E2E36"/>
                </a:solidFill>
                <a:latin typeface="Calibri" pitchFamily="34" charset="0"/>
                <a:ea typeface="Calibri" pitchFamily="34" charset="-122"/>
                <a:cs typeface="Calibri" pitchFamily="34" charset="-120"/>
              </a:rPr>
              <a:t>National identifier and consent architecture; sustained monitoring and per-site recalibration.</a:t>
            </a:r>
            <a:endParaRPr lang="en-US" sz="820" dirty="0"/>
          </a:p>
        </p:txBody>
      </p:sp>
      <p:sp>
        <p:nvSpPr>
          <p:cNvPr id="52" name="Shape 50"/>
          <p:cNvSpPr/>
          <p:nvPr/>
        </p:nvSpPr>
        <p:spPr>
          <a:xfrm>
            <a:off x="9663745" y="2432304"/>
            <a:ext cx="2207910" cy="384048"/>
          </a:xfrm>
          <a:prstGeom prst="roundRect">
            <a:avLst>
              <a:gd name="adj" fmla="val 9524"/>
            </a:avLst>
          </a:prstGeom>
          <a:solidFill>
            <a:srgbClr val="F7F4FC"/>
          </a:solidFill>
          <a:ln w="12700">
            <a:solidFill>
              <a:srgbClr val="ECEAF3"/>
            </a:solidFill>
            <a:prstDash val="solid"/>
          </a:ln>
        </p:spPr>
      </p:sp>
      <p:sp>
        <p:nvSpPr>
          <p:cNvPr id="53" name="Text 51"/>
          <p:cNvSpPr txBox="1"/>
          <p:nvPr/>
        </p:nvSpPr>
        <p:spPr>
          <a:xfrm>
            <a:off x="9718609" y="2468880"/>
            <a:ext cx="2098182" cy="329184"/>
          </a:xfrm>
          <a:prstGeom prst="rect">
            <a:avLst/>
          </a:prstGeom>
          <a:noFill/>
          <a:ln/>
        </p:spPr>
        <p:txBody>
          <a:bodyPr wrap="square" lIns="0" tIns="0" rIns="0" bIns="0" rtlCol="0" anchor="ctr"/>
          <a:lstStyle/>
          <a:p>
            <a:pPr marL="0" indent="0" algn="ctr">
              <a:lnSpc>
                <a:spcPct val="102000"/>
              </a:lnSpc>
              <a:buNone/>
            </a:pPr>
            <a:r>
              <a:rPr lang="en-US" sz="800" b="1" dirty="0">
                <a:solidFill>
                  <a:srgbClr val="460073"/>
                </a:solidFill>
                <a:latin typeface="Arial" pitchFamily="34" charset="0"/>
                <a:ea typeface="Arial" pitchFamily="34" charset="-122"/>
                <a:cs typeface="Arial" pitchFamily="34" charset="-120"/>
              </a:rPr>
              <a:t>GATE · Sustained performance across sites</a:t>
            </a:r>
            <a:endParaRPr lang="en-US" sz="800" dirty="0"/>
          </a:p>
        </p:txBody>
      </p:sp>
      <p:sp>
        <p:nvSpPr>
          <p:cNvPr id="54" name="Shape 52"/>
          <p:cNvSpPr/>
          <p:nvPr/>
        </p:nvSpPr>
        <p:spPr>
          <a:xfrm>
            <a:off x="223705" y="3127248"/>
            <a:ext cx="6858000" cy="3511296"/>
          </a:xfrm>
          <a:prstGeom prst="rect">
            <a:avLst/>
          </a:prstGeom>
          <a:solidFill>
            <a:srgbClr val="FFFFFF"/>
          </a:solidFill>
          <a:ln w="12700">
            <a:solidFill>
              <a:srgbClr val="D9D6E3"/>
            </a:solidFill>
            <a:prstDash val="solid"/>
          </a:ln>
        </p:spPr>
      </p:sp>
      <p:sp>
        <p:nvSpPr>
          <p:cNvPr id="55" name="Shape 53"/>
          <p:cNvSpPr/>
          <p:nvPr/>
        </p:nvSpPr>
        <p:spPr>
          <a:xfrm>
            <a:off x="201168" y="3145536"/>
            <a:ext cx="6858000" cy="274320"/>
          </a:xfrm>
          <a:prstGeom prst="rect">
            <a:avLst/>
          </a:prstGeom>
          <a:solidFill>
            <a:srgbClr val="B81C26"/>
          </a:solidFill>
          <a:ln w="12700">
            <a:solidFill>
              <a:srgbClr val="B81C26"/>
            </a:solidFill>
            <a:prstDash val="solid"/>
          </a:ln>
        </p:spPr>
      </p:sp>
      <p:sp>
        <p:nvSpPr>
          <p:cNvPr id="56" name="Text 54"/>
          <p:cNvSpPr txBox="1"/>
          <p:nvPr/>
        </p:nvSpPr>
        <p:spPr>
          <a:xfrm>
            <a:off x="201168" y="3145536"/>
            <a:ext cx="6858000"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RISK AND MITIGATION</a:t>
            </a:r>
            <a:endParaRPr lang="en-US" sz="1050" dirty="0"/>
          </a:p>
        </p:txBody>
      </p:sp>
      <p:graphicFrame>
        <p:nvGraphicFramePr>
          <p:cNvPr id="57" name="Table 0"/>
          <p:cNvGraphicFramePr>
            <a:graphicFrameLocks noGrp="1"/>
          </p:cNvGraphicFramePr>
          <p:nvPr>
            <p:extLst>
              <p:ext uri="{D42A27DB-BD31-4B8C-83A1-F6EECF244321}">
                <p14:modId xmlns:p14="http://schemas.microsoft.com/office/powerpoint/2010/main" val="32324296"/>
              </p:ext>
            </p:extLst>
          </p:nvPr>
        </p:nvGraphicFramePr>
        <p:xfrm>
          <a:off x="320040" y="3511296"/>
          <a:ext cx="6620256" cy="1959864"/>
        </p:xfrm>
        <a:graphic>
          <a:graphicData uri="http://schemas.openxmlformats.org/drawingml/2006/table">
            <a:tbl>
              <a:tblPr/>
              <a:tblGrid>
                <a:gridCol w="2487168">
                  <a:extLst>
                    <a:ext uri="{9D8B030D-6E8A-4147-A177-3AD203B41FA5}">
                      <a16:colId xmlns:a16="http://schemas.microsoft.com/office/drawing/2014/main" val="20000"/>
                    </a:ext>
                  </a:extLst>
                </a:gridCol>
                <a:gridCol w="3127248">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82880">
                <a:tc>
                  <a:txBody>
                    <a:bodyPr/>
                    <a:lstStyle/>
                    <a:p>
                      <a:pPr marL="0" indent="0">
                        <a:buNone/>
                      </a:pPr>
                      <a:r>
                        <a:rPr lang="en-US" sz="900" b="1" dirty="0">
                          <a:solidFill>
                            <a:srgbClr val="FFFFFF"/>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 - architectural wherever possible</a:t>
                      </a: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Owner</a:t>
                      </a:r>
                      <a:endParaRPr lang="en-US" sz="900" dirty="0">
                        <a:latin typeface="Arial" charset="0"/>
                        <a:ea typeface="Arial" charset="0"/>
                        <a:cs typeface="Arial"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7500C0"/>
                    </a:solidFill>
                  </a:tcPr>
                </a:tc>
                <a:extLst>
                  <a:ext uri="{0D108BD9-81ED-4DB2-BD59-A6C34878D82A}">
                    <a16:rowId xmlns:a16="http://schemas.microsoft.com/office/drawing/2014/main" val="10000"/>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Patient harm from a wrong recommendation</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No component can lower acuity; Phase 0 gate before any live use</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Clinical advisor</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Automation bias - the nurse stops thinking</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Override rate monitored both ways; &lt;2% or &gt;30% triggers review</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Charge nurse</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Alert fatigue under surge</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Alerts batch into one board; ≤ 6 alerts per nurse per hour</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Charge nurse</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Model drift after deployment</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Monthly recalibration; every decision reproducible from the log</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Quality lead</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Distribution shift across sites</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Rules floor is locally owned; recalibration is a Phase 3 gate</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Local protocol</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Device reclassification</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Recommends a test and a priority, never a diagnosis; a human confirms</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Regulatory</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Data breach</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On-premise; tokenised at ingest; every read audited</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Hospital CIO</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2880">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Clinician rejection of the tool</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Shadow mode first; an override costs one tap and no form</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tc>
                  <a:txBody>
                    <a:bodyPr/>
                    <a:lstStyle/>
                    <a:p>
                      <a:pPr marL="0" indent="0">
                        <a:buNone/>
                      </a:pPr>
                      <a:r>
                        <a:rPr lang="en-US" sz="820" dirty="0">
                          <a:solidFill>
                            <a:srgbClr val="2E2E36"/>
                          </a:solidFill>
                          <a:latin typeface="Calibri" pitchFamily="34" charset="0"/>
                          <a:ea typeface="Calibri" pitchFamily="34" charset="-122"/>
                          <a:cs typeface="Calibri" pitchFamily="34" charset="-120"/>
                        </a:rPr>
                        <a:t>Triage nurse</a:t>
                      </a:r>
                      <a:endParaRPr lang="en-US" sz="820" dirty="0">
                        <a:latin typeface="Calibri" charset="0"/>
                        <a:ea typeface="Calibri" charset="0"/>
                        <a:cs typeface="Calibri" charset="0"/>
                      </a:endParaRPr>
                    </a:p>
                  </a:txBody>
                  <a:tcPr marL="45720" marR="45720" anchor="ctr">
                    <a:lnL w="6350" cap="flat" cmpd="sng" algn="ctr">
                      <a:solidFill>
                        <a:srgbClr val="ECEAF3"/>
                      </a:solidFill>
                      <a:prstDash val="solid"/>
                      <a:round/>
                      <a:headEnd type="none" w="med" len="med"/>
                      <a:tailEnd type="none" w="med" len="med"/>
                    </a:lnL>
                    <a:lnR w="6350" cap="flat" cmpd="sng" algn="ctr">
                      <a:solidFill>
                        <a:srgbClr val="ECEAF3"/>
                      </a:solidFill>
                      <a:prstDash val="solid"/>
                      <a:round/>
                      <a:headEnd type="none" w="med" len="med"/>
                      <a:tailEnd type="none" w="med" len="med"/>
                    </a:lnR>
                    <a:lnT w="6350" cap="flat" cmpd="sng" algn="ctr">
                      <a:solidFill>
                        <a:srgbClr val="ECEAF3"/>
                      </a:solidFill>
                      <a:prstDash val="solid"/>
                      <a:round/>
                      <a:headEnd type="none" w="med" len="med"/>
                      <a:tailEnd type="none" w="med" len="med"/>
                    </a:lnT>
                    <a:lnB w="6350" cap="flat" cmpd="sng" algn="ctr">
                      <a:solidFill>
                        <a:srgbClr val="ECEAF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8" name="Shape 55"/>
          <p:cNvSpPr/>
          <p:nvPr/>
        </p:nvSpPr>
        <p:spPr>
          <a:xfrm>
            <a:off x="342577" y="5852160"/>
            <a:ext cx="6620256" cy="512064"/>
          </a:xfrm>
          <a:prstGeom prst="roundRect">
            <a:avLst>
              <a:gd name="adj" fmla="val 7143"/>
            </a:avLst>
          </a:prstGeom>
          <a:solidFill>
            <a:srgbClr val="F4ECFE"/>
          </a:solidFill>
          <a:ln w="12700">
            <a:solidFill>
              <a:srgbClr val="C77DFF"/>
            </a:solidFill>
            <a:prstDash val="solid"/>
          </a:ln>
        </p:spPr>
      </p:sp>
      <p:sp>
        <p:nvSpPr>
          <p:cNvPr id="59" name="Text 56"/>
          <p:cNvSpPr txBox="1"/>
          <p:nvPr/>
        </p:nvSpPr>
        <p:spPr>
          <a:xfrm>
            <a:off x="429768" y="5888736"/>
            <a:ext cx="6400800" cy="438912"/>
          </a:xfrm>
          <a:prstGeom prst="rect">
            <a:avLst/>
          </a:prstGeom>
          <a:noFill/>
          <a:ln/>
        </p:spPr>
        <p:txBody>
          <a:bodyPr wrap="square" lIns="0" tIns="0" rIns="0" bIns="0" rtlCol="0" anchor="ctr"/>
          <a:lstStyle/>
          <a:p>
            <a:pPr marL="0" indent="0">
              <a:lnSpc>
                <a:spcPct val="105000"/>
              </a:lnSpc>
              <a:buNone/>
            </a:pPr>
            <a:r>
              <a:rPr lang="en-US" sz="860" dirty="0">
                <a:solidFill>
                  <a:srgbClr val="460073"/>
                </a:solidFill>
                <a:latin typeface="Calibri" pitchFamily="34" charset="0"/>
                <a:ea typeface="Calibri" pitchFamily="34" charset="-122"/>
                <a:cs typeface="Calibri" pitchFamily="34" charset="-120"/>
              </a:rPr>
              <a:t>The strongest argument against us: every figure in this deck comes from data we generated, scored against ground truth we assigned. We accept it — which is exactly why the roadmap opens with a department’s own historical records, and why the correct response to a failed Phase 0 is to stop, not to re-tune until it passes.</a:t>
            </a:r>
            <a:endParaRPr lang="en-US" sz="860" dirty="0"/>
          </a:p>
        </p:txBody>
      </p:sp>
      <p:sp>
        <p:nvSpPr>
          <p:cNvPr id="60" name="Shape 57"/>
          <p:cNvSpPr/>
          <p:nvPr/>
        </p:nvSpPr>
        <p:spPr>
          <a:xfrm>
            <a:off x="7260336" y="3145536"/>
            <a:ext cx="4727448" cy="2194560"/>
          </a:xfrm>
          <a:prstGeom prst="rect">
            <a:avLst/>
          </a:prstGeom>
          <a:solidFill>
            <a:srgbClr val="FFFFFF"/>
          </a:solidFill>
          <a:ln w="12700">
            <a:solidFill>
              <a:srgbClr val="D9D6E3"/>
            </a:solidFill>
            <a:prstDash val="solid"/>
          </a:ln>
        </p:spPr>
      </p:sp>
      <p:sp>
        <p:nvSpPr>
          <p:cNvPr id="61" name="Shape 58"/>
          <p:cNvSpPr/>
          <p:nvPr/>
        </p:nvSpPr>
        <p:spPr>
          <a:xfrm>
            <a:off x="7260336" y="3145536"/>
            <a:ext cx="4727448" cy="274320"/>
          </a:xfrm>
          <a:prstGeom prst="rect">
            <a:avLst/>
          </a:prstGeom>
          <a:solidFill>
            <a:srgbClr val="5C0099"/>
          </a:solidFill>
          <a:ln w="12700">
            <a:solidFill>
              <a:srgbClr val="5C0099"/>
            </a:solidFill>
            <a:prstDash val="solid"/>
          </a:ln>
        </p:spPr>
      </p:sp>
      <p:sp>
        <p:nvSpPr>
          <p:cNvPr id="62" name="Text 59"/>
          <p:cNvSpPr txBox="1"/>
          <p:nvPr/>
        </p:nvSpPr>
        <p:spPr>
          <a:xfrm>
            <a:off x="7260336" y="3145536"/>
            <a:ext cx="4727448" cy="274320"/>
          </a:xfrm>
          <a:prstGeom prst="rect">
            <a:avLst/>
          </a:prstGeom>
          <a:noFill/>
          <a:ln/>
        </p:spPr>
        <p:txBody>
          <a:bodyPr wrap="square" lIns="0" tIns="0" rIns="0" bIns="0" rtlCol="0" anchor="ctr"/>
          <a:lstStyle/>
          <a:p>
            <a:pPr marL="0" indent="0" algn="ctr">
              <a:buNone/>
            </a:pPr>
            <a:r>
              <a:rPr lang="en-US" sz="1050" b="1" kern="0" spc="70" dirty="0">
                <a:solidFill>
                  <a:srgbClr val="FFFFFF"/>
                </a:solidFill>
                <a:latin typeface="Arial" pitchFamily="34" charset="0"/>
                <a:ea typeface="Arial" pitchFamily="34" charset="-122"/>
                <a:cs typeface="Arial" pitchFamily="34" charset="-120"/>
              </a:rPr>
              <a:t>THE ASK - THREE INPUTS, NO CAPITAL</a:t>
            </a:r>
            <a:endParaRPr lang="en-US" sz="1050" dirty="0"/>
          </a:p>
        </p:txBody>
      </p:sp>
      <p:pic>
        <p:nvPicPr>
          <p:cNvPr id="63" name="Image 0" descr="/home/claude/deck/icons/LuHospital_pur.png"/>
          <p:cNvPicPr>
            <a:picLocks noChangeAspect="1"/>
          </p:cNvPicPr>
          <p:nvPr/>
        </p:nvPicPr>
        <p:blipFill>
          <a:blip r:embed="rId3"/>
          <a:stretch>
            <a:fillRect/>
          </a:stretch>
        </p:blipFill>
        <p:spPr>
          <a:xfrm>
            <a:off x="7379208" y="3529584"/>
            <a:ext cx="182880" cy="182880"/>
          </a:xfrm>
          <a:prstGeom prst="rect">
            <a:avLst/>
          </a:prstGeom>
        </p:spPr>
      </p:pic>
      <p:sp>
        <p:nvSpPr>
          <p:cNvPr id="64" name="Text 60"/>
          <p:cNvSpPr txBox="1"/>
          <p:nvPr/>
        </p:nvSpPr>
        <p:spPr>
          <a:xfrm>
            <a:off x="7635240" y="3511296"/>
            <a:ext cx="4233672"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01  One partner emergency department</a:t>
            </a:r>
            <a:endParaRPr lang="en-US" sz="950" dirty="0"/>
          </a:p>
        </p:txBody>
      </p:sp>
      <p:sp>
        <p:nvSpPr>
          <p:cNvPr id="65" name="Text 61"/>
          <p:cNvSpPr txBox="1"/>
          <p:nvPr/>
        </p:nvSpPr>
        <p:spPr>
          <a:xfrm>
            <a:off x="7635240" y="3685032"/>
            <a:ext cx="4233672" cy="274320"/>
          </a:xfrm>
          <a:prstGeom prst="rect">
            <a:avLst/>
          </a:prstGeom>
          <a:noFill/>
          <a:ln/>
        </p:spPr>
        <p:txBody>
          <a:bodyPr wrap="square" lIns="0" tIns="0" rIns="0" bIns="0" rtlCol="0" anchor="ctr"/>
          <a:lstStyle/>
          <a:p>
            <a:pPr marL="0" indent="0">
              <a:lnSpc>
                <a:spcPct val="104000"/>
              </a:lnSpc>
              <a:buNone/>
            </a:pPr>
            <a:r>
              <a:rPr lang="en-US" sz="800" dirty="0">
                <a:solidFill>
                  <a:srgbClr val="2E2E36"/>
                </a:solidFill>
                <a:latin typeface="Calibri" pitchFamily="34" charset="0"/>
                <a:ea typeface="Calibri" pitchFamily="34" charset="-122"/>
                <a:cs typeface="Calibri" pitchFamily="34" charset="-120"/>
              </a:rPr>
              <a:t>Any tier. A department running on paper is as useful to Phase 0 as a tertiary centre, because the engine needs no integration to be scored against.</a:t>
            </a:r>
            <a:endParaRPr lang="en-US" sz="800" dirty="0"/>
          </a:p>
        </p:txBody>
      </p:sp>
      <p:pic>
        <p:nvPicPr>
          <p:cNvPr id="66" name="Image 1" descr="/home/claude/deck/icons/LuDatabase_pur.png"/>
          <p:cNvPicPr>
            <a:picLocks noChangeAspect="1"/>
          </p:cNvPicPr>
          <p:nvPr/>
        </p:nvPicPr>
        <p:blipFill>
          <a:blip r:embed="rId4"/>
          <a:stretch>
            <a:fillRect/>
          </a:stretch>
        </p:blipFill>
        <p:spPr>
          <a:xfrm>
            <a:off x="7379208" y="3986784"/>
            <a:ext cx="182880" cy="182880"/>
          </a:xfrm>
          <a:prstGeom prst="rect">
            <a:avLst/>
          </a:prstGeom>
        </p:spPr>
      </p:pic>
      <p:sp>
        <p:nvSpPr>
          <p:cNvPr id="67" name="Text 62"/>
          <p:cNvSpPr txBox="1"/>
          <p:nvPr/>
        </p:nvSpPr>
        <p:spPr>
          <a:xfrm>
            <a:off x="7635240" y="3968496"/>
            <a:ext cx="4233672"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02  De-identified historical records</a:t>
            </a:r>
            <a:endParaRPr lang="en-US" sz="950" dirty="0"/>
          </a:p>
        </p:txBody>
      </p:sp>
      <p:sp>
        <p:nvSpPr>
          <p:cNvPr id="68" name="Text 63"/>
          <p:cNvSpPr txBox="1"/>
          <p:nvPr/>
        </p:nvSpPr>
        <p:spPr>
          <a:xfrm>
            <a:off x="7635240" y="4142232"/>
            <a:ext cx="4233672" cy="274320"/>
          </a:xfrm>
          <a:prstGeom prst="rect">
            <a:avLst/>
          </a:prstGeom>
          <a:noFill/>
          <a:ln/>
        </p:spPr>
        <p:txBody>
          <a:bodyPr wrap="square" lIns="0" tIns="0" rIns="0" bIns="0" rtlCol="0" anchor="ctr"/>
          <a:lstStyle/>
          <a:p>
            <a:pPr marL="0" indent="0">
              <a:lnSpc>
                <a:spcPct val="104000"/>
              </a:lnSpc>
              <a:buNone/>
            </a:pPr>
            <a:r>
              <a:rPr lang="en-US" sz="800" dirty="0">
                <a:solidFill>
                  <a:srgbClr val="2E2E36"/>
                </a:solidFill>
                <a:latin typeface="Calibri" pitchFamily="34" charset="0"/>
                <a:ea typeface="Calibri" pitchFamily="34" charset="-122"/>
                <a:cs typeface="Calibri" pitchFamily="34" charset="-120"/>
              </a:rPr>
              <a:t>Complaint, age, sex, recorded vitals, assigned acuity and what happened next: admission, ICU transfer, intervention within 24 hours.</a:t>
            </a:r>
            <a:endParaRPr lang="en-US" sz="800" dirty="0"/>
          </a:p>
        </p:txBody>
      </p:sp>
      <p:pic>
        <p:nvPicPr>
          <p:cNvPr id="69" name="Image 2" descr="/home/claude/deck/icons/LuStethoscope_pur.png"/>
          <p:cNvPicPr>
            <a:picLocks noChangeAspect="1"/>
          </p:cNvPicPr>
          <p:nvPr/>
        </p:nvPicPr>
        <p:blipFill>
          <a:blip r:embed="rId5"/>
          <a:stretch>
            <a:fillRect/>
          </a:stretch>
        </p:blipFill>
        <p:spPr>
          <a:xfrm>
            <a:off x="7379208" y="4443984"/>
            <a:ext cx="182880" cy="182880"/>
          </a:xfrm>
          <a:prstGeom prst="rect">
            <a:avLst/>
          </a:prstGeom>
        </p:spPr>
      </p:pic>
      <p:sp>
        <p:nvSpPr>
          <p:cNvPr id="70" name="Text 64"/>
          <p:cNvSpPr txBox="1"/>
          <p:nvPr/>
        </p:nvSpPr>
        <p:spPr>
          <a:xfrm>
            <a:off x="7635240" y="4425696"/>
            <a:ext cx="4233672" cy="182880"/>
          </a:xfrm>
          <a:prstGeom prst="rect">
            <a:avLst/>
          </a:prstGeom>
          <a:noFill/>
          <a:ln/>
        </p:spPr>
        <p:txBody>
          <a:bodyPr wrap="square" lIns="0" tIns="0" rIns="0" bIns="0" rtlCol="0" anchor="ctr"/>
          <a:lstStyle/>
          <a:p>
            <a:pPr marL="0" indent="0">
              <a:buNone/>
            </a:pPr>
            <a:r>
              <a:rPr lang="en-US" sz="950" b="1" dirty="0">
                <a:solidFill>
                  <a:srgbClr val="111018"/>
                </a:solidFill>
                <a:latin typeface="Arial" pitchFamily="34" charset="0"/>
                <a:ea typeface="Arial" pitchFamily="34" charset="-122"/>
                <a:cs typeface="Arial" pitchFamily="34" charset="-120"/>
              </a:rPr>
              <a:t>03  One clinical advisor</a:t>
            </a:r>
            <a:endParaRPr lang="en-US" sz="950" dirty="0"/>
          </a:p>
        </p:txBody>
      </p:sp>
      <p:sp>
        <p:nvSpPr>
          <p:cNvPr id="71" name="Text 65"/>
          <p:cNvSpPr txBox="1"/>
          <p:nvPr/>
        </p:nvSpPr>
        <p:spPr>
          <a:xfrm>
            <a:off x="7635240" y="4599432"/>
            <a:ext cx="4233672" cy="274320"/>
          </a:xfrm>
          <a:prstGeom prst="rect">
            <a:avLst/>
          </a:prstGeom>
          <a:noFill/>
          <a:ln/>
        </p:spPr>
        <p:txBody>
          <a:bodyPr wrap="square" lIns="0" tIns="0" rIns="0" bIns="0" rtlCol="0" anchor="ctr"/>
          <a:lstStyle/>
          <a:p>
            <a:pPr marL="0" indent="0">
              <a:lnSpc>
                <a:spcPct val="104000"/>
              </a:lnSpc>
              <a:buNone/>
            </a:pPr>
            <a:r>
              <a:rPr lang="en-US" sz="800" dirty="0">
                <a:solidFill>
                  <a:srgbClr val="2E2E36"/>
                </a:solidFill>
                <a:latin typeface="Calibri" pitchFamily="34" charset="0"/>
                <a:ea typeface="Calibri" pitchFamily="34" charset="-122"/>
                <a:cs typeface="Calibri" pitchFamily="34" charset="-120"/>
              </a:rPr>
              <a:t>An emergency physician or senior triage nurse to review the rule catalogue and hold local ownership of every hard threshold.</a:t>
            </a:r>
            <a:endParaRPr lang="en-US" sz="800" dirty="0"/>
          </a:p>
        </p:txBody>
      </p:sp>
      <p:sp>
        <p:nvSpPr>
          <p:cNvPr id="72" name="Shape 66"/>
          <p:cNvSpPr/>
          <p:nvPr/>
        </p:nvSpPr>
        <p:spPr>
          <a:xfrm>
            <a:off x="7379208" y="4937760"/>
            <a:ext cx="1067562" cy="310896"/>
          </a:xfrm>
          <a:prstGeom prst="roundRect">
            <a:avLst>
              <a:gd name="adj" fmla="val 11765"/>
            </a:avLst>
          </a:prstGeom>
          <a:solidFill>
            <a:srgbClr val="E6F3EC"/>
          </a:solidFill>
          <a:ln w="12700">
            <a:solidFill>
              <a:srgbClr val="E6F3EC"/>
            </a:solidFill>
            <a:prstDash val="solid"/>
          </a:ln>
        </p:spPr>
      </p:sp>
      <p:sp>
        <p:nvSpPr>
          <p:cNvPr id="73" name="Text 67"/>
          <p:cNvSpPr txBox="1"/>
          <p:nvPr/>
        </p:nvSpPr>
        <p:spPr>
          <a:xfrm>
            <a:off x="7406640" y="4937760"/>
            <a:ext cx="1012698" cy="310896"/>
          </a:xfrm>
          <a:prstGeom prst="rect">
            <a:avLst/>
          </a:prstGeom>
          <a:noFill/>
          <a:ln/>
        </p:spPr>
        <p:txBody>
          <a:bodyPr wrap="square" lIns="0" tIns="0" rIns="0" bIns="0" rtlCol="0" anchor="ctr"/>
          <a:lstStyle/>
          <a:p>
            <a:pPr marL="0" indent="0" algn="ctr">
              <a:lnSpc>
                <a:spcPct val="95000"/>
              </a:lnSpc>
              <a:buNone/>
            </a:pPr>
            <a:r>
              <a:rPr lang="en-US" sz="800" b="1" dirty="0">
                <a:solidFill>
                  <a:srgbClr val="0A6E43"/>
                </a:solidFill>
                <a:latin typeface="Arial" pitchFamily="34" charset="0"/>
                <a:ea typeface="Arial" pitchFamily="34" charset="-122"/>
                <a:cs typeface="Arial" pitchFamily="34" charset="-120"/>
              </a:rPr>
              <a:t>No integration</a:t>
            </a:r>
            <a:endParaRPr lang="en-US" sz="800" dirty="0"/>
          </a:p>
        </p:txBody>
      </p:sp>
      <p:sp>
        <p:nvSpPr>
          <p:cNvPr id="74" name="Shape 68"/>
          <p:cNvSpPr/>
          <p:nvPr/>
        </p:nvSpPr>
        <p:spPr>
          <a:xfrm>
            <a:off x="8519922" y="4937760"/>
            <a:ext cx="1067562" cy="310896"/>
          </a:xfrm>
          <a:prstGeom prst="roundRect">
            <a:avLst>
              <a:gd name="adj" fmla="val 11765"/>
            </a:avLst>
          </a:prstGeom>
          <a:solidFill>
            <a:srgbClr val="E6F3EC"/>
          </a:solidFill>
          <a:ln w="12700">
            <a:solidFill>
              <a:srgbClr val="E6F3EC"/>
            </a:solidFill>
            <a:prstDash val="solid"/>
          </a:ln>
        </p:spPr>
      </p:sp>
      <p:sp>
        <p:nvSpPr>
          <p:cNvPr id="75" name="Text 69"/>
          <p:cNvSpPr txBox="1"/>
          <p:nvPr/>
        </p:nvSpPr>
        <p:spPr>
          <a:xfrm>
            <a:off x="8547354" y="4937760"/>
            <a:ext cx="1012698" cy="310896"/>
          </a:xfrm>
          <a:prstGeom prst="rect">
            <a:avLst/>
          </a:prstGeom>
          <a:noFill/>
          <a:ln/>
        </p:spPr>
        <p:txBody>
          <a:bodyPr wrap="square" lIns="0" tIns="0" rIns="0" bIns="0" rtlCol="0" anchor="ctr"/>
          <a:lstStyle/>
          <a:p>
            <a:pPr marL="0" indent="0" algn="ctr">
              <a:lnSpc>
                <a:spcPct val="95000"/>
              </a:lnSpc>
              <a:buNone/>
            </a:pPr>
            <a:r>
              <a:rPr lang="en-US" sz="800" b="1" dirty="0">
                <a:solidFill>
                  <a:srgbClr val="0A6E43"/>
                </a:solidFill>
                <a:latin typeface="Arial" pitchFamily="34" charset="0"/>
                <a:ea typeface="Arial" pitchFamily="34" charset="-122"/>
                <a:cs typeface="Arial" pitchFamily="34" charset="-120"/>
              </a:rPr>
              <a:t>No capital outlay</a:t>
            </a:r>
            <a:endParaRPr lang="en-US" sz="800" dirty="0"/>
          </a:p>
        </p:txBody>
      </p:sp>
      <p:sp>
        <p:nvSpPr>
          <p:cNvPr id="76" name="Shape 70"/>
          <p:cNvSpPr/>
          <p:nvPr/>
        </p:nvSpPr>
        <p:spPr>
          <a:xfrm>
            <a:off x="9660636" y="4937760"/>
            <a:ext cx="1067562" cy="310896"/>
          </a:xfrm>
          <a:prstGeom prst="roundRect">
            <a:avLst>
              <a:gd name="adj" fmla="val 11765"/>
            </a:avLst>
          </a:prstGeom>
          <a:solidFill>
            <a:srgbClr val="E6F3EC"/>
          </a:solidFill>
          <a:ln w="12700">
            <a:solidFill>
              <a:srgbClr val="E6F3EC"/>
            </a:solidFill>
            <a:prstDash val="solid"/>
          </a:ln>
        </p:spPr>
      </p:sp>
      <p:sp>
        <p:nvSpPr>
          <p:cNvPr id="77" name="Text 71"/>
          <p:cNvSpPr txBox="1"/>
          <p:nvPr/>
        </p:nvSpPr>
        <p:spPr>
          <a:xfrm>
            <a:off x="9688068" y="4937760"/>
            <a:ext cx="1012698" cy="310896"/>
          </a:xfrm>
          <a:prstGeom prst="rect">
            <a:avLst/>
          </a:prstGeom>
          <a:noFill/>
          <a:ln/>
        </p:spPr>
        <p:txBody>
          <a:bodyPr wrap="square" lIns="0" tIns="0" rIns="0" bIns="0" rtlCol="0" anchor="ctr"/>
          <a:lstStyle/>
          <a:p>
            <a:pPr marL="0" indent="0" algn="ctr">
              <a:lnSpc>
                <a:spcPct val="95000"/>
              </a:lnSpc>
              <a:buNone/>
            </a:pPr>
            <a:r>
              <a:rPr lang="en-US" sz="800" b="1" dirty="0">
                <a:solidFill>
                  <a:srgbClr val="0A6E43"/>
                </a:solidFill>
                <a:latin typeface="Arial" pitchFamily="34" charset="0"/>
                <a:ea typeface="Arial" pitchFamily="34" charset="-122"/>
                <a:cs typeface="Arial" pitchFamily="34" charset="-120"/>
              </a:rPr>
              <a:t>No workflow change</a:t>
            </a:r>
            <a:endParaRPr lang="en-US" sz="800" dirty="0"/>
          </a:p>
        </p:txBody>
      </p:sp>
      <p:sp>
        <p:nvSpPr>
          <p:cNvPr id="78" name="Shape 72"/>
          <p:cNvSpPr/>
          <p:nvPr/>
        </p:nvSpPr>
        <p:spPr>
          <a:xfrm>
            <a:off x="10801350" y="4937760"/>
            <a:ext cx="1067562" cy="310896"/>
          </a:xfrm>
          <a:prstGeom prst="roundRect">
            <a:avLst>
              <a:gd name="adj" fmla="val 11765"/>
            </a:avLst>
          </a:prstGeom>
          <a:solidFill>
            <a:srgbClr val="E6F3EC"/>
          </a:solidFill>
          <a:ln w="12700">
            <a:solidFill>
              <a:srgbClr val="E6F3EC"/>
            </a:solidFill>
            <a:prstDash val="solid"/>
          </a:ln>
        </p:spPr>
      </p:sp>
      <p:sp>
        <p:nvSpPr>
          <p:cNvPr id="79" name="Text 73"/>
          <p:cNvSpPr txBox="1"/>
          <p:nvPr/>
        </p:nvSpPr>
        <p:spPr>
          <a:xfrm>
            <a:off x="10828782" y="4937760"/>
            <a:ext cx="1012698" cy="310896"/>
          </a:xfrm>
          <a:prstGeom prst="rect">
            <a:avLst/>
          </a:prstGeom>
          <a:noFill/>
          <a:ln/>
        </p:spPr>
        <p:txBody>
          <a:bodyPr wrap="square" lIns="0" tIns="0" rIns="0" bIns="0" rtlCol="0" anchor="ctr"/>
          <a:lstStyle/>
          <a:p>
            <a:pPr marL="0" indent="0" algn="ctr">
              <a:lnSpc>
                <a:spcPct val="95000"/>
              </a:lnSpc>
              <a:buNone/>
            </a:pPr>
            <a:r>
              <a:rPr lang="en-US" sz="800" b="1" dirty="0">
                <a:solidFill>
                  <a:srgbClr val="0A6E43"/>
                </a:solidFill>
                <a:latin typeface="Arial" pitchFamily="34" charset="0"/>
                <a:ea typeface="Arial" pitchFamily="34" charset="-122"/>
                <a:cs typeface="Arial" pitchFamily="34" charset="-120"/>
              </a:rPr>
              <a:t>No patient exposure</a:t>
            </a:r>
            <a:endParaRPr lang="en-US" sz="800" dirty="0"/>
          </a:p>
        </p:txBody>
      </p:sp>
      <p:sp>
        <p:nvSpPr>
          <p:cNvPr id="80" name="Shape 74"/>
          <p:cNvSpPr/>
          <p:nvPr/>
        </p:nvSpPr>
        <p:spPr>
          <a:xfrm>
            <a:off x="7260336" y="5449824"/>
            <a:ext cx="4727448" cy="1207008"/>
          </a:xfrm>
          <a:prstGeom prst="rect">
            <a:avLst/>
          </a:prstGeom>
          <a:solidFill>
            <a:srgbClr val="460073"/>
          </a:solidFill>
          <a:ln w="12700">
            <a:solidFill>
              <a:srgbClr val="460073"/>
            </a:solidFill>
            <a:prstDash val="solid"/>
          </a:ln>
        </p:spPr>
      </p:sp>
      <p:sp>
        <p:nvSpPr>
          <p:cNvPr id="81" name="Text 75"/>
          <p:cNvSpPr txBox="1"/>
          <p:nvPr/>
        </p:nvSpPr>
        <p:spPr>
          <a:xfrm>
            <a:off x="7443216" y="5559552"/>
            <a:ext cx="4361688" cy="201168"/>
          </a:xfrm>
          <a:prstGeom prst="rect">
            <a:avLst/>
          </a:prstGeom>
          <a:noFill/>
          <a:ln/>
        </p:spPr>
        <p:txBody>
          <a:bodyPr wrap="square" lIns="0" tIns="0" rIns="0" bIns="0" rtlCol="0" anchor="ctr"/>
          <a:lstStyle/>
          <a:p>
            <a:pPr marL="0" indent="0">
              <a:buNone/>
            </a:pPr>
            <a:r>
              <a:rPr lang="en-US" sz="1100" dirty="0">
                <a:solidFill>
                  <a:srgbClr val="D9BEF5"/>
                </a:solidFill>
                <a:latin typeface="Calibri" pitchFamily="34" charset="0"/>
                <a:ea typeface="Calibri" pitchFamily="34" charset="-122"/>
                <a:cs typeface="Calibri" pitchFamily="34" charset="-120"/>
              </a:rPr>
              <a:t>We are not asking a hospital to trust AI with its patients.</a:t>
            </a:r>
            <a:endParaRPr lang="en-US" sz="1100" dirty="0"/>
          </a:p>
        </p:txBody>
      </p:sp>
      <p:sp>
        <p:nvSpPr>
          <p:cNvPr id="82" name="Text 76"/>
          <p:cNvSpPr txBox="1"/>
          <p:nvPr/>
        </p:nvSpPr>
        <p:spPr>
          <a:xfrm>
            <a:off x="7443216" y="5797296"/>
            <a:ext cx="4361688" cy="530352"/>
          </a:xfrm>
          <a:prstGeom prst="rect">
            <a:avLst/>
          </a:prstGeom>
          <a:noFill/>
          <a:ln/>
        </p:spPr>
        <p:txBody>
          <a:bodyPr wrap="square" lIns="0" tIns="0" rIns="0" bIns="0" rtlCol="0" anchor="ctr"/>
          <a:lstStyle/>
          <a:p>
            <a:pPr marL="0" indent="0">
              <a:lnSpc>
                <a:spcPct val="110000"/>
              </a:lnSpc>
              <a:buNone/>
            </a:pPr>
            <a:r>
              <a:rPr lang="en-US" sz="1450" b="1" dirty="0">
                <a:solidFill>
                  <a:srgbClr val="FFFFFF"/>
                </a:solidFill>
                <a:latin typeface="Arial" pitchFamily="34" charset="0"/>
                <a:ea typeface="Arial" pitchFamily="34" charset="-122"/>
                <a:cs typeface="Arial" pitchFamily="34" charset="-120"/>
              </a:rPr>
              <a:t>We are asking for the chance to prove</a:t>
            </a:r>
            <a:endParaRPr lang="en-US" sz="1450" dirty="0"/>
          </a:p>
          <a:p>
            <a:pPr marL="0" indent="0">
              <a:lnSpc>
                <a:spcPct val="110000"/>
              </a:lnSpc>
              <a:buNone/>
            </a:pPr>
            <a:r>
              <a:rPr lang="en-US" sz="1450" b="1" dirty="0">
                <a:solidFill>
                  <a:srgbClr val="FFFFFF"/>
                </a:solidFill>
                <a:latin typeface="Arial" pitchFamily="34" charset="0"/>
                <a:ea typeface="Arial" pitchFamily="34" charset="-122"/>
                <a:cs typeface="Arial" pitchFamily="34" charset="-120"/>
              </a:rPr>
              <a:t>whether it deserves that trust.</a:t>
            </a:r>
            <a:endParaRPr lang="en-US" sz="1450" dirty="0"/>
          </a:p>
        </p:txBody>
      </p:sp>
      <p:sp>
        <p:nvSpPr>
          <p:cNvPr id="83" name="Text 77"/>
          <p:cNvSpPr txBox="1"/>
          <p:nvPr/>
        </p:nvSpPr>
        <p:spPr>
          <a:xfrm>
            <a:off x="7443216" y="6400800"/>
            <a:ext cx="4361688" cy="182880"/>
          </a:xfrm>
          <a:prstGeom prst="rect">
            <a:avLst/>
          </a:prstGeom>
          <a:noFill/>
          <a:ln/>
        </p:spPr>
        <p:txBody>
          <a:bodyPr wrap="square" lIns="0" tIns="0" rIns="0" bIns="0" rtlCol="0" anchor="ctr"/>
          <a:lstStyle/>
          <a:p>
            <a:pPr marL="0" indent="0">
              <a:buNone/>
            </a:pPr>
            <a:r>
              <a:rPr lang="en-US" sz="830" dirty="0">
                <a:solidFill>
                  <a:srgbClr val="C9A6E8"/>
                </a:solidFill>
                <a:latin typeface="Calibri" pitchFamily="34" charset="0"/>
                <a:ea typeface="Calibri" pitchFamily="34" charset="-122"/>
                <a:cs typeface="Calibri" pitchFamily="34" charset="-120"/>
              </a:rPr>
              <a:t>967 additional high-acuity patients a year, in one 300-visit department — the number we commit to.</a:t>
            </a:r>
            <a:endParaRPr lang="en-US" sz="8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2448232"/>
            <a:ext cx="8532755" cy="1965653"/>
          </a:xfrm>
        </p:spPr>
        <p:txBody>
          <a:bodyPr/>
          <a:lstStyle/>
          <a:p>
            <a:r>
              <a:rPr lang="en-US" dirty="0">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2.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3.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4175</Words>
  <Application>Microsoft Office PowerPoint</Application>
  <PresentationFormat>Widescreen</PresentationFormat>
  <Paragraphs>552</Paragraphs>
  <Slides>10</Slides>
  <Notes>8</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10</vt:i4>
      </vt:variant>
    </vt:vector>
  </HeadingPairs>
  <TitlesOfParts>
    <vt:vector size="23" baseType="lpstr">
      <vt:lpstr>Aptos</vt:lpstr>
      <vt:lpstr>Arial</vt:lpstr>
      <vt:lpstr>Calibri</vt:lpstr>
      <vt:lpstr>Courier New</vt:lpstr>
      <vt:lpstr>Graphik</vt:lpstr>
      <vt:lpstr>Graphik Regular</vt:lpstr>
      <vt:lpstr>Graphik Semibold</vt:lpstr>
      <vt:lpstr>Graphik-Semibold</vt:lpstr>
      <vt:lpstr>System Font</vt:lpstr>
      <vt:lpstr>Titles</vt:lpstr>
      <vt:lpstr>Accenture 2025</vt:lpstr>
      <vt:lpstr>1_Accenture 2025</vt:lpstr>
      <vt:lpstr>Office Theme</vt:lpstr>
      <vt:lpstr>PowerPoint Presentation</vt:lpstr>
      <vt:lpstr>Team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Chitransh Gangwar</cp:lastModifiedBy>
  <cp:revision>6</cp:revision>
  <dcterms:created xsi:type="dcterms:W3CDTF">2026-07-24T04:09:52Z</dcterms:created>
  <dcterms:modified xsi:type="dcterms:W3CDTF">2026-09-02T15:57:57Z</dcterms:modified>
</cp:coreProperties>
</file>